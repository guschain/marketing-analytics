
<file path=[Content_Types].xml><?xml version="1.0" encoding="utf-8"?>
<Types xmlns="http://schemas.openxmlformats.org/package/2006/content-types">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embeddedFontLst>
    <p:embeddedFont>
      <p:font typeface="Open Sans Light" panose="020B0306030504020204" pitchFamily="34" charset="0"/>
      <p:regular r:id="rId9"/>
      <p:bold r:id="rId10"/>
      <p:italic r:id="rId11"/>
      <p:boldItalic r:id="rId12"/>
    </p:embeddedFont>
    <p:embeddedFont>
      <p:font typeface="Roboto Thin"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stavo Pacheco" initials="GP" lastIdx="1" clrIdx="0">
    <p:extLst>
      <p:ext uri="{19B8F6BF-5375-455C-9EA6-DF929625EA0E}">
        <p15:presenceInfo xmlns:p15="http://schemas.microsoft.com/office/powerpoint/2012/main" userId="642cd3d7dad1b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CE80AA-D66A-4BFA-AE12-3CF21695A5E1}">
  <a:tblStyle styleId="{BDCE80AA-D66A-4BFA-AE12-3CF21695A5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13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4f910fdeaa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4f910fdeaa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4f910fdeaa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4f910fdeaa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503a3ddc80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503a3ddc80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4f910fdeaa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4f910fdeaa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4f910fdeaa_0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4f910fdeaa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02B3E4"/>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5200"/>
              <a:buNone/>
              <a:defRPr sz="52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2800"/>
              <a:buNone/>
              <a:defRPr sz="2800">
                <a:solidFill>
                  <a:schemeClr val="lt1"/>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1" name="Google Shape;11;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8" name="Google Shape;18;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2" name="Google Shape;22;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9" name="Google Shape;29;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1"/>
        <p:cNvGrpSpPr/>
        <p:nvPr/>
      </p:nvGrpSpPr>
      <p:grpSpPr>
        <a:xfrm>
          <a:off x="0" y="0"/>
          <a:ext cx="0" cy="0"/>
          <a:chOff x="0" y="0"/>
          <a:chExt cx="0" cy="0"/>
        </a:xfrm>
      </p:grpSpPr>
      <p:sp>
        <p:nvSpPr>
          <p:cNvPr id="32" name="Google Shape;32;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3" name="Google Shape;33;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7" name="Google Shape;37;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8" name="Google Shape;38;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39" name="Google Shape;39;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0"/>
        <p:cNvGrpSpPr/>
        <p:nvPr/>
      </p:nvGrpSpPr>
      <p:grpSpPr>
        <a:xfrm>
          <a:off x="0" y="0"/>
          <a:ext cx="0" cy="0"/>
          <a:chOff x="0" y="0"/>
          <a:chExt cx="0" cy="0"/>
        </a:xfrm>
      </p:grpSpPr>
      <p:sp>
        <p:nvSpPr>
          <p:cNvPr id="41" name="Google Shape;41;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2" name="Google Shape;42;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3"/>
        <p:cNvGrpSpPr/>
        <p:nvPr/>
      </p:nvGrpSpPr>
      <p:grpSpPr>
        <a:xfrm>
          <a:off x="0" y="0"/>
          <a:ext cx="0" cy="0"/>
          <a:chOff x="0" y="0"/>
          <a:chExt cx="0" cy="0"/>
        </a:xfrm>
      </p:grpSpPr>
      <p:sp>
        <p:nvSpPr>
          <p:cNvPr id="44" name="Google Shape;44;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6" name="Google Shape;46;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7"/>
        <p:cNvGrpSpPr/>
        <p:nvPr/>
      </p:nvGrpSpPr>
      <p:grpSpPr>
        <a:xfrm>
          <a:off x="0" y="0"/>
          <a:ext cx="0" cy="0"/>
          <a:chOff x="0" y="0"/>
          <a:chExt cx="0" cy="0"/>
        </a:xfrm>
      </p:grpSpPr>
      <p:sp>
        <p:nvSpPr>
          <p:cNvPr id="48" name="Google Shape;48;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_Title and Content">
  <p:cSld name="3_Title and Content">
    <p:bg>
      <p:bgPr>
        <a:blipFill>
          <a:blip r:embed="rId2">
            <a:alphaModFix/>
          </a:blip>
          <a:stretch>
            <a:fillRect/>
          </a:stretch>
        </a:blip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50"/>
        <p:cNvGrpSpPr/>
        <p:nvPr/>
      </p:nvGrpSpPr>
      <p:grpSpPr>
        <a:xfrm>
          <a:off x="0" y="0"/>
          <a:ext cx="0" cy="0"/>
          <a:chOff x="0" y="0"/>
          <a:chExt cx="0" cy="0"/>
        </a:xfrm>
      </p:grpSpPr>
      <p:sp>
        <p:nvSpPr>
          <p:cNvPr id="51" name="Google Shape;51;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2" name="Google Shape;52;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280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53" name="Google Shape;53;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Roboto Thin"/>
              <a:buNone/>
              <a:defRPr sz="2800">
                <a:solidFill>
                  <a:schemeClr val="dk1"/>
                </a:solidFill>
                <a:latin typeface="Roboto Thin"/>
                <a:ea typeface="Roboto Thin"/>
                <a:cs typeface="Roboto Thin"/>
                <a:sym typeface="Roboto Thin"/>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Open Sans Light"/>
              <a:buChar char="●"/>
              <a:defRPr sz="1800">
                <a:solidFill>
                  <a:schemeClr val="dk2"/>
                </a:solidFill>
                <a:latin typeface="Open Sans Light"/>
                <a:ea typeface="Open Sans Light"/>
                <a:cs typeface="Open Sans Light"/>
                <a:sym typeface="Open Sans Light"/>
              </a:defRPr>
            </a:lvl1pPr>
            <a:lvl2pPr marL="914400" lvl="1" indent="-31750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2pPr>
            <a:lvl3pPr marL="1371600" lvl="2" indent="-31750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3pPr>
            <a:lvl4pPr marL="1828800" lvl="3" indent="-31750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4pPr>
            <a:lvl5pPr marL="2286000" lvl="4" indent="-31750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5pPr>
            <a:lvl6pPr marL="2743200" lvl="5" indent="-31750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6pPr>
            <a:lvl7pPr marL="3200400" lvl="6" indent="-31750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7pPr>
            <a:lvl8pPr marL="3657600" lvl="7" indent="-317500">
              <a:lnSpc>
                <a:spcPct val="115000"/>
              </a:lnSpc>
              <a:spcBef>
                <a:spcPts val="1600"/>
              </a:spcBef>
              <a:spcAft>
                <a:spcPts val="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8pPr>
            <a:lvl9pPr marL="4114800" lvl="8" indent="-317500">
              <a:lnSpc>
                <a:spcPct val="115000"/>
              </a:lnSpc>
              <a:spcBef>
                <a:spcPts val="1600"/>
              </a:spcBef>
              <a:spcAft>
                <a:spcPts val="1600"/>
              </a:spcAft>
              <a:buClr>
                <a:schemeClr val="dk2"/>
              </a:buClr>
              <a:buSzPts val="1400"/>
              <a:buFont typeface="Open Sans Light"/>
              <a:buChar char="■"/>
              <a:defRPr>
                <a:solidFill>
                  <a:schemeClr val="dk2"/>
                </a:solidFill>
                <a:latin typeface="Open Sans Light"/>
                <a:ea typeface="Open Sans Light"/>
                <a:cs typeface="Open Sans Light"/>
                <a:sym typeface="Open Sans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B3E4"/>
        </a:solidFill>
        <a:effectLst/>
      </p:bgPr>
    </p:bg>
    <p:spTree>
      <p:nvGrpSpPr>
        <p:cNvPr id="1" name="Shape 57"/>
        <p:cNvGrpSpPr/>
        <p:nvPr/>
      </p:nvGrpSpPr>
      <p:grpSpPr>
        <a:xfrm>
          <a:off x="0" y="0"/>
          <a:ext cx="0" cy="0"/>
          <a:chOff x="0" y="0"/>
          <a:chExt cx="0" cy="0"/>
        </a:xfrm>
      </p:grpSpPr>
      <p:sp>
        <p:nvSpPr>
          <p:cNvPr id="58" name="Google Shape;58;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solidFill>
                  <a:schemeClr val="lt1"/>
                </a:solidFill>
              </a:rPr>
              <a:t>Udacity </a:t>
            </a:r>
            <a:endParaRPr>
              <a:solidFill>
                <a:schemeClr val="lt1"/>
              </a:solidFill>
            </a:endParaRPr>
          </a:p>
          <a:p>
            <a:pPr marL="0" lvl="0" indent="0" algn="ctr" rtl="0">
              <a:spcBef>
                <a:spcPts val="0"/>
              </a:spcBef>
              <a:spcAft>
                <a:spcPts val="0"/>
              </a:spcAft>
              <a:buNone/>
            </a:pPr>
            <a:r>
              <a:rPr lang="en">
                <a:solidFill>
                  <a:schemeClr val="lt1"/>
                </a:solidFill>
              </a:rPr>
              <a:t>Marketing Analytics</a:t>
            </a:r>
            <a:endParaRPr>
              <a:solidFill>
                <a:schemeClr val="lt1"/>
              </a:solidFill>
            </a:endParaRPr>
          </a:p>
        </p:txBody>
      </p:sp>
      <p:sp>
        <p:nvSpPr>
          <p:cNvPr id="59" name="Google Shape;59;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latin typeface="Open Sans Light"/>
                <a:ea typeface="Open Sans Light"/>
                <a:cs typeface="Open Sans Light"/>
                <a:sym typeface="Open Sans Light"/>
              </a:rPr>
              <a:t>Nanodegree Program</a:t>
            </a:r>
            <a:endParaRPr>
              <a:solidFill>
                <a:schemeClr val="lt1"/>
              </a:solidFill>
              <a:latin typeface="Open Sans Light"/>
              <a:ea typeface="Open Sans Light"/>
              <a:cs typeface="Open Sans Light"/>
              <a:sym typeface="Open Sans Light"/>
            </a:endParaRPr>
          </a:p>
          <a:p>
            <a:pPr marL="0" lvl="0" indent="0" algn="ctr" rtl="0">
              <a:spcBef>
                <a:spcPts val="0"/>
              </a:spcBef>
              <a:spcAft>
                <a:spcPts val="0"/>
              </a:spcAft>
              <a:buNone/>
            </a:pPr>
            <a:r>
              <a:rPr lang="en">
                <a:solidFill>
                  <a:schemeClr val="lt1"/>
                </a:solidFill>
                <a:latin typeface="Open Sans Light"/>
                <a:ea typeface="Open Sans Light"/>
                <a:cs typeface="Open Sans Light"/>
                <a:sym typeface="Open Sans Light"/>
              </a:rPr>
              <a:t> Project: Crafting an Analytic Brief</a:t>
            </a:r>
            <a:endParaRPr>
              <a:solidFill>
                <a:schemeClr val="lt1"/>
              </a:solidFill>
              <a:latin typeface="Open Sans Light"/>
              <a:ea typeface="Open Sans Light"/>
              <a:cs typeface="Open Sans Light"/>
              <a:sym typeface="Open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6"/>
          <p:cNvSpPr txBox="1">
            <a:spLocks noGrp="1"/>
          </p:cNvSpPr>
          <p:nvPr>
            <p:ph type="title"/>
          </p:nvPr>
        </p:nvSpPr>
        <p:spPr>
          <a:xfrm>
            <a:off x="311700" y="445025"/>
            <a:ext cx="8520600" cy="572700"/>
          </a:xfrm>
          <a:prstGeom prst="rect">
            <a:avLst/>
          </a:prstGeom>
          <a:ln w="9525" cap="flat" cmpd="sng">
            <a:solidFill>
              <a:srgbClr val="02B3E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dirty="0"/>
              <a:t>Business Story: </a:t>
            </a:r>
            <a:r>
              <a:rPr lang="en-US" dirty="0"/>
              <a:t>Udacity School of Business</a:t>
            </a:r>
            <a:endParaRPr dirty="0"/>
          </a:p>
        </p:txBody>
      </p:sp>
      <p:sp>
        <p:nvSpPr>
          <p:cNvPr id="65" name="Google Shape;65;p16"/>
          <p:cNvSpPr txBox="1">
            <a:spLocks noGrp="1"/>
          </p:cNvSpPr>
          <p:nvPr>
            <p:ph type="body" idx="1"/>
          </p:nvPr>
        </p:nvSpPr>
        <p:spPr>
          <a:xfrm>
            <a:off x="311700" y="1152474"/>
            <a:ext cx="8520600" cy="364140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dirty="0">
                <a:latin typeface="Open Sans Light"/>
                <a:ea typeface="Open Sans Light"/>
                <a:cs typeface="Open Sans Light"/>
                <a:sym typeface="Open Sans Light"/>
              </a:rPr>
              <a:t>What relevant actionable segments exists?</a:t>
            </a:r>
          </a:p>
          <a:p>
            <a:pPr marL="285750" indent="-285750"/>
            <a:r>
              <a:rPr lang="en" sz="1600" dirty="0">
                <a:latin typeface="Open Sans Light"/>
                <a:ea typeface="Open Sans Light"/>
                <a:cs typeface="Open Sans Light"/>
                <a:sym typeface="Open Sans Light"/>
              </a:rPr>
              <a:t>Students </a:t>
            </a:r>
            <a:r>
              <a:rPr lang="en" sz="1600" dirty="0"/>
              <a:t>that want to enhance their skills </a:t>
            </a:r>
            <a:r>
              <a:rPr lang="en-US" sz="1600" dirty="0"/>
              <a:t>or learn new skills in areas such as Marketing or Business.</a:t>
            </a:r>
          </a:p>
          <a:p>
            <a:pPr marL="285750" indent="-285750"/>
            <a:r>
              <a:rPr lang="en-US" sz="1600" dirty="0">
                <a:latin typeface="Open Sans Light"/>
                <a:ea typeface="Open Sans Light"/>
                <a:cs typeface="Open Sans Light"/>
                <a:sym typeface="Open Sans Light"/>
              </a:rPr>
              <a:t>Persons </a:t>
            </a:r>
            <a:r>
              <a:rPr lang="en-US" sz="1600" dirty="0"/>
              <a:t>that would like to start their careers in Marketing or Business.</a:t>
            </a:r>
          </a:p>
          <a:p>
            <a:pPr marL="285750" indent="-285750"/>
            <a:r>
              <a:rPr lang="en-US" sz="1600" dirty="0">
                <a:latin typeface="Open Sans Light"/>
                <a:ea typeface="Open Sans Light"/>
                <a:cs typeface="Open Sans Light"/>
                <a:sym typeface="Open Sans Light"/>
              </a:rPr>
              <a:t>Learners who p</a:t>
            </a:r>
            <a:r>
              <a:rPr lang="en-US" sz="1600" dirty="0"/>
              <a:t>refer distance learning.</a:t>
            </a:r>
          </a:p>
          <a:p>
            <a:pPr marL="285750" indent="-285750"/>
            <a:r>
              <a:rPr lang="en-US" sz="1600" dirty="0">
                <a:latin typeface="Open Sans Light"/>
                <a:ea typeface="Open Sans Light"/>
                <a:cs typeface="Open Sans Light"/>
                <a:sym typeface="Open Sans Light"/>
              </a:rPr>
              <a:t>Employees or others persons who have been granted access to programs via scholarship or corporate training.</a:t>
            </a:r>
            <a:endParaRPr sz="1600" dirty="0">
              <a:latin typeface="Open Sans Light"/>
              <a:ea typeface="Open Sans Light"/>
              <a:cs typeface="Open Sans Light"/>
              <a:sym typeface="Open Sans Light"/>
            </a:endParaRPr>
          </a:p>
          <a:p>
            <a:pPr marL="0" lvl="0" indent="0" algn="l" rtl="0">
              <a:spcBef>
                <a:spcPts val="1600"/>
              </a:spcBef>
              <a:spcAft>
                <a:spcPts val="0"/>
              </a:spcAft>
              <a:buClr>
                <a:schemeClr val="dk1"/>
              </a:buClr>
              <a:buSzPts val="1100"/>
              <a:buFont typeface="Arial"/>
              <a:buNone/>
            </a:pPr>
            <a:r>
              <a:rPr lang="en" sz="1600" dirty="0">
                <a:latin typeface="Open Sans Light"/>
                <a:ea typeface="Open Sans Light"/>
                <a:cs typeface="Open Sans Light"/>
                <a:sym typeface="Open Sans Light"/>
              </a:rPr>
              <a:t>Which ones should we pursue and why?</a:t>
            </a:r>
          </a:p>
          <a:p>
            <a:pPr marL="0" lvl="0" indent="0" algn="l" rtl="0">
              <a:spcBef>
                <a:spcPts val="1600"/>
              </a:spcBef>
              <a:spcAft>
                <a:spcPts val="0"/>
              </a:spcAft>
              <a:buClr>
                <a:schemeClr val="dk1"/>
              </a:buClr>
              <a:buSzPts val="1100"/>
              <a:buFont typeface="Arial"/>
              <a:buNone/>
            </a:pPr>
            <a:r>
              <a:rPr lang="en" sz="1600" dirty="0"/>
              <a:t>Pursue these four segments, are they are very relevant and have strong reasons to </a:t>
            </a:r>
            <a:r>
              <a:rPr lang="en-US" sz="1600" dirty="0"/>
              <a:t>opt for this kind of education, by offering courses on modern trends with real world projects by real experts in the markets.</a:t>
            </a:r>
            <a:endParaRPr sz="1600" dirty="0">
              <a:latin typeface="Open Sans Light"/>
              <a:ea typeface="Open Sans Light"/>
              <a:cs typeface="Open Sans Light"/>
              <a:sym typeface="Open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311700" y="445025"/>
            <a:ext cx="8520600" cy="572700"/>
          </a:xfrm>
          <a:prstGeom prst="rect">
            <a:avLst/>
          </a:prstGeom>
          <a:ln w="9525" cap="flat" cmpd="sng">
            <a:solidFill>
              <a:srgbClr val="FFAE0C"/>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Customer Story</a:t>
            </a:r>
            <a:endParaRPr/>
          </a:p>
        </p:txBody>
      </p:sp>
      <p:sp>
        <p:nvSpPr>
          <p:cNvPr id="71" name="Google Shape;71;p17"/>
          <p:cNvSpPr txBox="1">
            <a:spLocks noGrp="1"/>
          </p:cNvSpPr>
          <p:nvPr>
            <p:ph type="body" idx="1"/>
          </p:nvPr>
        </p:nvSpPr>
        <p:spPr>
          <a:xfrm>
            <a:off x="311700" y="1152474"/>
            <a:ext cx="8520600" cy="3675019"/>
          </a:xfrm>
          <a:prstGeom prst="rect">
            <a:avLst/>
          </a:prstGeom>
        </p:spPr>
        <p:txBody>
          <a:bodyPr spcFirstLastPara="1" wrap="square" lIns="91425" tIns="91425" rIns="91425" bIns="91425" anchor="t" anchorCtr="0">
            <a:noAutofit/>
          </a:bodyPr>
          <a:lstStyle/>
          <a:p>
            <a:pPr marL="0" lvl="0" indent="0">
              <a:buNone/>
            </a:pPr>
            <a:r>
              <a:rPr lang="en" sz="700" dirty="0"/>
              <a:t>Where is our target audience?</a:t>
            </a:r>
          </a:p>
          <a:p>
            <a:pPr marL="0" lvl="0" indent="0" algn="l" rtl="0">
              <a:spcBef>
                <a:spcPts val="0"/>
              </a:spcBef>
              <a:spcAft>
                <a:spcPts val="0"/>
              </a:spcAft>
              <a:buNone/>
            </a:pPr>
            <a:r>
              <a:rPr lang="en" sz="500" dirty="0"/>
              <a:t>Facebook, Instagram, Twitter, Youtube, </a:t>
            </a:r>
            <a:r>
              <a:rPr lang="en-US" sz="500" dirty="0" err="1"/>
              <a:t>Linkedin</a:t>
            </a:r>
            <a:r>
              <a:rPr lang="en" sz="500" dirty="0"/>
              <a:t> </a:t>
            </a:r>
            <a:r>
              <a:rPr lang="en-US" sz="500" dirty="0"/>
              <a:t>and online search sites.</a:t>
            </a:r>
            <a:endParaRPr sz="500" dirty="0">
              <a:latin typeface="Open Sans Light"/>
              <a:ea typeface="Open Sans Light"/>
              <a:cs typeface="Open Sans Light"/>
              <a:sym typeface="Open Sans Light"/>
            </a:endParaRPr>
          </a:p>
          <a:p>
            <a:pPr marL="0" lvl="0" indent="0">
              <a:spcBef>
                <a:spcPts val="1600"/>
              </a:spcBef>
              <a:buNone/>
            </a:pPr>
            <a:r>
              <a:rPr lang="en" sz="700" dirty="0"/>
              <a:t>Where is our effort?</a:t>
            </a:r>
          </a:p>
          <a:p>
            <a:pPr marL="285750" indent="-285750">
              <a:spcBef>
                <a:spcPts val="1600"/>
              </a:spcBef>
            </a:pPr>
            <a:r>
              <a:rPr lang="en" sz="500" dirty="0"/>
              <a:t>Paid media, through online ad</a:t>
            </a:r>
            <a:r>
              <a:rPr lang="en-US" sz="500" dirty="0"/>
              <a:t>s</a:t>
            </a:r>
          </a:p>
          <a:p>
            <a:pPr marL="285750" indent="-285750">
              <a:spcBef>
                <a:spcPts val="1600"/>
              </a:spcBef>
            </a:pPr>
            <a:r>
              <a:rPr lang="en-US" sz="500" dirty="0">
                <a:latin typeface="Open Sans Light"/>
                <a:ea typeface="Open Sans Light"/>
                <a:cs typeface="Open Sans Light"/>
                <a:sym typeface="Open Sans Light"/>
              </a:rPr>
              <a:t>Owned media, via our </a:t>
            </a:r>
            <a:r>
              <a:rPr lang="en-US" sz="500" dirty="0"/>
              <a:t>website social media, blogs and e-mail list.</a:t>
            </a:r>
          </a:p>
          <a:p>
            <a:pPr marL="285750" indent="-285750">
              <a:spcBef>
                <a:spcPts val="1600"/>
              </a:spcBef>
            </a:pPr>
            <a:r>
              <a:rPr lang="en-US" sz="500" dirty="0">
                <a:latin typeface="Open Sans Light"/>
                <a:ea typeface="Open Sans Light"/>
                <a:cs typeface="Open Sans Light"/>
                <a:sym typeface="Open Sans Light"/>
              </a:rPr>
              <a:t>Earned media, through word of mouth from other students and mentions on social media or blogs.</a:t>
            </a:r>
          </a:p>
          <a:p>
            <a:pPr marL="285750" indent="-285750">
              <a:spcBef>
                <a:spcPts val="1600"/>
              </a:spcBef>
            </a:pPr>
            <a:endParaRPr sz="500" dirty="0">
              <a:latin typeface="Open Sans Light"/>
              <a:ea typeface="Open Sans Light"/>
              <a:cs typeface="Open Sans Light"/>
              <a:sym typeface="Open Sans Light"/>
            </a:endParaRPr>
          </a:p>
          <a:p>
            <a:pPr marL="0" indent="0">
              <a:buNone/>
            </a:pPr>
            <a:r>
              <a:rPr lang="en" sz="700" dirty="0"/>
              <a:t>How effective is our effort?</a:t>
            </a:r>
          </a:p>
          <a:p>
            <a:pPr marL="0" indent="0">
              <a:buNone/>
            </a:pPr>
            <a:endParaRPr lang="en" sz="700" dirty="0"/>
          </a:p>
          <a:p>
            <a:pPr marL="0" lvl="0" indent="0" algn="l" rtl="0">
              <a:spcAft>
                <a:spcPts val="0"/>
              </a:spcAft>
              <a:buNone/>
            </a:pPr>
            <a:r>
              <a:rPr lang="en" sz="500" dirty="0">
                <a:latin typeface="Open Sans Light"/>
                <a:ea typeface="Open Sans Light"/>
                <a:cs typeface="Open Sans Light"/>
                <a:sym typeface="Open Sans Light"/>
              </a:rPr>
              <a:t>Efforts seem effective, </a:t>
            </a:r>
            <a:r>
              <a:rPr lang="en-US" sz="500" dirty="0">
                <a:latin typeface="Open Sans Light"/>
                <a:ea typeface="Open Sans Light"/>
                <a:cs typeface="Open Sans Light"/>
                <a:sym typeface="Open Sans Light"/>
              </a:rPr>
              <a:t>I discovered this website from a promotion for a free month, which made me recommend the course to a fellow coworker. These kinds of promotions seem effective at bringing in new customers. Regarding retention, more data would be needed to assess.</a:t>
            </a:r>
            <a:endParaRPr sz="500" dirty="0">
              <a:latin typeface="Open Sans Light"/>
              <a:ea typeface="Open Sans Light"/>
              <a:cs typeface="Open Sans Light"/>
              <a:sym typeface="Open Sans Light"/>
            </a:endParaRPr>
          </a:p>
          <a:p>
            <a:pPr marL="0" lvl="0" indent="0">
              <a:buNone/>
            </a:pPr>
            <a:r>
              <a:rPr lang="en" sz="700" dirty="0"/>
              <a:t>Where should we focus changes?</a:t>
            </a:r>
          </a:p>
          <a:p>
            <a:pPr marL="0" lvl="0" indent="0">
              <a:buNone/>
            </a:pPr>
            <a:endParaRPr lang="en" sz="700" dirty="0"/>
          </a:p>
          <a:p>
            <a:pPr marL="0" lvl="0" indent="0" algn="l" rtl="0">
              <a:spcAft>
                <a:spcPts val="0"/>
              </a:spcAft>
              <a:buNone/>
            </a:pPr>
            <a:r>
              <a:rPr lang="en" sz="500" dirty="0"/>
              <a:t>Focus changes on sales </a:t>
            </a:r>
            <a:r>
              <a:rPr lang="en-US" sz="500" dirty="0"/>
              <a:t>and marketing, to assist the customer in his journey to finding the right education for himself, by providing high quality content. Offering different discounts for different countries in order to adapt to the average money available per capita could prove valuable in attracting customers from more countries.</a:t>
            </a:r>
          </a:p>
          <a:p>
            <a:pPr marL="0" lvl="0" indent="0" algn="l" rtl="0">
              <a:spcAft>
                <a:spcPts val="0"/>
              </a:spcAft>
              <a:buNone/>
            </a:pPr>
            <a:endParaRPr sz="500" dirty="0">
              <a:latin typeface="Open Sans Light"/>
              <a:ea typeface="Open Sans Light"/>
              <a:cs typeface="Open Sans Light"/>
              <a:sym typeface="Open Sans Light"/>
            </a:endParaRPr>
          </a:p>
          <a:p>
            <a:pPr marL="0" indent="0">
              <a:buNone/>
            </a:pPr>
            <a:r>
              <a:rPr lang="en" sz="700" dirty="0">
                <a:latin typeface="Open Sans Light"/>
                <a:ea typeface="Open Sans Light"/>
                <a:cs typeface="Open Sans Light"/>
                <a:sym typeface="Open Sans Light"/>
              </a:rPr>
              <a:t>What </a:t>
            </a:r>
            <a:r>
              <a:rPr lang="en" sz="700" dirty="0"/>
              <a:t>s</a:t>
            </a:r>
            <a:r>
              <a:rPr lang="en" sz="700" dirty="0">
                <a:latin typeface="Open Sans Light"/>
                <a:ea typeface="Open Sans Light"/>
                <a:cs typeface="Open Sans Light"/>
                <a:sym typeface="Open Sans Light"/>
              </a:rPr>
              <a:t>hould we do, now or later?</a:t>
            </a:r>
          </a:p>
          <a:p>
            <a:pPr marL="0" indent="0">
              <a:buNone/>
            </a:pPr>
            <a:endParaRPr lang="en" sz="700" dirty="0">
              <a:latin typeface="Open Sans Light"/>
              <a:ea typeface="Open Sans Light"/>
              <a:cs typeface="Open Sans Light"/>
              <a:sym typeface="Open Sans Light"/>
            </a:endParaRPr>
          </a:p>
          <a:p>
            <a:pPr marL="0" indent="0">
              <a:buNone/>
            </a:pPr>
            <a:r>
              <a:rPr lang="en" sz="500" dirty="0"/>
              <a:t>Promote </a:t>
            </a:r>
            <a:r>
              <a:rPr lang="en-US" sz="500" dirty="0"/>
              <a:t>a customer loyalty program to encourage new users that are coming in from discounts and particularly now that so many persons are home from </a:t>
            </a:r>
            <a:r>
              <a:rPr lang="en-US" sz="500" dirty="0" err="1"/>
              <a:t>covid</a:t>
            </a:r>
            <a:r>
              <a:rPr lang="en-US" sz="500" dirty="0"/>
              <a:t> to promote repeated purchases and cultivate brand loyalty.</a:t>
            </a:r>
          </a:p>
          <a:p>
            <a:pPr marL="0" indent="0">
              <a:buNone/>
            </a:pPr>
            <a:r>
              <a:rPr lang="en-US" sz="500" dirty="0"/>
              <a:t>Invest more on ads on </a:t>
            </a:r>
            <a:r>
              <a:rPr lang="en-US" sz="500" dirty="0" err="1"/>
              <a:t>Linkedin</a:t>
            </a:r>
            <a:r>
              <a:rPr lang="en-US" sz="500" dirty="0"/>
              <a:t> where leads are highly qualified.</a:t>
            </a:r>
          </a:p>
          <a:p>
            <a:pPr marL="0" indent="0">
              <a:buNone/>
            </a:pPr>
            <a:r>
              <a:rPr lang="en-US" sz="500" dirty="0"/>
              <a:t>Use students help with their networks to assist in divulging the brand.</a:t>
            </a:r>
          </a:p>
          <a:p>
            <a:pPr marL="0" indent="0">
              <a:spcBef>
                <a:spcPts val="1600"/>
              </a:spcBef>
              <a:buNone/>
            </a:pPr>
            <a:endParaRPr lang="en" sz="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8"/>
          <p:cNvSpPr txBox="1">
            <a:spLocks noGrp="1"/>
          </p:cNvSpPr>
          <p:nvPr>
            <p:ph type="title"/>
          </p:nvPr>
        </p:nvSpPr>
        <p:spPr>
          <a:xfrm>
            <a:off x="311700" y="445025"/>
            <a:ext cx="8520600" cy="572700"/>
          </a:xfrm>
          <a:prstGeom prst="rect">
            <a:avLst/>
          </a:prstGeom>
          <a:ln w="9525" cap="flat" cmpd="sng">
            <a:solidFill>
              <a:srgbClr val="02CCBA"/>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Testing and Learning Plan</a:t>
            </a:r>
            <a:endParaRPr/>
          </a:p>
        </p:txBody>
      </p:sp>
      <p:sp>
        <p:nvSpPr>
          <p:cNvPr id="77" name="Google Shape;77;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should we study further?</a:t>
            </a:r>
          </a:p>
          <a:p>
            <a:pPr marL="0" lvl="0" indent="0" algn="l" rtl="0">
              <a:spcBef>
                <a:spcPts val="0"/>
              </a:spcBef>
              <a:spcAft>
                <a:spcPts val="0"/>
              </a:spcAft>
              <a:buNone/>
            </a:pPr>
            <a:r>
              <a:rPr lang="en" sz="1400" dirty="0"/>
              <a:t>Study the course prices and discounts, </a:t>
            </a:r>
            <a:r>
              <a:rPr lang="en-US" sz="1400" dirty="0"/>
              <a:t>in general and in between different countries.</a:t>
            </a:r>
          </a:p>
          <a:p>
            <a:pPr marL="0" lvl="0" indent="0" algn="l" rtl="0">
              <a:spcBef>
                <a:spcPts val="0"/>
              </a:spcBef>
              <a:spcAft>
                <a:spcPts val="0"/>
              </a:spcAft>
              <a:buNone/>
            </a:pPr>
            <a:r>
              <a:rPr lang="en-US" sz="1400" dirty="0"/>
              <a:t>Focus on quality over content, by offering very tailored and high quality content from highly specialized in market instructors and mentors.</a:t>
            </a:r>
          </a:p>
          <a:p>
            <a:pPr marL="0" lvl="0" indent="0" algn="l" rtl="0">
              <a:spcBef>
                <a:spcPts val="0"/>
              </a:spcBef>
              <a:spcAft>
                <a:spcPts val="0"/>
              </a:spcAft>
              <a:buNone/>
            </a:pPr>
            <a:endParaRPr sz="1400" dirty="0"/>
          </a:p>
          <a:p>
            <a:pPr marL="0" indent="0">
              <a:buNone/>
            </a:pPr>
            <a:r>
              <a:rPr lang="en" dirty="0"/>
              <a:t>What should we try?</a:t>
            </a:r>
          </a:p>
          <a:p>
            <a:pPr marL="0" indent="0">
              <a:buNone/>
            </a:pPr>
            <a:r>
              <a:rPr lang="en" sz="1400" dirty="0"/>
              <a:t>Im</a:t>
            </a:r>
            <a:r>
              <a:rPr lang="en-US" sz="1400" dirty="0"/>
              <a:t>prove customer experience by developing a mobile app as more and more students and potential students want to learn on the go.</a:t>
            </a:r>
          </a:p>
          <a:p>
            <a:pPr marL="0" indent="0">
              <a:buNone/>
            </a:pPr>
            <a:r>
              <a:rPr lang="en-US" sz="1400" dirty="0"/>
              <a:t>Improve student support and identify pain points on the customer journey.</a:t>
            </a:r>
          </a:p>
          <a:p>
            <a:pPr marL="0" indent="0">
              <a:buNone/>
            </a:pPr>
            <a:r>
              <a:rPr lang="en-US" sz="1400" dirty="0"/>
              <a:t>Try different prices in between countries.</a:t>
            </a:r>
            <a:endParaRPr lang="en" sz="1400" dirty="0"/>
          </a:p>
          <a:p>
            <a:pPr marL="0" lvl="0" indent="0" algn="l" rtl="0">
              <a:spcBef>
                <a:spcPts val="1600"/>
              </a:spcBef>
              <a:spcAft>
                <a:spcPts val="1600"/>
              </a:spcAft>
              <a:buNone/>
            </a:pPr>
            <a:endParaRPr lang="e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graphicFrame>
        <p:nvGraphicFramePr>
          <p:cNvPr id="82" name="Google Shape;82;p19"/>
          <p:cNvGraphicFramePr/>
          <p:nvPr>
            <p:extLst>
              <p:ext uri="{D42A27DB-BD31-4B8C-83A1-F6EECF244321}">
                <p14:modId xmlns:p14="http://schemas.microsoft.com/office/powerpoint/2010/main" val="1931746349"/>
              </p:ext>
            </p:extLst>
          </p:nvPr>
        </p:nvGraphicFramePr>
        <p:xfrm>
          <a:off x="1160350" y="681750"/>
          <a:ext cx="6823200" cy="3962100"/>
        </p:xfrm>
        <a:graphic>
          <a:graphicData uri="http://schemas.openxmlformats.org/drawingml/2006/table">
            <a:tbl>
              <a:tblPr>
                <a:noFill/>
                <a:tableStyleId>{BDCE80AA-D66A-4BFA-AE12-3CF21695A5E1}</a:tableStyleId>
              </a:tblPr>
              <a:tblGrid>
                <a:gridCol w="1137200">
                  <a:extLst>
                    <a:ext uri="{9D8B030D-6E8A-4147-A177-3AD203B41FA5}">
                      <a16:colId xmlns:a16="http://schemas.microsoft.com/office/drawing/2014/main" val="20000"/>
                    </a:ext>
                  </a:extLst>
                </a:gridCol>
                <a:gridCol w="1137200">
                  <a:extLst>
                    <a:ext uri="{9D8B030D-6E8A-4147-A177-3AD203B41FA5}">
                      <a16:colId xmlns:a16="http://schemas.microsoft.com/office/drawing/2014/main" val="20001"/>
                    </a:ext>
                  </a:extLst>
                </a:gridCol>
                <a:gridCol w="1137200">
                  <a:extLst>
                    <a:ext uri="{9D8B030D-6E8A-4147-A177-3AD203B41FA5}">
                      <a16:colId xmlns:a16="http://schemas.microsoft.com/office/drawing/2014/main" val="20002"/>
                    </a:ext>
                  </a:extLst>
                </a:gridCol>
                <a:gridCol w="1137200">
                  <a:extLst>
                    <a:ext uri="{9D8B030D-6E8A-4147-A177-3AD203B41FA5}">
                      <a16:colId xmlns:a16="http://schemas.microsoft.com/office/drawing/2014/main" val="20003"/>
                    </a:ext>
                  </a:extLst>
                </a:gridCol>
                <a:gridCol w="1137200">
                  <a:extLst>
                    <a:ext uri="{9D8B030D-6E8A-4147-A177-3AD203B41FA5}">
                      <a16:colId xmlns:a16="http://schemas.microsoft.com/office/drawing/2014/main" val="20004"/>
                    </a:ext>
                  </a:extLst>
                </a:gridCol>
                <a:gridCol w="1137200">
                  <a:extLst>
                    <a:ext uri="{9D8B030D-6E8A-4147-A177-3AD203B41FA5}">
                      <a16:colId xmlns:a16="http://schemas.microsoft.com/office/drawing/2014/main" val="20005"/>
                    </a:ext>
                  </a:extLst>
                </a:gridCol>
              </a:tblGrid>
              <a:tr h="359175">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Open Sans Light"/>
                          <a:ea typeface="Open Sans Light"/>
                          <a:cs typeface="Open Sans Light"/>
                          <a:sym typeface="Open Sans Light"/>
                        </a:rPr>
                        <a:t>Awareness </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Open Sans Light"/>
                          <a:ea typeface="Open Sans Light"/>
                          <a:cs typeface="Open Sans Light"/>
                          <a:sym typeface="Open Sans Light"/>
                        </a:rPr>
                        <a:t>Interest </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Open Sans Light"/>
                          <a:ea typeface="Open Sans Light"/>
                          <a:cs typeface="Open Sans Light"/>
                          <a:sym typeface="Open Sans Light"/>
                        </a:rPr>
                        <a:t>Desire</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Open Sans Light"/>
                          <a:ea typeface="Open Sans Light"/>
                          <a:cs typeface="Open Sans Light"/>
                          <a:sym typeface="Open Sans Light"/>
                        </a:rPr>
                        <a:t>Action </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ctr" rtl="0">
                        <a:spcBef>
                          <a:spcPts val="0"/>
                        </a:spcBef>
                        <a:spcAft>
                          <a:spcPts val="0"/>
                        </a:spcAft>
                        <a:buNone/>
                      </a:pPr>
                      <a:r>
                        <a:rPr lang="en">
                          <a:latin typeface="Open Sans Light"/>
                          <a:ea typeface="Open Sans Light"/>
                          <a:cs typeface="Open Sans Light"/>
                          <a:sym typeface="Open Sans Light"/>
                        </a:rPr>
                        <a:t>Post Action</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extLst>
                  <a:ext uri="{0D108BD9-81ED-4DB2-BD59-A6C34878D82A}">
                    <a16:rowId xmlns:a16="http://schemas.microsoft.com/office/drawing/2014/main" val="10000"/>
                  </a:ext>
                </a:extLst>
              </a:tr>
              <a:tr h="359175">
                <a:tc>
                  <a:txBody>
                    <a:bodyPr/>
                    <a:lstStyle/>
                    <a:p>
                      <a:pPr marL="0" lvl="0" indent="0" algn="l" rtl="0">
                        <a:spcBef>
                          <a:spcPts val="0"/>
                        </a:spcBef>
                        <a:spcAft>
                          <a:spcPts val="0"/>
                        </a:spcAft>
                        <a:buNone/>
                      </a:pPr>
                      <a:r>
                        <a:rPr lang="en-US" dirty="0">
                          <a:latin typeface="Open Sans Light"/>
                          <a:ea typeface="Open Sans Light"/>
                          <a:cs typeface="Open Sans Light"/>
                          <a:sym typeface="Open Sans Light"/>
                        </a:rPr>
                        <a:t>Search</a:t>
                      </a:r>
                      <a:endParaRPr dirty="0">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dirty="0">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extLst>
                  <a:ext uri="{0D108BD9-81ED-4DB2-BD59-A6C34878D82A}">
                    <a16:rowId xmlns:a16="http://schemas.microsoft.com/office/drawing/2014/main" val="10001"/>
                  </a:ext>
                </a:extLst>
              </a:tr>
              <a:tr h="359175">
                <a:tc>
                  <a:txBody>
                    <a:bodyPr/>
                    <a:lstStyle/>
                    <a:p>
                      <a:pPr marL="0" lvl="0" indent="0" algn="l" rtl="0">
                        <a:spcBef>
                          <a:spcPts val="0"/>
                        </a:spcBef>
                        <a:spcAft>
                          <a:spcPts val="0"/>
                        </a:spcAft>
                        <a:buNone/>
                      </a:pPr>
                      <a:r>
                        <a:rPr lang="en-US" dirty="0">
                          <a:latin typeface="Open Sans Light"/>
                          <a:ea typeface="Open Sans Light"/>
                          <a:cs typeface="Open Sans Light"/>
                          <a:sym typeface="Open Sans Light"/>
                        </a:rPr>
                        <a:t>Website</a:t>
                      </a:r>
                      <a:endParaRPr dirty="0">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extLst>
                  <a:ext uri="{0D108BD9-81ED-4DB2-BD59-A6C34878D82A}">
                    <a16:rowId xmlns:a16="http://schemas.microsoft.com/office/drawing/2014/main" val="10002"/>
                  </a:ext>
                </a:extLst>
              </a:tr>
              <a:tr h="359175">
                <a:tc>
                  <a:txBody>
                    <a:bodyPr/>
                    <a:lstStyle/>
                    <a:p>
                      <a:pPr marL="0" lvl="0" indent="0" algn="l" rtl="0">
                        <a:spcBef>
                          <a:spcPts val="0"/>
                        </a:spcBef>
                        <a:spcAft>
                          <a:spcPts val="0"/>
                        </a:spcAft>
                        <a:buNone/>
                      </a:pPr>
                      <a:r>
                        <a:rPr lang="en">
                          <a:latin typeface="Open Sans Light"/>
                          <a:ea typeface="Open Sans Light"/>
                          <a:cs typeface="Open Sans Light"/>
                          <a:sym typeface="Open Sans Light"/>
                        </a:rPr>
                        <a:t>Display</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dirty="0">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dirty="0">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extLst>
                  <a:ext uri="{0D108BD9-81ED-4DB2-BD59-A6C34878D82A}">
                    <a16:rowId xmlns:a16="http://schemas.microsoft.com/office/drawing/2014/main" val="10003"/>
                  </a:ext>
                </a:extLst>
              </a:tr>
              <a:tr h="359175">
                <a:tc>
                  <a:txBody>
                    <a:bodyPr/>
                    <a:lstStyle/>
                    <a:p>
                      <a:pPr marL="0" lvl="0" indent="0" algn="l" rtl="0">
                        <a:spcBef>
                          <a:spcPts val="0"/>
                        </a:spcBef>
                        <a:spcAft>
                          <a:spcPts val="0"/>
                        </a:spcAft>
                        <a:buNone/>
                      </a:pPr>
                      <a:r>
                        <a:rPr lang="en">
                          <a:latin typeface="Open Sans Light"/>
                          <a:ea typeface="Open Sans Light"/>
                          <a:cs typeface="Open Sans Light"/>
                          <a:sym typeface="Open Sans Light"/>
                        </a:rPr>
                        <a:t>Facebook</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extLst>
                  <a:ext uri="{0D108BD9-81ED-4DB2-BD59-A6C34878D82A}">
                    <a16:rowId xmlns:a16="http://schemas.microsoft.com/office/drawing/2014/main" val="10004"/>
                  </a:ext>
                </a:extLst>
              </a:tr>
              <a:tr h="359175">
                <a:tc>
                  <a:txBody>
                    <a:bodyPr/>
                    <a:lstStyle/>
                    <a:p>
                      <a:pPr marL="0" lvl="0" indent="0" algn="l" rtl="0">
                        <a:spcBef>
                          <a:spcPts val="0"/>
                        </a:spcBef>
                        <a:spcAft>
                          <a:spcPts val="0"/>
                        </a:spcAft>
                        <a:buNone/>
                      </a:pPr>
                      <a:r>
                        <a:rPr lang="en">
                          <a:latin typeface="Open Sans Light"/>
                          <a:ea typeface="Open Sans Light"/>
                          <a:cs typeface="Open Sans Light"/>
                          <a:sym typeface="Open Sans Light"/>
                        </a:rPr>
                        <a:t>Instagram</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dirty="0">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extLst>
                  <a:ext uri="{0D108BD9-81ED-4DB2-BD59-A6C34878D82A}">
                    <a16:rowId xmlns:a16="http://schemas.microsoft.com/office/drawing/2014/main" val="10005"/>
                  </a:ext>
                </a:extLst>
              </a:tr>
              <a:tr h="359175">
                <a:tc>
                  <a:txBody>
                    <a:bodyPr/>
                    <a:lstStyle/>
                    <a:p>
                      <a:pPr marL="0" lvl="0" indent="0" algn="l" rtl="0">
                        <a:spcBef>
                          <a:spcPts val="0"/>
                        </a:spcBef>
                        <a:spcAft>
                          <a:spcPts val="0"/>
                        </a:spcAft>
                        <a:buNone/>
                      </a:pPr>
                      <a:r>
                        <a:rPr lang="en">
                          <a:latin typeface="Open Sans Light"/>
                          <a:ea typeface="Open Sans Light"/>
                          <a:cs typeface="Open Sans Light"/>
                          <a:sym typeface="Open Sans Light"/>
                        </a:rPr>
                        <a:t>Email</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extLst>
                  <a:ext uri="{0D108BD9-81ED-4DB2-BD59-A6C34878D82A}">
                    <a16:rowId xmlns:a16="http://schemas.microsoft.com/office/drawing/2014/main" val="10006"/>
                  </a:ext>
                </a:extLst>
              </a:tr>
              <a:tr h="359175">
                <a:tc>
                  <a:txBody>
                    <a:bodyPr/>
                    <a:lstStyle/>
                    <a:p>
                      <a:pPr marL="0" lvl="0" indent="0" algn="l" rtl="0">
                        <a:spcBef>
                          <a:spcPts val="0"/>
                        </a:spcBef>
                        <a:spcAft>
                          <a:spcPts val="0"/>
                        </a:spcAft>
                        <a:buNone/>
                      </a:pPr>
                      <a:r>
                        <a:rPr lang="en">
                          <a:latin typeface="Open Sans Light"/>
                          <a:ea typeface="Open Sans Light"/>
                          <a:cs typeface="Open Sans Light"/>
                          <a:sym typeface="Open Sans Light"/>
                        </a:rPr>
                        <a:t>Twitter</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extLst>
                  <a:ext uri="{0D108BD9-81ED-4DB2-BD59-A6C34878D82A}">
                    <a16:rowId xmlns:a16="http://schemas.microsoft.com/office/drawing/2014/main" val="10007"/>
                  </a:ext>
                </a:extLst>
              </a:tr>
              <a:tr h="359175">
                <a:tc>
                  <a:txBody>
                    <a:bodyPr/>
                    <a:lstStyle/>
                    <a:p>
                      <a:pPr marL="0" lvl="0" indent="0" algn="l" rtl="0">
                        <a:spcBef>
                          <a:spcPts val="0"/>
                        </a:spcBef>
                        <a:spcAft>
                          <a:spcPts val="0"/>
                        </a:spcAft>
                        <a:buNone/>
                      </a:pPr>
                      <a:r>
                        <a:rPr lang="en">
                          <a:latin typeface="Open Sans Light"/>
                          <a:ea typeface="Open Sans Light"/>
                          <a:cs typeface="Open Sans Light"/>
                          <a:sym typeface="Open Sans Light"/>
                        </a:rPr>
                        <a:t>Blogs</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extLst>
                  <a:ext uri="{0D108BD9-81ED-4DB2-BD59-A6C34878D82A}">
                    <a16:rowId xmlns:a16="http://schemas.microsoft.com/office/drawing/2014/main" val="10008"/>
                  </a:ext>
                </a:extLst>
              </a:tr>
              <a:tr h="359175">
                <a:tc>
                  <a:txBody>
                    <a:bodyPr/>
                    <a:lstStyle/>
                    <a:p>
                      <a:pPr marL="0" lvl="0" indent="0" algn="l" rtl="0">
                        <a:spcBef>
                          <a:spcPts val="0"/>
                        </a:spcBef>
                        <a:spcAft>
                          <a:spcPts val="0"/>
                        </a:spcAft>
                        <a:buNone/>
                      </a:pPr>
                      <a:r>
                        <a:rPr lang="en">
                          <a:latin typeface="Open Sans Light"/>
                          <a:ea typeface="Open Sans Light"/>
                          <a:cs typeface="Open Sans Light"/>
                          <a:sym typeface="Open Sans Light"/>
                        </a:rPr>
                        <a:t>Affiliate</a:t>
                      </a: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tc>
                  <a:txBody>
                    <a:bodyPr/>
                    <a:lstStyle/>
                    <a:p>
                      <a:pPr marL="0" lvl="0" indent="0" algn="l" rtl="0">
                        <a:spcBef>
                          <a:spcPts val="0"/>
                        </a:spcBef>
                        <a:spcAft>
                          <a:spcPts val="0"/>
                        </a:spcAft>
                        <a:buNone/>
                      </a:pPr>
                      <a:endParaRPr dirty="0">
                        <a:latin typeface="Open Sans Light"/>
                        <a:ea typeface="Open Sans Light"/>
                        <a:cs typeface="Open Sans Light"/>
                        <a:sym typeface="Open Sans Light"/>
                      </a:endParaRPr>
                    </a:p>
                  </a:txBody>
                  <a:tcPr marL="91425" marR="91425" marT="91425" marB="91425">
                    <a:lnL w="9525" cap="flat" cmpd="sng">
                      <a:solidFill>
                        <a:srgbClr val="525C65"/>
                      </a:solidFill>
                      <a:prstDash val="solid"/>
                      <a:round/>
                      <a:headEnd type="none" w="sm" len="sm"/>
                      <a:tailEnd type="none" w="sm" len="sm"/>
                    </a:lnL>
                    <a:lnR w="9525" cap="flat" cmpd="sng">
                      <a:solidFill>
                        <a:srgbClr val="525C65"/>
                      </a:solidFill>
                      <a:prstDash val="solid"/>
                      <a:round/>
                      <a:headEnd type="none" w="sm" len="sm"/>
                      <a:tailEnd type="none" w="sm" len="sm"/>
                    </a:lnR>
                    <a:lnT w="9525" cap="flat" cmpd="sng">
                      <a:solidFill>
                        <a:srgbClr val="525C65"/>
                      </a:solidFill>
                      <a:prstDash val="solid"/>
                      <a:round/>
                      <a:headEnd type="none" w="sm" len="sm"/>
                      <a:tailEnd type="none" w="sm" len="sm"/>
                    </a:lnT>
                    <a:lnB w="9525" cap="flat" cmpd="sng">
                      <a:solidFill>
                        <a:srgbClr val="525C65"/>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
        <p:nvSpPr>
          <p:cNvPr id="83" name="Google Shape;83;p19"/>
          <p:cNvSpPr txBox="1"/>
          <p:nvPr/>
        </p:nvSpPr>
        <p:spPr>
          <a:xfrm rot="-5400000">
            <a:off x="-703875" y="2245800"/>
            <a:ext cx="2955000" cy="65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latin typeface="Roboto Thin"/>
                <a:ea typeface="Roboto Thin"/>
                <a:cs typeface="Roboto Thin"/>
                <a:sym typeface="Roboto Thin"/>
              </a:rPr>
              <a:t>Channels</a:t>
            </a:r>
            <a:r>
              <a:rPr lang="en" sz="3000">
                <a:latin typeface="Open Sans Light"/>
                <a:ea typeface="Open Sans Light"/>
                <a:cs typeface="Open Sans Light"/>
                <a:sym typeface="Open Sans Light"/>
              </a:rPr>
              <a:t> </a:t>
            </a:r>
            <a:endParaRPr sz="3000">
              <a:latin typeface="Open Sans Light"/>
              <a:ea typeface="Open Sans Light"/>
              <a:cs typeface="Open Sans Light"/>
              <a:sym typeface="Open Sans Light"/>
            </a:endParaRPr>
          </a:p>
        </p:txBody>
      </p:sp>
      <p:sp>
        <p:nvSpPr>
          <p:cNvPr id="84" name="Google Shape;84;p19"/>
          <p:cNvSpPr txBox="1"/>
          <p:nvPr/>
        </p:nvSpPr>
        <p:spPr>
          <a:xfrm>
            <a:off x="1732000" y="66175"/>
            <a:ext cx="5679900" cy="53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latin typeface="Roboto Thin"/>
                <a:ea typeface="Roboto Thin"/>
                <a:cs typeface="Roboto Thin"/>
                <a:sym typeface="Roboto Thin"/>
              </a:rPr>
              <a:t>Purchase Process</a:t>
            </a:r>
            <a:endParaRPr sz="3000">
              <a:latin typeface="Roboto Thin"/>
              <a:ea typeface="Roboto Thin"/>
              <a:cs typeface="Roboto Thin"/>
              <a:sym typeface="Roboto Thin"/>
            </a:endParaRPr>
          </a:p>
        </p:txBody>
      </p:sp>
      <p:sp>
        <p:nvSpPr>
          <p:cNvPr id="85" name="Google Shape;85;p19"/>
          <p:cNvSpPr/>
          <p:nvPr/>
        </p:nvSpPr>
        <p:spPr>
          <a:xfrm>
            <a:off x="3353900" y="838475"/>
            <a:ext cx="180000" cy="120000"/>
          </a:xfrm>
          <a:prstGeom prst="rightArrow">
            <a:avLst>
              <a:gd name="adj1" fmla="val 50000"/>
              <a:gd name="adj2" fmla="val 50000"/>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86" name="Google Shape;86;p19"/>
          <p:cNvSpPr/>
          <p:nvPr/>
        </p:nvSpPr>
        <p:spPr>
          <a:xfrm>
            <a:off x="4482000" y="838475"/>
            <a:ext cx="180000" cy="120000"/>
          </a:xfrm>
          <a:prstGeom prst="rightArrow">
            <a:avLst>
              <a:gd name="adj1" fmla="val 50000"/>
              <a:gd name="adj2" fmla="val 50000"/>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87" name="Google Shape;87;p19"/>
          <p:cNvSpPr/>
          <p:nvPr/>
        </p:nvSpPr>
        <p:spPr>
          <a:xfrm>
            <a:off x="5610088" y="838475"/>
            <a:ext cx="180000" cy="120000"/>
          </a:xfrm>
          <a:prstGeom prst="rightArrow">
            <a:avLst>
              <a:gd name="adj1" fmla="val 50000"/>
              <a:gd name="adj2" fmla="val 50000"/>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88" name="Google Shape;88;p19"/>
          <p:cNvSpPr/>
          <p:nvPr/>
        </p:nvSpPr>
        <p:spPr>
          <a:xfrm>
            <a:off x="6738200" y="838475"/>
            <a:ext cx="180000" cy="120000"/>
          </a:xfrm>
          <a:prstGeom prst="rightArrow">
            <a:avLst>
              <a:gd name="adj1" fmla="val 50000"/>
              <a:gd name="adj2" fmla="val 50000"/>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sp>
        <p:nvSpPr>
          <p:cNvPr id="2" name="Rectangle 1">
            <a:extLst>
              <a:ext uri="{FF2B5EF4-FFF2-40B4-BE49-F238E27FC236}">
                <a16:creationId xmlns:a16="http://schemas.microsoft.com/office/drawing/2014/main" id="{608A3FC9-9F74-416B-AE99-AB564EB7D4F1}"/>
              </a:ext>
            </a:extLst>
          </p:cNvPr>
          <p:cNvSpPr/>
          <p:nvPr/>
        </p:nvSpPr>
        <p:spPr>
          <a:xfrm>
            <a:off x="4831775" y="1548226"/>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E970238-F513-4711-89F6-4B1CF7EDCCE5}"/>
              </a:ext>
            </a:extLst>
          </p:cNvPr>
          <p:cNvSpPr/>
          <p:nvPr/>
        </p:nvSpPr>
        <p:spPr>
          <a:xfrm>
            <a:off x="2547666" y="2344230"/>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9B57E759-C4B3-49C1-94BC-3971888C6D06}"/>
              </a:ext>
            </a:extLst>
          </p:cNvPr>
          <p:cNvSpPr/>
          <p:nvPr/>
        </p:nvSpPr>
        <p:spPr>
          <a:xfrm>
            <a:off x="2547666" y="2738537"/>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9193107B-F993-4CB4-87C4-EB5E79EFA00D}"/>
              </a:ext>
            </a:extLst>
          </p:cNvPr>
          <p:cNvSpPr/>
          <p:nvPr/>
        </p:nvSpPr>
        <p:spPr>
          <a:xfrm>
            <a:off x="3676811" y="1538074"/>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48C8B34-9B43-4952-838F-572836D4C712}"/>
              </a:ext>
            </a:extLst>
          </p:cNvPr>
          <p:cNvSpPr/>
          <p:nvPr/>
        </p:nvSpPr>
        <p:spPr>
          <a:xfrm>
            <a:off x="5980692" y="1548226"/>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8985CA-B06B-4CAC-BE51-361F5CC98C83}"/>
              </a:ext>
            </a:extLst>
          </p:cNvPr>
          <p:cNvSpPr/>
          <p:nvPr/>
        </p:nvSpPr>
        <p:spPr>
          <a:xfrm>
            <a:off x="3676811" y="1129269"/>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D656AB1-D079-4B29-8A81-FC95B54F8C78}"/>
              </a:ext>
            </a:extLst>
          </p:cNvPr>
          <p:cNvSpPr/>
          <p:nvPr/>
        </p:nvSpPr>
        <p:spPr>
          <a:xfrm>
            <a:off x="7141703" y="2321714"/>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E359F4-C79D-457C-A73A-4064225E86BD}"/>
              </a:ext>
            </a:extLst>
          </p:cNvPr>
          <p:cNvSpPr/>
          <p:nvPr/>
        </p:nvSpPr>
        <p:spPr>
          <a:xfrm>
            <a:off x="7141703" y="2738536"/>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4D4AB4E-DADF-4681-94B7-4FAF5EC95623}"/>
              </a:ext>
            </a:extLst>
          </p:cNvPr>
          <p:cNvSpPr/>
          <p:nvPr/>
        </p:nvSpPr>
        <p:spPr>
          <a:xfrm>
            <a:off x="7141703" y="3559445"/>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2D86AA3-39DC-4176-AE65-A828C8BF008F}"/>
              </a:ext>
            </a:extLst>
          </p:cNvPr>
          <p:cNvSpPr/>
          <p:nvPr/>
        </p:nvSpPr>
        <p:spPr>
          <a:xfrm>
            <a:off x="7141703" y="3917502"/>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8601D45-649C-44F4-9D9D-424B819389D4}"/>
              </a:ext>
            </a:extLst>
          </p:cNvPr>
          <p:cNvSpPr/>
          <p:nvPr/>
        </p:nvSpPr>
        <p:spPr>
          <a:xfrm>
            <a:off x="2547666" y="1961366"/>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7567A6F-329E-4570-8061-DC8DA9340D7F}"/>
              </a:ext>
            </a:extLst>
          </p:cNvPr>
          <p:cNvSpPr/>
          <p:nvPr/>
        </p:nvSpPr>
        <p:spPr>
          <a:xfrm>
            <a:off x="2547666" y="3132844"/>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A361153-BE07-4EF3-AD43-04D84634CD55}"/>
              </a:ext>
            </a:extLst>
          </p:cNvPr>
          <p:cNvSpPr/>
          <p:nvPr/>
        </p:nvSpPr>
        <p:spPr>
          <a:xfrm>
            <a:off x="2547666" y="3523894"/>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45FD1CD-8C5B-4529-98F0-E94912948107}"/>
              </a:ext>
            </a:extLst>
          </p:cNvPr>
          <p:cNvSpPr/>
          <p:nvPr/>
        </p:nvSpPr>
        <p:spPr>
          <a:xfrm>
            <a:off x="2547666" y="3917502"/>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43076290-B65C-4685-BE1A-BFB265F8980C}"/>
              </a:ext>
            </a:extLst>
          </p:cNvPr>
          <p:cNvCxnSpPr>
            <a:stCxn id="25" idx="3"/>
            <a:endCxn id="6" idx="1"/>
          </p:cNvCxnSpPr>
          <p:nvPr/>
        </p:nvCxnSpPr>
        <p:spPr>
          <a:xfrm flipV="1">
            <a:off x="3178048" y="1669822"/>
            <a:ext cx="498763" cy="23794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0EAEA77D-D763-4842-B8EA-6BBB6C4EAC6A}"/>
              </a:ext>
            </a:extLst>
          </p:cNvPr>
          <p:cNvCxnSpPr>
            <a:stCxn id="23" idx="3"/>
            <a:endCxn id="6" idx="1"/>
          </p:cNvCxnSpPr>
          <p:nvPr/>
        </p:nvCxnSpPr>
        <p:spPr>
          <a:xfrm flipV="1">
            <a:off x="3178048" y="1669822"/>
            <a:ext cx="498763" cy="19858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512136F-9835-40E0-A61F-7E56649B18D5}"/>
              </a:ext>
            </a:extLst>
          </p:cNvPr>
          <p:cNvCxnSpPr>
            <a:stCxn id="21" idx="3"/>
            <a:endCxn id="6" idx="1"/>
          </p:cNvCxnSpPr>
          <p:nvPr/>
        </p:nvCxnSpPr>
        <p:spPr>
          <a:xfrm flipV="1">
            <a:off x="3178048" y="1669822"/>
            <a:ext cx="498763" cy="15947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C80D273D-7E45-4F39-A38F-C5B3140A983D}"/>
              </a:ext>
            </a:extLst>
          </p:cNvPr>
          <p:cNvCxnSpPr>
            <a:stCxn id="5" idx="3"/>
            <a:endCxn id="6" idx="1"/>
          </p:cNvCxnSpPr>
          <p:nvPr/>
        </p:nvCxnSpPr>
        <p:spPr>
          <a:xfrm flipV="1">
            <a:off x="3178048" y="1669822"/>
            <a:ext cx="498763" cy="12004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A1BF3FDF-A340-4C2B-9CC6-195CACFBEBC4}"/>
              </a:ext>
            </a:extLst>
          </p:cNvPr>
          <p:cNvCxnSpPr>
            <a:stCxn id="4" idx="3"/>
            <a:endCxn id="6" idx="1"/>
          </p:cNvCxnSpPr>
          <p:nvPr/>
        </p:nvCxnSpPr>
        <p:spPr>
          <a:xfrm flipV="1">
            <a:off x="3178048" y="1669822"/>
            <a:ext cx="498763" cy="806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813E0C9E-05DF-46A9-B91A-CE21B88E9547}"/>
              </a:ext>
            </a:extLst>
          </p:cNvPr>
          <p:cNvCxnSpPr>
            <a:stCxn id="19" idx="3"/>
            <a:endCxn id="6" idx="1"/>
          </p:cNvCxnSpPr>
          <p:nvPr/>
        </p:nvCxnSpPr>
        <p:spPr>
          <a:xfrm flipV="1">
            <a:off x="3178048" y="1669822"/>
            <a:ext cx="498763" cy="423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F3AF9FC0-8741-4BF9-9B3E-570673010237}"/>
              </a:ext>
            </a:extLst>
          </p:cNvPr>
          <p:cNvSpPr/>
          <p:nvPr/>
        </p:nvSpPr>
        <p:spPr>
          <a:xfrm>
            <a:off x="2547666" y="1141087"/>
            <a:ext cx="630382" cy="26349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a:extLst>
              <a:ext uri="{FF2B5EF4-FFF2-40B4-BE49-F238E27FC236}">
                <a16:creationId xmlns:a16="http://schemas.microsoft.com/office/drawing/2014/main" id="{6CFA6660-56AD-42A8-817B-F65D7CDC9F61}"/>
              </a:ext>
            </a:extLst>
          </p:cNvPr>
          <p:cNvCxnSpPr>
            <a:stCxn id="46" idx="3"/>
            <a:endCxn id="9" idx="1"/>
          </p:cNvCxnSpPr>
          <p:nvPr/>
        </p:nvCxnSpPr>
        <p:spPr>
          <a:xfrm flipV="1">
            <a:off x="3178048" y="1261017"/>
            <a:ext cx="498763" cy="11818"/>
          </a:xfrm>
          <a:prstGeom prst="straightConnector1">
            <a:avLst/>
          </a:prstGeom>
          <a:ln>
            <a:solidFill>
              <a:schemeClr val="accent2">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C938FAD0-16AB-462F-8061-3B55F7ABC8BC}"/>
              </a:ext>
            </a:extLst>
          </p:cNvPr>
          <p:cNvCxnSpPr>
            <a:stCxn id="46" idx="3"/>
            <a:endCxn id="6" idx="1"/>
          </p:cNvCxnSpPr>
          <p:nvPr/>
        </p:nvCxnSpPr>
        <p:spPr>
          <a:xfrm>
            <a:off x="3178048" y="1272835"/>
            <a:ext cx="498763" cy="396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25A75B3-625B-47DF-B426-6949AA450E5B}"/>
              </a:ext>
            </a:extLst>
          </p:cNvPr>
          <p:cNvCxnSpPr>
            <a:stCxn id="9" idx="3"/>
          </p:cNvCxnSpPr>
          <p:nvPr/>
        </p:nvCxnSpPr>
        <p:spPr>
          <a:xfrm>
            <a:off x="4307193" y="1261017"/>
            <a:ext cx="524582" cy="398718"/>
          </a:xfrm>
          <a:prstGeom prst="straightConnector1">
            <a:avLst/>
          </a:prstGeom>
          <a:ln>
            <a:solidFill>
              <a:schemeClr val="accent2">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2246A48-A3D6-44A6-8037-4D0E1F1C8432}"/>
              </a:ext>
            </a:extLst>
          </p:cNvPr>
          <p:cNvCxnSpPr>
            <a:stCxn id="6" idx="3"/>
            <a:endCxn id="2" idx="1"/>
          </p:cNvCxnSpPr>
          <p:nvPr/>
        </p:nvCxnSpPr>
        <p:spPr>
          <a:xfrm>
            <a:off x="4307193" y="1669822"/>
            <a:ext cx="524582" cy="101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1CA5E3C1-D3C9-423C-867A-AE182B15D628}"/>
              </a:ext>
            </a:extLst>
          </p:cNvPr>
          <p:cNvCxnSpPr>
            <a:stCxn id="2" idx="3"/>
            <a:endCxn id="7" idx="1"/>
          </p:cNvCxnSpPr>
          <p:nvPr/>
        </p:nvCxnSpPr>
        <p:spPr>
          <a:xfrm>
            <a:off x="5462157" y="1679974"/>
            <a:ext cx="5185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19995598-EEA8-42B3-8304-8418171FDA2F}"/>
              </a:ext>
            </a:extLst>
          </p:cNvPr>
          <p:cNvCxnSpPr>
            <a:stCxn id="7" idx="3"/>
            <a:endCxn id="11" idx="1"/>
          </p:cNvCxnSpPr>
          <p:nvPr/>
        </p:nvCxnSpPr>
        <p:spPr>
          <a:xfrm>
            <a:off x="6611074" y="1679974"/>
            <a:ext cx="530629" cy="7734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DD6B6403-445F-4135-A1D7-29C07195E632}"/>
              </a:ext>
            </a:extLst>
          </p:cNvPr>
          <p:cNvCxnSpPr>
            <a:stCxn id="7" idx="3"/>
            <a:endCxn id="13" idx="1"/>
          </p:cNvCxnSpPr>
          <p:nvPr/>
        </p:nvCxnSpPr>
        <p:spPr>
          <a:xfrm>
            <a:off x="6611074" y="1679974"/>
            <a:ext cx="530629" cy="11903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D52B1C6D-61A0-4BC6-84EE-616D2406A4CF}"/>
              </a:ext>
            </a:extLst>
          </p:cNvPr>
          <p:cNvCxnSpPr>
            <a:stCxn id="7" idx="3"/>
            <a:endCxn id="15" idx="1"/>
          </p:cNvCxnSpPr>
          <p:nvPr/>
        </p:nvCxnSpPr>
        <p:spPr>
          <a:xfrm>
            <a:off x="6611074" y="1679974"/>
            <a:ext cx="530629" cy="20112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CD92C57-8500-4FB0-A15C-133686969A0D}"/>
              </a:ext>
            </a:extLst>
          </p:cNvPr>
          <p:cNvCxnSpPr>
            <a:stCxn id="7" idx="3"/>
            <a:endCxn id="17" idx="1"/>
          </p:cNvCxnSpPr>
          <p:nvPr/>
        </p:nvCxnSpPr>
        <p:spPr>
          <a:xfrm>
            <a:off x="6611074" y="1679974"/>
            <a:ext cx="530629" cy="23692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0"/>
          <p:cNvSpPr txBox="1">
            <a:spLocks noGrp="1"/>
          </p:cNvSpPr>
          <p:nvPr>
            <p:ph type="title"/>
          </p:nvPr>
        </p:nvSpPr>
        <p:spPr>
          <a:xfrm>
            <a:off x="311700" y="445025"/>
            <a:ext cx="8520600" cy="572700"/>
          </a:xfrm>
          <a:prstGeom prst="rect">
            <a:avLst/>
          </a:prstGeom>
          <a:ln w="9525" cap="flat" cmpd="sng">
            <a:solidFill>
              <a:srgbClr val="02CCBA"/>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Testing and Learning Plan</a:t>
            </a:r>
            <a:endParaRPr/>
          </a:p>
        </p:txBody>
      </p:sp>
      <p:sp>
        <p:nvSpPr>
          <p:cNvPr id="94" name="Google Shape;94;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What analysis and data do we need?</a:t>
            </a:r>
          </a:p>
          <a:p>
            <a:pPr marL="0" lvl="0" indent="0" algn="l" rtl="0">
              <a:spcBef>
                <a:spcPts val="0"/>
              </a:spcBef>
              <a:spcAft>
                <a:spcPts val="0"/>
              </a:spcAft>
              <a:buNone/>
            </a:pPr>
            <a:endParaRPr lang="en" dirty="0"/>
          </a:p>
          <a:p>
            <a:pPr marL="285750" indent="-285750"/>
            <a:r>
              <a:rPr lang="en" dirty="0"/>
              <a:t>Make </a:t>
            </a:r>
            <a:r>
              <a:rPr lang="en-US" dirty="0"/>
              <a:t>sure that customer feedback is continually monitored and used to improve customer experience.</a:t>
            </a:r>
          </a:p>
          <a:p>
            <a:pPr marL="285750" indent="-285750"/>
            <a:r>
              <a:rPr lang="en-US" dirty="0"/>
              <a:t>Interest metrics: CTR, average time on site, bounce rate.</a:t>
            </a:r>
          </a:p>
          <a:p>
            <a:pPr marL="285750" indent="-285750"/>
            <a:r>
              <a:rPr lang="en-US" dirty="0"/>
              <a:t>Desire metrics: sessions, new and returning users, avg session duration, bounces, goal completions (such as syllabus reads or introduction video watches).</a:t>
            </a:r>
          </a:p>
          <a:p>
            <a:pPr marL="285750" indent="-285750"/>
            <a:r>
              <a:rPr lang="en-US" dirty="0"/>
              <a:t>Action metrics: sessions with check out, sessions with purchase, funnel abandonment rate, average price and quantity.</a:t>
            </a:r>
          </a:p>
          <a:p>
            <a:pPr marL="285750" indent="-285750"/>
            <a:r>
              <a:rPr lang="en-US" dirty="0"/>
              <a:t>Post Action metrics: Course ratings, likes and comments.</a:t>
            </a:r>
            <a:endParaRPr dirty="0"/>
          </a:p>
          <a:p>
            <a:pPr marL="0" lvl="0" indent="0" algn="l" rtl="0">
              <a:spcBef>
                <a:spcPts val="1600"/>
              </a:spcBef>
              <a:spcAft>
                <a:spcPts val="1600"/>
              </a:spcAft>
              <a:buNone/>
            </a:pP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593</Words>
  <Application>Microsoft Office PowerPoint</Application>
  <PresentationFormat>On-screen Show (16:9)</PresentationFormat>
  <Paragraphs>65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Roboto Thin</vt:lpstr>
      <vt:lpstr>Open Sans Light</vt:lpstr>
      <vt:lpstr>Simple Light</vt:lpstr>
      <vt:lpstr>Udacity  Marketing Analytics</vt:lpstr>
      <vt:lpstr>Business Story: Udacity School of Business</vt:lpstr>
      <vt:lpstr>Customer Story</vt:lpstr>
      <vt:lpstr>Testing and Learning Plan</vt:lpstr>
      <vt:lpstr>PowerPoint Presentation</vt:lpstr>
      <vt:lpstr>Testing and Learning Plan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Udacity  Marketing Analytics</dc:title>
  <dc:creator>Gustavo Pacheco</dc:creator>
  <cp:lastModifiedBy>Gustavo Pacheco</cp:lastModifiedBy>
  <cp:revision>12</cp:revision>
  <dcterms:modified xsi:type="dcterms:W3CDTF">2020-04-29T01:40:55Z</dcterms:modified>
</cp:coreProperties>
</file>