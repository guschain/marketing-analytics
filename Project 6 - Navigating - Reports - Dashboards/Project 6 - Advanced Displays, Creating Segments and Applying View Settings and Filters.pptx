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 id="2147483685" r:id="rId2"/>
    <p:sldMasterId id="2147483686" r:id="rId3"/>
  </p:sldMasterIdLst>
  <p:notesMasterIdLst>
    <p:notesMasterId r:id="rId34"/>
  </p:notesMasterIdLst>
  <p:sldIdLst>
    <p:sldId id="256"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7" r:id="rId19"/>
    <p:sldId id="274" r:id="rId20"/>
    <p:sldId id="278" r:id="rId21"/>
    <p:sldId id="279" r:id="rId22"/>
    <p:sldId id="280" r:id="rId23"/>
    <p:sldId id="283" r:id="rId24"/>
    <p:sldId id="284" r:id="rId25"/>
    <p:sldId id="286" r:id="rId26"/>
    <p:sldId id="285" r:id="rId27"/>
    <p:sldId id="287" r:id="rId28"/>
    <p:sldId id="288" r:id="rId29"/>
    <p:sldId id="289" r:id="rId30"/>
    <p:sldId id="290" r:id="rId31"/>
    <p:sldId id="291" r:id="rId32"/>
    <p:sldId id="292" r:id="rId33"/>
  </p:sldIdLst>
  <p:sldSz cx="7772400" cy="10058400"/>
  <p:notesSz cx="6858000" cy="9144000"/>
  <p:embeddedFontLst>
    <p:embeddedFont>
      <p:font typeface="Helvetica Neue" panose="020B0604020202020204" charset="0"/>
      <p:regular r:id="rId35"/>
      <p:bold r:id="rId36"/>
      <p:italic r:id="rId37"/>
      <p:boldItalic r:id="rId38"/>
    </p:embeddedFont>
    <p:embeddedFont>
      <p:font typeface="Open Sans" panose="020B0606030504020204" pitchFamily="34" charset="0"/>
      <p:regular r:id="rId39"/>
      <p:bold r:id="rId40"/>
      <p:italic r:id="rId41"/>
      <p:boldItalic r:id="rId42"/>
    </p:embeddedFont>
    <p:embeddedFont>
      <p:font typeface="Open Sans Light" panose="020B0306030504020204" pitchFamily="34" charset="0"/>
      <p:regular r:id="rId43"/>
      <p:bold r:id="rId44"/>
      <p:italic r:id="rId45"/>
      <p:boldItalic r:id="rId46"/>
    </p:embeddedFont>
    <p:embeddedFont>
      <p:font typeface="Open Sans SemiBold" panose="020B0706030804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298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5.fntdata"/><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7.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9f40c9c8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9f40c9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96ff8925_0_1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96ff892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96ff8925_0_2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a96ff892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4020f252f2_0_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4020f252f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96ff8925_0_23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96ff8925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42bf448a5f_0_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42bf448a5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42c26f7259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42c26f72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42bf448a5f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42bf448a5f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42bf448a5f_0_97: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42bf448a5f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42bf448a5f_0_14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42bf448a5f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42bf448a5f_0_147: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42bf448a5f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42bf448a5f_0_15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42bf448a5f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9f40c9c8_0_8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a9f40c9c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4020f252f2_0_3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4020f252f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4020f252f2_0_4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4020f252f2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4020f252f2_0_4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4020f252f2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0562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4020f252f2_0_5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4020f252f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4020f252f2_0_5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4020f252f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9319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74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4096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9f40c9c8_0_8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a9f40c9c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2123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1311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65945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6739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50188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4293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8407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143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20f252f2_0_5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20f252f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033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9f40c9c8_0_8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a9f40c9c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048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36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pic>
        <p:nvPicPr>
          <p:cNvPr id="17" name="Google Shape;17;p4"/>
          <p:cNvPicPr preferRelativeResize="0"/>
          <p:nvPr/>
        </p:nvPicPr>
        <p:blipFill>
          <a:blip r:embed="rId2">
            <a:alphaModFix/>
          </a:blip>
          <a:stretch>
            <a:fillRect/>
          </a:stretch>
        </p:blipFill>
        <p:spPr>
          <a:xfrm>
            <a:off x="338800" y="251396"/>
            <a:ext cx="1250250" cy="618875"/>
          </a:xfrm>
          <a:prstGeom prst="rect">
            <a:avLst/>
          </a:prstGeom>
          <a:noFill/>
          <a:ln>
            <a:noFill/>
          </a:ln>
        </p:spPr>
      </p:pic>
      <p:pic>
        <p:nvPicPr>
          <p:cNvPr id="18" name="Google Shape;18;p4"/>
          <p:cNvPicPr preferRelativeResize="0"/>
          <p:nvPr/>
        </p:nvPicPr>
        <p:blipFill>
          <a:blip r:embed="rId3">
            <a:alphaModFix/>
          </a:blip>
          <a:stretch>
            <a:fillRect/>
          </a:stretch>
        </p:blipFill>
        <p:spPr>
          <a:xfrm>
            <a:off x="6636150" y="125138"/>
            <a:ext cx="871400" cy="871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5" name="Google Shape;25;p6"/>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8" name="Google Shape;28;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4" name="Google Shape;34;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5" name="Google Shape;35;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
        <p:cNvGrpSpPr/>
        <p:nvPr/>
      </p:nvGrpSpPr>
      <p:grpSpPr>
        <a:xfrm>
          <a:off x="0" y="0"/>
          <a:ext cx="0" cy="0"/>
          <a:chOff x="0" y="0"/>
          <a:chExt cx="0" cy="0"/>
        </a:xfrm>
      </p:grpSpPr>
      <p:sp>
        <p:nvSpPr>
          <p:cNvPr id="37" name="Google Shape;37;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0" name="Google Shape;40;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8"/>
        <p:cNvGrpSpPr/>
        <p:nvPr/>
      </p:nvGrpSpPr>
      <p:grpSpPr>
        <a:xfrm>
          <a:off x="0" y="0"/>
          <a:ext cx="0" cy="0"/>
          <a:chOff x="0" y="0"/>
          <a:chExt cx="0" cy="0"/>
        </a:xfrm>
      </p:grpSpPr>
      <p:sp>
        <p:nvSpPr>
          <p:cNvPr id="49" name="Google Shape;49;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Open Sans"/>
              <a:buNone/>
              <a:defRPr sz="5200">
                <a:latin typeface="Open Sans"/>
                <a:ea typeface="Open Sans"/>
                <a:cs typeface="Open Sans"/>
                <a:sym typeface="Open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0" name="Google Shape;50;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1" name="Google Shape;51;p1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NND" type="tx">
  <p:cSld name="TITLE_AND_BODY">
    <p:spTree>
      <p:nvGrpSpPr>
        <p:cNvPr id="1" name="Shape 55"/>
        <p:cNvGrpSpPr/>
        <p:nvPr/>
      </p:nvGrpSpPr>
      <p:grpSpPr>
        <a:xfrm>
          <a:off x="0" y="0"/>
          <a:ext cx="0" cy="0"/>
          <a:chOff x="0" y="0"/>
          <a:chExt cx="0" cy="0"/>
        </a:xfrm>
      </p:grpSpPr>
      <p:sp>
        <p:nvSpPr>
          <p:cNvPr id="56" name="Google Shape;56;p1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7" name="Google Shape;57;p16"/>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a:buChar char="●"/>
              <a:defRPr>
                <a:latin typeface="Open Sans"/>
                <a:ea typeface="Open Sans"/>
                <a:cs typeface="Open Sans"/>
                <a:sym typeface="Open Sans"/>
              </a:defRPr>
            </a:lvl1pPr>
            <a:lvl2pPr marL="914400" lvl="1" indent="-317500" rtl="0">
              <a:spcBef>
                <a:spcPts val="1600"/>
              </a:spcBef>
              <a:spcAft>
                <a:spcPts val="0"/>
              </a:spcAft>
              <a:buSzPts val="1400"/>
              <a:buFont typeface="Open Sans"/>
              <a:buChar char="○"/>
              <a:defRPr>
                <a:latin typeface="Open Sans"/>
                <a:ea typeface="Open Sans"/>
                <a:cs typeface="Open Sans"/>
                <a:sym typeface="Open Sans"/>
              </a:defRPr>
            </a:lvl2pPr>
            <a:lvl3pPr marL="1371600" lvl="2" indent="-317500" rtl="0">
              <a:spcBef>
                <a:spcPts val="1600"/>
              </a:spcBef>
              <a:spcAft>
                <a:spcPts val="0"/>
              </a:spcAft>
              <a:buSzPts val="1400"/>
              <a:buFont typeface="Open Sans"/>
              <a:buChar char="■"/>
              <a:defRPr>
                <a:latin typeface="Open Sans"/>
                <a:ea typeface="Open Sans"/>
                <a:cs typeface="Open Sans"/>
                <a:sym typeface="Open Sans"/>
              </a:defRPr>
            </a:lvl3pPr>
            <a:lvl4pPr marL="1828800" lvl="3" indent="-317500" rtl="0">
              <a:spcBef>
                <a:spcPts val="1600"/>
              </a:spcBef>
              <a:spcAft>
                <a:spcPts val="0"/>
              </a:spcAft>
              <a:buSzPts val="1400"/>
              <a:buFont typeface="Open Sans"/>
              <a:buChar char="●"/>
              <a:defRPr>
                <a:latin typeface="Open Sans"/>
                <a:ea typeface="Open Sans"/>
                <a:cs typeface="Open Sans"/>
                <a:sym typeface="Open Sans"/>
              </a:defRPr>
            </a:lvl4pPr>
            <a:lvl5pPr marL="2286000" lvl="4" indent="-317500" rtl="0">
              <a:spcBef>
                <a:spcPts val="1600"/>
              </a:spcBef>
              <a:spcAft>
                <a:spcPts val="0"/>
              </a:spcAft>
              <a:buSzPts val="1400"/>
              <a:buFont typeface="Open Sans"/>
              <a:buChar char="○"/>
              <a:defRPr>
                <a:latin typeface="Open Sans"/>
                <a:ea typeface="Open Sans"/>
                <a:cs typeface="Open Sans"/>
                <a:sym typeface="Open Sans"/>
              </a:defRPr>
            </a:lvl5pPr>
            <a:lvl6pPr marL="2743200" lvl="5" indent="-317500" rtl="0">
              <a:spcBef>
                <a:spcPts val="1600"/>
              </a:spcBef>
              <a:spcAft>
                <a:spcPts val="0"/>
              </a:spcAft>
              <a:buSzPts val="1400"/>
              <a:buFont typeface="Open Sans"/>
              <a:buChar char="■"/>
              <a:defRPr>
                <a:latin typeface="Open Sans"/>
                <a:ea typeface="Open Sans"/>
                <a:cs typeface="Open Sans"/>
                <a:sym typeface="Open Sans"/>
              </a:defRPr>
            </a:lvl6pPr>
            <a:lvl7pPr marL="3200400" lvl="6" indent="-317500" rtl="0">
              <a:spcBef>
                <a:spcPts val="1600"/>
              </a:spcBef>
              <a:spcAft>
                <a:spcPts val="0"/>
              </a:spcAft>
              <a:buSzPts val="1400"/>
              <a:buFont typeface="Open Sans"/>
              <a:buChar char="●"/>
              <a:defRPr>
                <a:latin typeface="Open Sans"/>
                <a:ea typeface="Open Sans"/>
                <a:cs typeface="Open Sans"/>
                <a:sym typeface="Open Sans"/>
              </a:defRPr>
            </a:lvl7pPr>
            <a:lvl8pPr marL="3657600" lvl="7" indent="-317500" rtl="0">
              <a:spcBef>
                <a:spcPts val="1600"/>
              </a:spcBef>
              <a:spcAft>
                <a:spcPts val="0"/>
              </a:spcAft>
              <a:buSzPts val="1400"/>
              <a:buFont typeface="Open Sans"/>
              <a:buChar char="○"/>
              <a:defRPr>
                <a:latin typeface="Open Sans"/>
                <a:ea typeface="Open Sans"/>
                <a:cs typeface="Open Sans"/>
                <a:sym typeface="Open Sans"/>
              </a:defRPr>
            </a:lvl8pPr>
            <a:lvl9pPr marL="4114800" lvl="8" indent="-317500" rtl="0">
              <a:spcBef>
                <a:spcPts val="1600"/>
              </a:spcBef>
              <a:spcAft>
                <a:spcPts val="1600"/>
              </a:spcAft>
              <a:buSzPts val="1400"/>
              <a:buFont typeface="Open Sans"/>
              <a:buChar char="■"/>
              <a:defRPr>
                <a:latin typeface="Open Sans"/>
                <a:ea typeface="Open Sans"/>
                <a:cs typeface="Open Sans"/>
                <a:sym typeface="Open Sans"/>
              </a:defRPr>
            </a:lvl9pPr>
          </a:lstStyle>
          <a:p>
            <a:endParaRPr/>
          </a:p>
        </p:txBody>
      </p:sp>
      <p:sp>
        <p:nvSpPr>
          <p:cNvPr id="58" name="Google Shape;58;p1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16"/>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i="1">
                <a:solidFill>
                  <a:srgbClr val="15C26B"/>
                </a:solidFill>
                <a:latin typeface="Open Sans"/>
                <a:ea typeface="Open Sans"/>
                <a:cs typeface="Open Sans"/>
                <a:sym typeface="Open Sans"/>
              </a:rPr>
              <a:t>Remove this slide </a:t>
            </a:r>
            <a:endParaRPr sz="3600" i="1">
              <a:solidFill>
                <a:srgbClr val="15C26B"/>
              </a:solidFill>
              <a:latin typeface="Open Sans"/>
              <a:ea typeface="Open Sans"/>
              <a:cs typeface="Open Sans"/>
              <a:sym typeface="Open Sans"/>
            </a:endParaRPr>
          </a:p>
        </p:txBody>
      </p:sp>
      <p:pic>
        <p:nvPicPr>
          <p:cNvPr id="60" name="Google Shape;60;p16"/>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7"/>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a:buChar char="●"/>
              <a:defRPr>
                <a:latin typeface="Open Sans"/>
                <a:ea typeface="Open Sans"/>
                <a:cs typeface="Open Sans"/>
                <a:sym typeface="Open Sans"/>
              </a:defRPr>
            </a:lvl1pPr>
            <a:lvl2pPr marL="914400" lvl="1" indent="-317500" rtl="0">
              <a:spcBef>
                <a:spcPts val="1600"/>
              </a:spcBef>
              <a:spcAft>
                <a:spcPts val="0"/>
              </a:spcAft>
              <a:buSzPts val="1400"/>
              <a:buFont typeface="Open Sans"/>
              <a:buChar char="○"/>
              <a:defRPr>
                <a:latin typeface="Open Sans"/>
                <a:ea typeface="Open Sans"/>
                <a:cs typeface="Open Sans"/>
                <a:sym typeface="Open Sans"/>
              </a:defRPr>
            </a:lvl2pPr>
            <a:lvl3pPr marL="1371600" lvl="2" indent="-317500" rtl="0">
              <a:spcBef>
                <a:spcPts val="1600"/>
              </a:spcBef>
              <a:spcAft>
                <a:spcPts val="0"/>
              </a:spcAft>
              <a:buSzPts val="1400"/>
              <a:buFont typeface="Open Sans"/>
              <a:buChar char="■"/>
              <a:defRPr>
                <a:latin typeface="Open Sans"/>
                <a:ea typeface="Open Sans"/>
                <a:cs typeface="Open Sans"/>
                <a:sym typeface="Open Sans"/>
              </a:defRPr>
            </a:lvl3pPr>
            <a:lvl4pPr marL="1828800" lvl="3" indent="-317500" rtl="0">
              <a:spcBef>
                <a:spcPts val="1600"/>
              </a:spcBef>
              <a:spcAft>
                <a:spcPts val="0"/>
              </a:spcAft>
              <a:buSzPts val="1400"/>
              <a:buFont typeface="Open Sans"/>
              <a:buChar char="●"/>
              <a:defRPr>
                <a:latin typeface="Open Sans"/>
                <a:ea typeface="Open Sans"/>
                <a:cs typeface="Open Sans"/>
                <a:sym typeface="Open Sans"/>
              </a:defRPr>
            </a:lvl4pPr>
            <a:lvl5pPr marL="2286000" lvl="4" indent="-317500" rtl="0">
              <a:spcBef>
                <a:spcPts val="1600"/>
              </a:spcBef>
              <a:spcAft>
                <a:spcPts val="0"/>
              </a:spcAft>
              <a:buSzPts val="1400"/>
              <a:buFont typeface="Open Sans"/>
              <a:buChar char="○"/>
              <a:defRPr>
                <a:latin typeface="Open Sans"/>
                <a:ea typeface="Open Sans"/>
                <a:cs typeface="Open Sans"/>
                <a:sym typeface="Open Sans"/>
              </a:defRPr>
            </a:lvl5pPr>
            <a:lvl6pPr marL="2743200" lvl="5" indent="-317500" rtl="0">
              <a:spcBef>
                <a:spcPts val="1600"/>
              </a:spcBef>
              <a:spcAft>
                <a:spcPts val="0"/>
              </a:spcAft>
              <a:buSzPts val="1400"/>
              <a:buFont typeface="Open Sans"/>
              <a:buChar char="■"/>
              <a:defRPr>
                <a:latin typeface="Open Sans"/>
                <a:ea typeface="Open Sans"/>
                <a:cs typeface="Open Sans"/>
                <a:sym typeface="Open Sans"/>
              </a:defRPr>
            </a:lvl6pPr>
            <a:lvl7pPr marL="3200400" lvl="6" indent="-317500" rtl="0">
              <a:spcBef>
                <a:spcPts val="1600"/>
              </a:spcBef>
              <a:spcAft>
                <a:spcPts val="0"/>
              </a:spcAft>
              <a:buSzPts val="1400"/>
              <a:buFont typeface="Open Sans"/>
              <a:buChar char="●"/>
              <a:defRPr>
                <a:latin typeface="Open Sans"/>
                <a:ea typeface="Open Sans"/>
                <a:cs typeface="Open Sans"/>
                <a:sym typeface="Open Sans"/>
              </a:defRPr>
            </a:lvl7pPr>
            <a:lvl8pPr marL="3657600" lvl="7" indent="-317500" rtl="0">
              <a:spcBef>
                <a:spcPts val="1600"/>
              </a:spcBef>
              <a:spcAft>
                <a:spcPts val="0"/>
              </a:spcAft>
              <a:buSzPts val="1400"/>
              <a:buFont typeface="Open Sans"/>
              <a:buChar char="○"/>
              <a:defRPr>
                <a:latin typeface="Open Sans"/>
                <a:ea typeface="Open Sans"/>
                <a:cs typeface="Open Sans"/>
                <a:sym typeface="Open Sans"/>
              </a:defRPr>
            </a:lvl8pPr>
            <a:lvl9pPr marL="4114800" lvl="8" indent="-317500" rtl="0">
              <a:spcBef>
                <a:spcPts val="1600"/>
              </a:spcBef>
              <a:spcAft>
                <a:spcPts val="1600"/>
              </a:spcAft>
              <a:buSzPts val="1400"/>
              <a:buFont typeface="Open Sans"/>
              <a:buChar char="■"/>
              <a:defRPr>
                <a:latin typeface="Open Sans"/>
                <a:ea typeface="Open Sans"/>
                <a:cs typeface="Open Sans"/>
                <a:sym typeface="Open Sans"/>
              </a:defRPr>
            </a:lvl9pPr>
          </a:lstStyle>
          <a:p>
            <a:endParaRPr/>
          </a:p>
        </p:txBody>
      </p:sp>
      <p:sp>
        <p:nvSpPr>
          <p:cNvPr id="64" name="Google Shape;64;p1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5" name="Google Shape;65;p17"/>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NND_Template" type="twoColTx">
  <p:cSld name="TITLE_AND_TWO_COLUMNS">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8"/>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9" name="Google Shape;69;p18"/>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0" name="Google Shape;70;p1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71" name="Google Shape;71;p18"/>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Font typeface="Open Sans"/>
              <a:buNone/>
              <a:defRPr>
                <a:latin typeface="Open Sans"/>
                <a:ea typeface="Open Sans"/>
                <a:cs typeface="Open Sans"/>
                <a:sym typeface="Ope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4" name="Google Shape;74;p19"/>
          <p:cNvSpPr txBox="1">
            <a:spLocks noGrp="1"/>
          </p:cNvSpPr>
          <p:nvPr>
            <p:ph type="sldNum" idx="12"/>
          </p:nvPr>
        </p:nvSpPr>
        <p:spPr>
          <a:xfrm>
            <a:off x="7231389" y="9288605"/>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75" name="Google Shape;75;p19"/>
          <p:cNvPicPr preferRelativeResize="0"/>
          <p:nvPr/>
        </p:nvPicPr>
        <p:blipFill>
          <a:blip r:embed="rId2">
            <a:alphaModFix/>
          </a:blip>
          <a:stretch>
            <a:fillRect/>
          </a:stretch>
        </p:blipFill>
        <p:spPr>
          <a:xfrm>
            <a:off x="338800" y="251396"/>
            <a:ext cx="1250250" cy="6188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 name="Google Shape;78;p2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2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82" name="Google Shape;82;p2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2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2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2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0" name="Google Shape;90;p2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1" name="Google Shape;91;p2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2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94" name="Google Shape;94;p2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2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7" name="Google Shape;97;p2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8" name="Google Shape;98;p2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6"/>
        <p:cNvGrpSpPr/>
        <p:nvPr/>
      </p:nvGrpSpPr>
      <p:grpSpPr>
        <a:xfrm>
          <a:off x="0" y="0"/>
          <a:ext cx="0" cy="0"/>
          <a:chOff x="0" y="0"/>
          <a:chExt cx="0" cy="0"/>
        </a:xfrm>
      </p:grpSpPr>
      <p:sp>
        <p:nvSpPr>
          <p:cNvPr id="107" name="Google Shape;107;p28"/>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Open Sans"/>
              <a:buNone/>
              <a:defRPr sz="5200">
                <a:latin typeface="Open Sans"/>
                <a:ea typeface="Open Sans"/>
                <a:cs typeface="Open Sans"/>
                <a:sym typeface="Open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8" name="Google Shape;108;p28"/>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9" name="Google Shape;109;p2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2E3D49"/>
        </a:solidFill>
        <a:effectLst/>
      </p:bgPr>
    </p:bg>
    <p:spTree>
      <p:nvGrpSpPr>
        <p:cNvPr id="1" name="Shape 110"/>
        <p:cNvGrpSpPr/>
        <p:nvPr/>
      </p:nvGrpSpPr>
      <p:grpSpPr>
        <a:xfrm>
          <a:off x="0" y="0"/>
          <a:ext cx="0" cy="0"/>
          <a:chOff x="0" y="0"/>
          <a:chExt cx="0" cy="0"/>
        </a:xfrm>
      </p:grpSpPr>
      <p:sp>
        <p:nvSpPr>
          <p:cNvPr id="111" name="Google Shape;111;p29"/>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a:buNone/>
              <a:defRPr sz="3600">
                <a:solidFill>
                  <a:schemeClr val="lt1"/>
                </a:solidFill>
                <a:latin typeface="Open Sans"/>
                <a:ea typeface="Open Sans"/>
                <a:cs typeface="Open Sans"/>
                <a:sym typeface="Ope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2" name="Google Shape;112;p2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5" name="Google Shape;115;p30"/>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2E3D49"/>
              </a:buClr>
              <a:buSzPts val="1800"/>
              <a:buFont typeface="Open Sans"/>
              <a:buChar char="●"/>
              <a:defRPr>
                <a:solidFill>
                  <a:srgbClr val="2E3D49"/>
                </a:solidFill>
                <a:latin typeface="Open Sans"/>
                <a:ea typeface="Open Sans"/>
                <a:cs typeface="Open Sans"/>
                <a:sym typeface="Open Sans"/>
              </a:defRPr>
            </a:lvl1pPr>
            <a:lvl2pPr marL="914400" lvl="1"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2pPr>
            <a:lvl3pPr marL="1371600" lvl="2"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3pPr>
            <a:lvl4pPr marL="1828800" lvl="3"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4pPr>
            <a:lvl5pPr marL="2286000" lvl="4"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5pPr>
            <a:lvl6pPr marL="2743200" lvl="5"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6pPr>
            <a:lvl7pPr marL="3200400" lvl="6"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7pPr>
            <a:lvl8pPr marL="3657600" lvl="7"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8pPr>
            <a:lvl9pPr marL="4114800" lvl="8" indent="-317500" rtl="0">
              <a:spcBef>
                <a:spcPts val="1600"/>
              </a:spcBef>
              <a:spcAft>
                <a:spcPts val="1600"/>
              </a:spcAft>
              <a:buClr>
                <a:srgbClr val="2E3D49"/>
              </a:buClr>
              <a:buSzPts val="1400"/>
              <a:buFont typeface="Open Sans"/>
              <a:buChar char="■"/>
              <a:defRPr>
                <a:solidFill>
                  <a:srgbClr val="2E3D49"/>
                </a:solidFill>
                <a:latin typeface="Open Sans"/>
                <a:ea typeface="Open Sans"/>
                <a:cs typeface="Open Sans"/>
                <a:sym typeface="Open Sans"/>
              </a:defRPr>
            </a:lvl9pPr>
          </a:lstStyle>
          <a:p>
            <a:endParaRPr/>
          </a:p>
        </p:txBody>
      </p:sp>
      <p:sp>
        <p:nvSpPr>
          <p:cNvPr id="116" name="Google Shape;116;p3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30"/>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i="1">
                <a:solidFill>
                  <a:srgbClr val="15C26B"/>
                </a:solidFill>
                <a:latin typeface="Open Sans"/>
                <a:ea typeface="Open Sans"/>
                <a:cs typeface="Open Sans"/>
                <a:sym typeface="Open Sans"/>
              </a:rPr>
              <a:t>Remove this slide </a:t>
            </a:r>
            <a:endParaRPr sz="3600" i="1">
              <a:solidFill>
                <a:srgbClr val="15C26B"/>
              </a:solidFill>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18"/>
        <p:cNvGrpSpPr/>
        <p:nvPr/>
      </p:nvGrpSpPr>
      <p:grpSpPr>
        <a:xfrm>
          <a:off x="0" y="0"/>
          <a:ext cx="0" cy="0"/>
          <a:chOff x="0" y="0"/>
          <a:chExt cx="0" cy="0"/>
        </a:xfrm>
      </p:grpSpPr>
      <p:sp>
        <p:nvSpPr>
          <p:cNvPr id="119" name="Google Shape;119;p3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0" name="Google Shape;120;p31"/>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2E3D49"/>
              </a:buClr>
              <a:buSzPts val="1800"/>
              <a:buFont typeface="Open Sans"/>
              <a:buChar char="●"/>
              <a:defRPr>
                <a:solidFill>
                  <a:srgbClr val="2E3D49"/>
                </a:solidFill>
                <a:latin typeface="Open Sans"/>
                <a:ea typeface="Open Sans"/>
                <a:cs typeface="Open Sans"/>
                <a:sym typeface="Open Sans"/>
              </a:defRPr>
            </a:lvl1pPr>
            <a:lvl2pPr marL="914400" lvl="1"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2pPr>
            <a:lvl3pPr marL="1371600" lvl="2"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3pPr>
            <a:lvl4pPr marL="1828800" lvl="3"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4pPr>
            <a:lvl5pPr marL="2286000" lvl="4"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5pPr>
            <a:lvl6pPr marL="2743200" lvl="5"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6pPr>
            <a:lvl7pPr marL="3200400" lvl="6"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7pPr>
            <a:lvl8pPr marL="3657600" lvl="7" indent="-317500" rtl="0">
              <a:spcBef>
                <a:spcPts val="1600"/>
              </a:spcBef>
              <a:spcAft>
                <a:spcPts val="0"/>
              </a:spcAft>
              <a:buClr>
                <a:srgbClr val="2E3D49"/>
              </a:buClr>
              <a:buSzPts val="1400"/>
              <a:buFont typeface="Open Sans"/>
              <a:buChar char="○"/>
              <a:defRPr>
                <a:solidFill>
                  <a:srgbClr val="2E3D49"/>
                </a:solidFill>
                <a:latin typeface="Open Sans"/>
                <a:ea typeface="Open Sans"/>
                <a:cs typeface="Open Sans"/>
                <a:sym typeface="Open Sans"/>
              </a:defRPr>
            </a:lvl8pPr>
            <a:lvl9pPr marL="4114800" lvl="8" indent="-317500" rtl="0">
              <a:spcBef>
                <a:spcPts val="1600"/>
              </a:spcBef>
              <a:spcAft>
                <a:spcPts val="1600"/>
              </a:spcAft>
              <a:buClr>
                <a:srgbClr val="2E3D49"/>
              </a:buClr>
              <a:buSzPts val="1400"/>
              <a:buFont typeface="Open Sans"/>
              <a:buChar char="■"/>
              <a:defRPr>
                <a:solidFill>
                  <a:srgbClr val="2E3D49"/>
                </a:solidFill>
                <a:latin typeface="Open Sans"/>
                <a:ea typeface="Open Sans"/>
                <a:cs typeface="Open Sans"/>
                <a:sym typeface="Open Sans"/>
              </a:defRPr>
            </a:lvl9pPr>
          </a:lstStyle>
          <a:p>
            <a:endParaRPr/>
          </a:p>
        </p:txBody>
      </p:sp>
      <p:sp>
        <p:nvSpPr>
          <p:cNvPr id="121" name="Google Shape;121;p3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NND_Template" type="twoColTx">
  <p:cSld name="TITLE_AND_TWO_COLUMNS">
    <p:spTree>
      <p:nvGrpSpPr>
        <p:cNvPr id="1" name="Shape 122"/>
        <p:cNvGrpSpPr/>
        <p:nvPr/>
      </p:nvGrpSpPr>
      <p:grpSpPr>
        <a:xfrm>
          <a:off x="0" y="0"/>
          <a:ext cx="0" cy="0"/>
          <a:chOff x="0" y="0"/>
          <a:chExt cx="0" cy="0"/>
        </a:xfrm>
      </p:grpSpPr>
      <p:sp>
        <p:nvSpPr>
          <p:cNvPr id="123" name="Google Shape;123;p3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4" name="Google Shape;124;p32"/>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25" name="Google Shape;125;p32"/>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26" name="Google Shape;126;p3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7"/>
        <p:cNvGrpSpPr/>
        <p:nvPr/>
      </p:nvGrpSpPr>
      <p:grpSpPr>
        <a:xfrm>
          <a:off x="0" y="0"/>
          <a:ext cx="0" cy="0"/>
          <a:chOff x="0" y="0"/>
          <a:chExt cx="0" cy="0"/>
        </a:xfrm>
      </p:grpSpPr>
      <p:sp>
        <p:nvSpPr>
          <p:cNvPr id="128" name="Google Shape;128;p3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 name="Google Shape;129;p3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0"/>
        <p:cNvGrpSpPr/>
        <p:nvPr/>
      </p:nvGrpSpPr>
      <p:grpSpPr>
        <a:xfrm>
          <a:off x="0" y="0"/>
          <a:ext cx="0" cy="0"/>
          <a:chOff x="0" y="0"/>
          <a:chExt cx="0" cy="0"/>
        </a:xfrm>
      </p:grpSpPr>
      <p:sp>
        <p:nvSpPr>
          <p:cNvPr id="131" name="Google Shape;131;p34"/>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2" name="Google Shape;132;p34"/>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33" name="Google Shape;133;p3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4"/>
        <p:cNvGrpSpPr/>
        <p:nvPr/>
      </p:nvGrpSpPr>
      <p:grpSpPr>
        <a:xfrm>
          <a:off x="0" y="0"/>
          <a:ext cx="0" cy="0"/>
          <a:chOff x="0" y="0"/>
          <a:chExt cx="0" cy="0"/>
        </a:xfrm>
      </p:grpSpPr>
      <p:sp>
        <p:nvSpPr>
          <p:cNvPr id="135" name="Google Shape;135;p35"/>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36" name="Google Shape;136;p3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7"/>
        <p:cNvGrpSpPr/>
        <p:nvPr/>
      </p:nvGrpSpPr>
      <p:grpSpPr>
        <a:xfrm>
          <a:off x="0" y="0"/>
          <a:ext cx="0" cy="0"/>
          <a:chOff x="0" y="0"/>
          <a:chExt cx="0" cy="0"/>
        </a:xfrm>
      </p:grpSpPr>
      <p:sp>
        <p:nvSpPr>
          <p:cNvPr id="138" name="Google Shape;138;p36"/>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6"/>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40" name="Google Shape;140;p36"/>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41" name="Google Shape;141;p36"/>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42" name="Google Shape;142;p3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sp>
        <p:nvSpPr>
          <p:cNvPr id="144" name="Google Shape;144;p37"/>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145" name="Google Shape;145;p3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6"/>
        <p:cNvGrpSpPr/>
        <p:nvPr/>
      </p:nvGrpSpPr>
      <p:grpSpPr>
        <a:xfrm>
          <a:off x="0" y="0"/>
          <a:ext cx="0" cy="0"/>
          <a:chOff x="0" y="0"/>
          <a:chExt cx="0" cy="0"/>
        </a:xfrm>
      </p:grpSpPr>
      <p:sp>
        <p:nvSpPr>
          <p:cNvPr id="147" name="Google Shape;147;p38"/>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8" name="Google Shape;148;p38"/>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49" name="Google Shape;149;p3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0"/>
        <p:cNvGrpSpPr/>
        <p:nvPr/>
      </p:nvGrpSpPr>
      <p:grpSpPr>
        <a:xfrm>
          <a:off x="0" y="0"/>
          <a:ext cx="0" cy="0"/>
          <a:chOff x="0" y="0"/>
          <a:chExt cx="0" cy="0"/>
        </a:xfrm>
      </p:grpSpPr>
      <p:sp>
        <p:nvSpPr>
          <p:cNvPr id="151" name="Google Shape;151;p3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4" name="Google Shape;44;p1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45" name="Google Shape;45;p1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46" name="Google Shape;46;p13"/>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47" name="Google Shape;47;p13"/>
          <p:cNvSpPr txBox="1"/>
          <p:nvPr/>
        </p:nvSpPr>
        <p:spPr>
          <a:xfrm>
            <a:off x="885000" y="9512818"/>
            <a:ext cx="6002400" cy="31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2E3D49"/>
                </a:solidFill>
                <a:latin typeface="Open Sans SemiBold"/>
                <a:ea typeface="Open Sans SemiBold"/>
                <a:cs typeface="Open Sans SemiBold"/>
                <a:sym typeface="Open Sans SemiBold"/>
              </a:rPr>
              <a:t>LEARN MORE </a:t>
            </a:r>
            <a:r>
              <a:rPr lang="en" sz="1500">
                <a:solidFill>
                  <a:srgbClr val="2E3D49"/>
                </a:solidFill>
                <a:latin typeface="Open Sans Light"/>
                <a:ea typeface="Open Sans Light"/>
                <a:cs typeface="Open Sans Light"/>
                <a:sym typeface="Open Sans Light"/>
              </a:rPr>
              <a:t>udacity.com/google-analytics</a:t>
            </a:r>
            <a:endParaRPr sz="1500">
              <a:solidFill>
                <a:srgbClr val="2E3D49"/>
              </a:solidFill>
              <a:latin typeface="Open Sans Light"/>
              <a:ea typeface="Open Sans Light"/>
              <a:cs typeface="Open Sans Light"/>
              <a:sym typeface="Open Sans Light"/>
            </a:endParaRPr>
          </a:p>
        </p:txBody>
      </p: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1"/>
        <p:cNvGrpSpPr/>
        <p:nvPr/>
      </p:nvGrpSpPr>
      <p:grpSpPr>
        <a:xfrm>
          <a:off x="0" y="0"/>
          <a:ext cx="0" cy="0"/>
          <a:chOff x="0" y="0"/>
          <a:chExt cx="0" cy="0"/>
        </a:xfrm>
      </p:grpSpPr>
      <p:sp>
        <p:nvSpPr>
          <p:cNvPr id="102" name="Google Shape;102;p27"/>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03" name="Google Shape;103;p27"/>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104" name="Google Shape;104;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7"/>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40"/>
          <p:cNvPicPr preferRelativeResize="0"/>
          <p:nvPr/>
        </p:nvPicPr>
        <p:blipFill>
          <a:blip r:embed="rId3">
            <a:alphaModFix/>
          </a:blip>
          <a:stretch>
            <a:fillRect/>
          </a:stretch>
        </p:blipFill>
        <p:spPr>
          <a:xfrm>
            <a:off x="14" y="0"/>
            <a:ext cx="7772403" cy="10050571"/>
          </a:xfrm>
          <a:prstGeom prst="rect">
            <a:avLst/>
          </a:prstGeom>
          <a:noFill/>
          <a:ln>
            <a:noFill/>
          </a:ln>
        </p:spPr>
      </p:pic>
      <p:sp>
        <p:nvSpPr>
          <p:cNvPr id="157" name="Google Shape;157;p40"/>
          <p:cNvSpPr/>
          <p:nvPr/>
        </p:nvSpPr>
        <p:spPr>
          <a:xfrm>
            <a:off x="3348690" y="5076712"/>
            <a:ext cx="764100" cy="744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158" name="Google Shape;158;p40"/>
          <p:cNvSpPr/>
          <p:nvPr/>
        </p:nvSpPr>
        <p:spPr>
          <a:xfrm>
            <a:off x="1047451" y="8542652"/>
            <a:ext cx="5677500" cy="1371600"/>
          </a:xfrm>
          <a:prstGeom prst="rect">
            <a:avLst/>
          </a:prstGeom>
          <a:noFill/>
          <a:ln>
            <a:noFill/>
          </a:ln>
        </p:spPr>
        <p:txBody>
          <a:bodyPr spcFirstLastPara="1" wrap="square" lIns="26775" tIns="26775" rIns="26775" bIns="26775" anchor="t" anchorCtr="0">
            <a:noAutofit/>
          </a:bodyPr>
          <a:lstStyle/>
          <a:p>
            <a:pPr marL="0" lvl="0" indent="0" algn="ctr" rtl="0">
              <a:spcBef>
                <a:spcPts val="0"/>
              </a:spcBef>
              <a:spcAft>
                <a:spcPts val="0"/>
              </a:spcAft>
              <a:buClr>
                <a:srgbClr val="BECBD6"/>
              </a:buClr>
              <a:buFont typeface="Open Sans"/>
              <a:buNone/>
            </a:pPr>
            <a:r>
              <a:rPr lang="pt-PT" sz="3600" dirty="0">
                <a:solidFill>
                  <a:srgbClr val="FFFFFF"/>
                </a:solidFill>
                <a:latin typeface="Open Sans Light"/>
                <a:ea typeface="Open Sans Light"/>
                <a:cs typeface="Open Sans Light"/>
                <a:sym typeface="Open Sans Light"/>
              </a:rPr>
              <a:t>Project 6: </a:t>
            </a:r>
            <a:r>
              <a:rPr lang="pt-PT" sz="3600" dirty="0" err="1">
                <a:solidFill>
                  <a:srgbClr val="FFFFFF"/>
                </a:solidFill>
                <a:latin typeface="Open Sans Light"/>
                <a:ea typeface="Open Sans Light"/>
                <a:cs typeface="Open Sans Light"/>
                <a:sym typeface="Open Sans Light"/>
              </a:rPr>
              <a:t>Navigating</a:t>
            </a:r>
            <a:r>
              <a:rPr lang="pt-PT" sz="3600" dirty="0">
                <a:solidFill>
                  <a:srgbClr val="FFFFFF"/>
                </a:solidFill>
                <a:latin typeface="Open Sans Light"/>
                <a:ea typeface="Open Sans Light"/>
                <a:cs typeface="Open Sans Light"/>
                <a:sym typeface="Open Sans Light"/>
              </a:rPr>
              <a:t>, </a:t>
            </a:r>
            <a:r>
              <a:rPr lang="pt-PT" sz="3600" dirty="0" err="1">
                <a:solidFill>
                  <a:srgbClr val="FFFFFF"/>
                </a:solidFill>
                <a:latin typeface="Open Sans Light"/>
                <a:ea typeface="Open Sans Light"/>
                <a:cs typeface="Open Sans Light"/>
                <a:sym typeface="Open Sans Light"/>
              </a:rPr>
              <a:t>Reports</a:t>
            </a:r>
            <a:r>
              <a:rPr lang="pt-PT" sz="3600" dirty="0">
                <a:solidFill>
                  <a:srgbClr val="FFFFFF"/>
                </a:solidFill>
                <a:latin typeface="Open Sans Light"/>
                <a:ea typeface="Open Sans Light"/>
                <a:cs typeface="Open Sans Light"/>
                <a:sym typeface="Open Sans Light"/>
              </a:rPr>
              <a:t>, &amp; </a:t>
            </a:r>
            <a:r>
              <a:rPr lang="pt-PT" sz="3600" dirty="0" err="1">
                <a:solidFill>
                  <a:srgbClr val="FFFFFF"/>
                </a:solidFill>
                <a:latin typeface="Open Sans Light"/>
                <a:ea typeface="Open Sans Light"/>
                <a:cs typeface="Open Sans Light"/>
                <a:sym typeface="Open Sans Light"/>
              </a:rPr>
              <a:t>Dashboards</a:t>
            </a:r>
            <a:endParaRPr sz="2400" dirty="0">
              <a:solidFill>
                <a:srgbClr val="BECBD6"/>
              </a:solidFill>
              <a:latin typeface="Open Sans"/>
              <a:ea typeface="Open Sans"/>
              <a:cs typeface="Open Sans"/>
              <a:sym typeface="Open Sans"/>
            </a:endParaRPr>
          </a:p>
        </p:txBody>
      </p:sp>
      <p:sp>
        <p:nvSpPr>
          <p:cNvPr id="159" name="Google Shape;159;p40"/>
          <p:cNvSpPr/>
          <p:nvPr/>
        </p:nvSpPr>
        <p:spPr>
          <a:xfrm>
            <a:off x="0" y="734900"/>
            <a:ext cx="7772400" cy="1077300"/>
          </a:xfrm>
          <a:prstGeom prst="rect">
            <a:avLst/>
          </a:prstGeom>
          <a:noFill/>
          <a:ln>
            <a:noFill/>
          </a:ln>
        </p:spPr>
        <p:txBody>
          <a:bodyPr spcFirstLastPara="1" wrap="square" lIns="26775" tIns="26775" rIns="26775" bIns="26775" anchor="ctr" anchorCtr="0">
            <a:noAutofit/>
          </a:bodyPr>
          <a:lstStyle/>
          <a:p>
            <a:pPr marL="0" lvl="0" indent="0" algn="ctr" rtl="0">
              <a:spcBef>
                <a:spcPts val="0"/>
              </a:spcBef>
              <a:spcAft>
                <a:spcPts val="0"/>
              </a:spcAft>
              <a:buClr>
                <a:srgbClr val="FFFFFF"/>
              </a:buClr>
              <a:buFont typeface="Open Sans"/>
              <a:buNone/>
            </a:pPr>
            <a:r>
              <a:rPr lang="en" sz="3600">
                <a:solidFill>
                  <a:srgbClr val="FFFFFF"/>
                </a:solidFill>
                <a:latin typeface="Open Sans Light"/>
                <a:ea typeface="Open Sans Light"/>
                <a:cs typeface="Open Sans Light"/>
                <a:sym typeface="Open Sans Light"/>
              </a:rPr>
              <a:t>Google Analytics</a:t>
            </a:r>
            <a:endParaRPr sz="3600">
              <a:solidFill>
                <a:srgbClr val="FFFFFF"/>
              </a:solidFill>
              <a:latin typeface="Open Sans Light"/>
              <a:ea typeface="Open Sans Light"/>
              <a:cs typeface="Open Sans Light"/>
              <a:sym typeface="Open Sans Light"/>
            </a:endParaRPr>
          </a:p>
        </p:txBody>
      </p:sp>
      <p:pic>
        <p:nvPicPr>
          <p:cNvPr id="160" name="Google Shape;160;p40"/>
          <p:cNvPicPr preferRelativeResize="0"/>
          <p:nvPr/>
        </p:nvPicPr>
        <p:blipFill>
          <a:blip r:embed="rId4">
            <a:alphaModFix/>
          </a:blip>
          <a:stretch>
            <a:fillRect/>
          </a:stretch>
        </p:blipFill>
        <p:spPr>
          <a:xfrm>
            <a:off x="2903648" y="2940150"/>
            <a:ext cx="1654200" cy="818850"/>
          </a:xfrm>
          <a:prstGeom prst="rect">
            <a:avLst/>
          </a:prstGeom>
          <a:noFill/>
          <a:ln>
            <a:noFill/>
          </a:ln>
        </p:spPr>
      </p:pic>
      <p:sp>
        <p:nvSpPr>
          <p:cNvPr id="2" name="TextBox 1">
            <a:extLst>
              <a:ext uri="{FF2B5EF4-FFF2-40B4-BE49-F238E27FC236}">
                <a16:creationId xmlns:a16="http://schemas.microsoft.com/office/drawing/2014/main" id="{26364CEB-7B33-4124-9016-3E44B409A426}"/>
              </a:ext>
            </a:extLst>
          </p:cNvPr>
          <p:cNvSpPr txBox="1"/>
          <p:nvPr/>
        </p:nvSpPr>
        <p:spPr>
          <a:xfrm>
            <a:off x="6542468" y="9400774"/>
            <a:ext cx="1229932" cy="369332"/>
          </a:xfrm>
          <a:prstGeom prst="rect">
            <a:avLst/>
          </a:prstGeom>
          <a:noFill/>
        </p:spPr>
        <p:txBody>
          <a:bodyPr wrap="square" rtlCol="0">
            <a:spAutoFit/>
          </a:bodyPr>
          <a:lstStyle/>
          <a:p>
            <a:r>
              <a:rPr lang="pt-PT" sz="900" dirty="0" err="1">
                <a:solidFill>
                  <a:schemeClr val="tx1"/>
                </a:solidFill>
              </a:rPr>
              <a:t>By</a:t>
            </a:r>
            <a:r>
              <a:rPr lang="pt-PT" sz="900" dirty="0">
                <a:solidFill>
                  <a:schemeClr val="tx1"/>
                </a:solidFill>
              </a:rPr>
              <a:t> Gustavo Pacheco 4/28/2020</a:t>
            </a:r>
            <a:endParaRPr lang="en-US" sz="9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p43"/>
          <p:cNvSpPr txBox="1">
            <a:spLocks noGrp="1"/>
          </p:cNvSpPr>
          <p:nvPr>
            <p:ph type="ctrTitle"/>
          </p:nvPr>
        </p:nvSpPr>
        <p:spPr>
          <a:xfrm>
            <a:off x="347400" y="1947675"/>
            <a:ext cx="7077600" cy="291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One:</a:t>
            </a:r>
            <a:r>
              <a:rPr lang="en" sz="4800" b="1">
                <a:solidFill>
                  <a:srgbClr val="FAFBFC"/>
                </a:solidFill>
              </a:rPr>
              <a:t> </a:t>
            </a:r>
            <a:endParaRPr sz="4800" b="1">
              <a:solidFill>
                <a:srgbClr val="FAFBFC"/>
              </a:solidFill>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Primary Views &amp; Filters</a:t>
            </a:r>
            <a:br>
              <a:rPr lang="en" sz="3600">
                <a:solidFill>
                  <a:srgbClr val="FAFBFC"/>
                </a:solidFill>
              </a:rPr>
            </a:br>
            <a:endParaRPr sz="3600">
              <a:solidFill>
                <a:srgbClr val="FAFBFC"/>
              </a:solidFill>
              <a:latin typeface="Open Sans"/>
              <a:ea typeface="Open Sans"/>
              <a:cs typeface="Open Sans"/>
              <a:sym typeface="Open Sans"/>
            </a:endParaRPr>
          </a:p>
        </p:txBody>
      </p:sp>
      <p:sp>
        <p:nvSpPr>
          <p:cNvPr id="180" name="Google Shape;180;p43"/>
          <p:cNvSpPr txBox="1"/>
          <p:nvPr/>
        </p:nvSpPr>
        <p:spPr>
          <a:xfrm>
            <a:off x="-226600" y="5226950"/>
            <a:ext cx="4925100" cy="127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lt1"/>
              </a:solidFill>
              <a:latin typeface="Open Sans Light"/>
              <a:ea typeface="Open Sans Light"/>
              <a:cs typeface="Open Sans Light"/>
              <a:sym typeface="Open Sans Light"/>
            </a:endParaRPr>
          </a:p>
        </p:txBody>
      </p:sp>
      <p:sp>
        <p:nvSpPr>
          <p:cNvPr id="181" name="Google Shape;181;p43"/>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2" name="Google Shape;332;p62">
            <a:extLst>
              <a:ext uri="{FF2B5EF4-FFF2-40B4-BE49-F238E27FC236}">
                <a16:creationId xmlns:a16="http://schemas.microsoft.com/office/drawing/2014/main" id="{CBEA1452-EDB1-4326-9A61-FBD9945CA8CE}"/>
              </a:ext>
            </a:extLst>
          </p:cNvPr>
          <p:cNvPicPr preferRelativeResize="0"/>
          <p:nvPr/>
        </p:nvPicPr>
        <p:blipFill>
          <a:blip r:embed="rId4">
            <a:alphaModFix/>
          </a:blip>
          <a:stretch>
            <a:fillRect/>
          </a:stretch>
        </p:blipFill>
        <p:spPr>
          <a:xfrm>
            <a:off x="347400" y="281900"/>
            <a:ext cx="1395250" cy="690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sp>
        <p:nvSpPr>
          <p:cNvPr id="186" name="Google Shape;186;p44"/>
          <p:cNvSpPr txBox="1">
            <a:spLocks noGrp="1"/>
          </p:cNvSpPr>
          <p:nvPr>
            <p:ph type="title"/>
          </p:nvPr>
        </p:nvSpPr>
        <p:spPr>
          <a:xfrm>
            <a:off x="264895" y="959146"/>
            <a:ext cx="7242600" cy="1119900"/>
          </a:xfrm>
          <a:prstGeom prst="rect">
            <a:avLst/>
          </a:prstGeom>
        </p:spPr>
        <p:txBody>
          <a:bodyPr spcFirstLastPara="1" wrap="square" lIns="91425" tIns="91425" rIns="91425" bIns="91425" anchor="ctr" anchorCtr="0">
            <a:noAutofit/>
          </a:bodyPr>
          <a:lstStyle/>
          <a:p>
            <a:pPr marL="457200" lvl="0" indent="-431800" algn="l" rtl="0">
              <a:lnSpc>
                <a:spcPct val="115000"/>
              </a:lnSpc>
              <a:spcBef>
                <a:spcPts val="0"/>
              </a:spcBef>
              <a:spcAft>
                <a:spcPts val="0"/>
              </a:spcAft>
              <a:buClr>
                <a:srgbClr val="02B3E4"/>
              </a:buClr>
              <a:buSzPts val="3200"/>
              <a:buFont typeface="Open Sans"/>
              <a:buAutoNum type="arabicPeriod"/>
            </a:pPr>
            <a:r>
              <a:rPr lang="en" sz="3200">
                <a:solidFill>
                  <a:srgbClr val="02B3E4"/>
                </a:solidFill>
                <a:latin typeface="Open Sans"/>
                <a:ea typeface="Open Sans"/>
                <a:cs typeface="Open Sans"/>
                <a:sym typeface="Open Sans"/>
              </a:rPr>
              <a:t>Best Practice Check: </a:t>
            </a:r>
            <a:endParaRPr sz="3200">
              <a:solidFill>
                <a:srgbClr val="02B3E4"/>
              </a:solidFill>
              <a:latin typeface="Open Sans"/>
              <a:ea typeface="Open Sans"/>
              <a:cs typeface="Open Sans"/>
              <a:sym typeface="Open Sans"/>
            </a:endParaRPr>
          </a:p>
          <a:p>
            <a:pPr marL="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    Three Primary Views</a:t>
            </a:r>
            <a:endParaRPr sz="3200">
              <a:solidFill>
                <a:srgbClr val="02B3E4"/>
              </a:solidFill>
              <a:latin typeface="Open Sans Light"/>
              <a:ea typeface="Open Sans Light"/>
              <a:cs typeface="Open Sans Light"/>
              <a:sym typeface="Open Sans Light"/>
            </a:endParaRPr>
          </a:p>
        </p:txBody>
      </p:sp>
      <p:sp>
        <p:nvSpPr>
          <p:cNvPr id="187" name="Google Shape;187;p44"/>
          <p:cNvSpPr txBox="1"/>
          <p:nvPr/>
        </p:nvSpPr>
        <p:spPr>
          <a:xfrm>
            <a:off x="296450" y="2244600"/>
            <a:ext cx="7211100" cy="705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pt-PT" dirty="0" err="1">
                <a:latin typeface="Open Sans Light"/>
                <a:ea typeface="Open Sans Light"/>
                <a:cs typeface="Open Sans Light"/>
                <a:sym typeface="Open Sans Light"/>
              </a:rPr>
              <a:t>By</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using</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the</a:t>
            </a:r>
            <a:r>
              <a:rPr lang="pt-PT" dirty="0">
                <a:latin typeface="Open Sans Light"/>
                <a:ea typeface="Open Sans Light"/>
                <a:cs typeface="Open Sans Light"/>
                <a:sym typeface="Open Sans Light"/>
              </a:rPr>
              <a:t> </a:t>
            </a:r>
            <a:r>
              <a:rPr lang="pt-PT" b="1" i="1" dirty="0">
                <a:latin typeface="Open Sans Light"/>
                <a:ea typeface="Open Sans Light"/>
                <a:cs typeface="Open Sans Light"/>
                <a:sym typeface="Open Sans Light"/>
              </a:rPr>
              <a:t>Google </a:t>
            </a:r>
            <a:r>
              <a:rPr lang="pt-PT" b="1" i="1" dirty="0" err="1">
                <a:latin typeface="Open Sans Light"/>
                <a:ea typeface="Open Sans Light"/>
                <a:cs typeface="Open Sans Light"/>
                <a:sym typeface="Open Sans Light"/>
              </a:rPr>
              <a:t>Merchandise</a:t>
            </a:r>
            <a:r>
              <a:rPr lang="pt-PT" b="1" i="1" dirty="0">
                <a:latin typeface="Open Sans Light"/>
                <a:ea typeface="Open Sans Light"/>
                <a:cs typeface="Open Sans Light"/>
                <a:sym typeface="Open Sans Light"/>
              </a:rPr>
              <a:t> </a:t>
            </a:r>
            <a:r>
              <a:rPr lang="pt-PT" b="1" i="1" dirty="0" err="1">
                <a:latin typeface="Open Sans Light"/>
                <a:ea typeface="Open Sans Light"/>
                <a:cs typeface="Open Sans Light"/>
                <a:sym typeface="Open Sans Light"/>
              </a:rPr>
              <a:t>Store</a:t>
            </a:r>
            <a:r>
              <a:rPr lang="pt-PT" b="1" i="1" dirty="0">
                <a:latin typeface="Open Sans Light"/>
                <a:ea typeface="Open Sans Light"/>
                <a:cs typeface="Open Sans Light"/>
                <a:sym typeface="Open Sans Light"/>
              </a:rPr>
              <a:t> Demo </a:t>
            </a:r>
            <a:r>
              <a:rPr lang="pt-PT" b="1" i="1" dirty="0" err="1">
                <a:latin typeface="Open Sans Light"/>
                <a:ea typeface="Open Sans Light"/>
                <a:cs typeface="Open Sans Light"/>
                <a:sym typeface="Open Sans Light"/>
              </a:rPr>
              <a:t>Account</a:t>
            </a:r>
            <a:r>
              <a:rPr lang="pt-PT" b="1" i="1"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and</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checking</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the</a:t>
            </a:r>
            <a:r>
              <a:rPr lang="pt-PT" dirty="0">
                <a:latin typeface="Open Sans Light"/>
                <a:ea typeface="Open Sans Light"/>
                <a:cs typeface="Open Sans Light"/>
                <a:sym typeface="Open Sans Light"/>
              </a:rPr>
              <a:t> Top </a:t>
            </a:r>
            <a:r>
              <a:rPr lang="pt-PT" dirty="0" err="1">
                <a:latin typeface="Open Sans Light"/>
                <a:ea typeface="Open Sans Light"/>
                <a:cs typeface="Open Sans Light"/>
                <a:sym typeface="Open Sans Light"/>
              </a:rPr>
              <a:t>level</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aspects</a:t>
            </a:r>
            <a:r>
              <a:rPr lang="pt-PT" dirty="0">
                <a:latin typeface="Open Sans Light"/>
                <a:ea typeface="Open Sans Light"/>
                <a:cs typeface="Open Sans Light"/>
                <a:sym typeface="Open Sans Light"/>
              </a:rPr>
              <a:t>, some </a:t>
            </a:r>
            <a:r>
              <a:rPr lang="pt-PT" dirty="0" err="1">
                <a:latin typeface="Open Sans Light"/>
                <a:ea typeface="Open Sans Light"/>
                <a:cs typeface="Open Sans Light"/>
                <a:sym typeface="Open Sans Light"/>
              </a:rPr>
              <a:t>things</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be</a:t>
            </a:r>
            <a:r>
              <a:rPr lang="pt-PT" dirty="0">
                <a:latin typeface="Open Sans Light"/>
                <a:ea typeface="Open Sans Light"/>
                <a:cs typeface="Open Sans Light"/>
                <a:sym typeface="Open Sans Light"/>
              </a:rPr>
              <a:t> come </a:t>
            </a:r>
            <a:r>
              <a:rPr lang="pt-PT" dirty="0" err="1">
                <a:latin typeface="Open Sans Light"/>
                <a:ea typeface="Open Sans Light"/>
                <a:cs typeface="Open Sans Light"/>
                <a:sym typeface="Open Sans Light"/>
              </a:rPr>
              <a:t>apparent</a:t>
            </a:r>
            <a:r>
              <a:rPr lang="pt-PT" dirty="0">
                <a:latin typeface="Open Sans Light"/>
                <a:ea typeface="Open Sans Light"/>
                <a:cs typeface="Open Sans Light"/>
                <a:sym typeface="Open Sans Light"/>
              </a:rPr>
              <a:t>:</a:t>
            </a:r>
          </a:p>
          <a:p>
            <a:pPr marL="0" lvl="0" indent="0" algn="l" rtl="0">
              <a:lnSpc>
                <a:spcPct val="100000"/>
              </a:lnSpc>
              <a:spcBef>
                <a:spcPts val="0"/>
              </a:spcBef>
              <a:spcAft>
                <a:spcPts val="0"/>
              </a:spcAft>
              <a:buClr>
                <a:schemeClr val="dk1"/>
              </a:buClr>
              <a:buSzPts val="1100"/>
              <a:buFont typeface="Arial"/>
              <a:buNone/>
            </a:pPr>
            <a:endParaRPr lang="pt-PT" dirty="0">
              <a:latin typeface="Open Sans Light"/>
              <a:ea typeface="Open Sans Light"/>
              <a:cs typeface="Open Sans Light"/>
              <a:sym typeface="Open Sans Light"/>
            </a:endParaRPr>
          </a:p>
          <a:p>
            <a:pPr marL="342900" lvl="0" indent="-342900" algn="l" rtl="0">
              <a:lnSpc>
                <a:spcPct val="100000"/>
              </a:lnSpc>
              <a:spcBef>
                <a:spcPts val="0"/>
              </a:spcBef>
              <a:spcAft>
                <a:spcPts val="0"/>
              </a:spcAft>
              <a:buClr>
                <a:schemeClr val="dk1"/>
              </a:buClr>
              <a:buSzPts val="1100"/>
              <a:buFont typeface="Arial"/>
              <a:buAutoNum type="arabicPeriod"/>
            </a:pPr>
            <a:r>
              <a:rPr lang="pt-PT" dirty="0" err="1">
                <a:latin typeface="Open Sans Light"/>
                <a:ea typeface="Open Sans Light"/>
                <a:cs typeface="Open Sans Light"/>
                <a:sym typeface="Open Sans Light"/>
              </a:rPr>
              <a:t>The</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account</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is</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called</a:t>
            </a:r>
            <a:r>
              <a:rPr lang="pt-PT" dirty="0">
                <a:latin typeface="Open Sans Light"/>
                <a:ea typeface="Open Sans Light"/>
                <a:cs typeface="Open Sans Light"/>
                <a:sym typeface="Open Sans Light"/>
              </a:rPr>
              <a:t> “</a:t>
            </a:r>
            <a:r>
              <a:rPr lang="pt-PT" b="1" dirty="0">
                <a:latin typeface="Open Sans Light"/>
                <a:ea typeface="Open Sans Light"/>
                <a:cs typeface="Open Sans Light"/>
                <a:sym typeface="Open Sans Light"/>
              </a:rPr>
              <a:t>Demo </a:t>
            </a:r>
            <a:r>
              <a:rPr lang="pt-PT" b="1" dirty="0" err="1">
                <a:latin typeface="Open Sans Light"/>
                <a:ea typeface="Open Sans Light"/>
                <a:cs typeface="Open Sans Light"/>
                <a:sym typeface="Open Sans Light"/>
              </a:rPr>
              <a:t>Account</a:t>
            </a:r>
            <a:r>
              <a:rPr lang="pt-PT" dirty="0">
                <a:latin typeface="Open Sans Light"/>
                <a:ea typeface="Open Sans Light"/>
                <a:cs typeface="Open Sans Light"/>
                <a:sym typeface="Open Sans Light"/>
              </a:rPr>
              <a:t>”.</a:t>
            </a:r>
          </a:p>
          <a:p>
            <a:pPr marL="342900" lvl="0" indent="-342900" algn="l" rtl="0">
              <a:lnSpc>
                <a:spcPct val="100000"/>
              </a:lnSpc>
              <a:spcBef>
                <a:spcPts val="0"/>
              </a:spcBef>
              <a:spcAft>
                <a:spcPts val="0"/>
              </a:spcAft>
              <a:buClr>
                <a:schemeClr val="dk1"/>
              </a:buClr>
              <a:buSzPts val="1100"/>
              <a:buFont typeface="Arial"/>
              <a:buAutoNum type="arabicPeriod"/>
            </a:pPr>
            <a:r>
              <a:rPr lang="pt-PT" dirty="0">
                <a:latin typeface="Open Sans Light"/>
                <a:ea typeface="Open Sans Light"/>
                <a:cs typeface="Open Sans Light"/>
                <a:sym typeface="Open Sans Light"/>
              </a:rPr>
              <a:t>In </a:t>
            </a:r>
            <a:r>
              <a:rPr lang="pt-PT" dirty="0" err="1">
                <a:latin typeface="Open Sans Light"/>
                <a:ea typeface="Open Sans Light"/>
                <a:cs typeface="Open Sans Light"/>
                <a:sym typeface="Open Sans Light"/>
              </a:rPr>
              <a:t>the</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account</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there</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is</a:t>
            </a:r>
            <a:r>
              <a:rPr lang="pt-PT" dirty="0">
                <a:latin typeface="Open Sans Light"/>
                <a:ea typeface="Open Sans Light"/>
                <a:cs typeface="Open Sans Light"/>
                <a:sym typeface="Open Sans Light"/>
              </a:rPr>
              <a:t> a </a:t>
            </a:r>
            <a:r>
              <a:rPr lang="pt-PT" dirty="0" err="1">
                <a:latin typeface="Open Sans Light"/>
                <a:ea typeface="Open Sans Light"/>
                <a:cs typeface="Open Sans Light"/>
                <a:sym typeface="Open Sans Light"/>
              </a:rPr>
              <a:t>Property</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called</a:t>
            </a:r>
            <a:r>
              <a:rPr lang="pt-PT" dirty="0">
                <a:latin typeface="Open Sans Light"/>
                <a:ea typeface="Open Sans Light"/>
                <a:cs typeface="Open Sans Light"/>
                <a:sym typeface="Open Sans Light"/>
              </a:rPr>
              <a:t> “</a:t>
            </a:r>
            <a:r>
              <a:rPr lang="pt-PT" b="1" i="1" dirty="0">
                <a:latin typeface="Open Sans Light"/>
                <a:ea typeface="Open Sans Light"/>
                <a:cs typeface="Open Sans Light"/>
                <a:sym typeface="Open Sans Light"/>
              </a:rPr>
              <a:t>Google </a:t>
            </a:r>
            <a:r>
              <a:rPr lang="pt-PT" b="1" i="1" dirty="0" err="1">
                <a:latin typeface="Open Sans Light"/>
                <a:ea typeface="Open Sans Light"/>
                <a:cs typeface="Open Sans Light"/>
                <a:sym typeface="Open Sans Light"/>
              </a:rPr>
              <a:t>Merchandise</a:t>
            </a:r>
            <a:r>
              <a:rPr lang="pt-PT" b="1" i="1" dirty="0">
                <a:latin typeface="Open Sans Light"/>
                <a:ea typeface="Open Sans Light"/>
                <a:cs typeface="Open Sans Light"/>
                <a:sym typeface="Open Sans Light"/>
              </a:rPr>
              <a:t> </a:t>
            </a:r>
            <a:r>
              <a:rPr lang="pt-PT" b="1" i="1" dirty="0" err="1">
                <a:latin typeface="Open Sans Light"/>
                <a:ea typeface="Open Sans Light"/>
                <a:cs typeface="Open Sans Light"/>
                <a:sym typeface="Open Sans Light"/>
              </a:rPr>
              <a:t>Store</a:t>
            </a:r>
            <a:r>
              <a:rPr lang="pt-PT" dirty="0">
                <a:latin typeface="Open Sans Light"/>
                <a:ea typeface="Open Sans Light"/>
                <a:cs typeface="Open Sans Light"/>
                <a:sym typeface="Open Sans Light"/>
              </a:rPr>
              <a:t>”.</a:t>
            </a:r>
          </a:p>
          <a:p>
            <a:pPr marL="342900" lvl="0" indent="-342900" algn="l" rtl="0">
              <a:lnSpc>
                <a:spcPct val="100000"/>
              </a:lnSpc>
              <a:spcBef>
                <a:spcPts val="0"/>
              </a:spcBef>
              <a:spcAft>
                <a:spcPts val="0"/>
              </a:spcAft>
              <a:buClr>
                <a:schemeClr val="dk1"/>
              </a:buClr>
              <a:buSzPts val="1100"/>
              <a:buFont typeface="Arial"/>
              <a:buAutoNum type="arabicPeriod"/>
            </a:pPr>
            <a:r>
              <a:rPr lang="pt-PT" dirty="0">
                <a:latin typeface="Open Sans Light"/>
                <a:ea typeface="Open Sans Light"/>
                <a:cs typeface="Open Sans Light"/>
                <a:sym typeface="Open Sans Light"/>
              </a:rPr>
              <a:t>In </a:t>
            </a:r>
            <a:r>
              <a:rPr lang="pt-PT" dirty="0" err="1">
                <a:latin typeface="Open Sans Light"/>
                <a:ea typeface="Open Sans Light"/>
                <a:cs typeface="Open Sans Light"/>
                <a:sym typeface="Open Sans Light"/>
              </a:rPr>
              <a:t>the</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Property</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there</a:t>
            </a:r>
            <a:r>
              <a:rPr lang="pt-PT" dirty="0">
                <a:latin typeface="Open Sans Light"/>
                <a:ea typeface="Open Sans Light"/>
                <a:cs typeface="Open Sans Light"/>
                <a:sym typeface="Open Sans Light"/>
              </a:rPr>
              <a:t> are </a:t>
            </a:r>
            <a:r>
              <a:rPr lang="pt-PT" dirty="0" err="1">
                <a:latin typeface="Open Sans Light"/>
                <a:ea typeface="Open Sans Light"/>
                <a:cs typeface="Open Sans Light"/>
                <a:sym typeface="Open Sans Light"/>
              </a:rPr>
              <a:t>three</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views</a:t>
            </a:r>
            <a:r>
              <a:rPr lang="pt-PT" dirty="0">
                <a:latin typeface="Open Sans Light"/>
                <a:ea typeface="Open Sans Light"/>
                <a:cs typeface="Open Sans Light"/>
                <a:sym typeface="Open Sans Light"/>
              </a:rPr>
              <a:t>, “</a:t>
            </a:r>
            <a:r>
              <a:rPr lang="pt-PT" b="1" i="1" dirty="0">
                <a:latin typeface="Open Sans Light"/>
                <a:ea typeface="Open Sans Light"/>
                <a:cs typeface="Open Sans Light"/>
                <a:sym typeface="Open Sans Light"/>
              </a:rPr>
              <a:t>Master </a:t>
            </a:r>
            <a:r>
              <a:rPr lang="pt-PT" b="1" i="1" dirty="0" err="1">
                <a:latin typeface="Open Sans Light"/>
                <a:ea typeface="Open Sans Light"/>
                <a:cs typeface="Open Sans Light"/>
                <a:sym typeface="Open Sans Light"/>
              </a:rPr>
              <a:t>View</a:t>
            </a:r>
            <a:r>
              <a:rPr lang="pt-PT" dirty="0">
                <a:latin typeface="Open Sans Light"/>
                <a:ea typeface="Open Sans Light"/>
                <a:cs typeface="Open Sans Light"/>
                <a:sym typeface="Open Sans Light"/>
              </a:rPr>
              <a:t>”, “</a:t>
            </a:r>
            <a:r>
              <a:rPr lang="pt-PT" b="1" i="1" dirty="0" err="1">
                <a:latin typeface="Open Sans Light"/>
                <a:ea typeface="Open Sans Light"/>
                <a:cs typeface="Open Sans Light"/>
                <a:sym typeface="Open Sans Light"/>
              </a:rPr>
              <a:t>Test</a:t>
            </a:r>
            <a:r>
              <a:rPr lang="pt-PT" b="1" i="1" dirty="0">
                <a:latin typeface="Open Sans Light"/>
                <a:ea typeface="Open Sans Light"/>
                <a:cs typeface="Open Sans Light"/>
                <a:sym typeface="Open Sans Light"/>
              </a:rPr>
              <a:t> </a:t>
            </a:r>
            <a:r>
              <a:rPr lang="pt-PT" b="1" i="1" dirty="0" err="1">
                <a:latin typeface="Open Sans Light"/>
                <a:ea typeface="Open Sans Light"/>
                <a:cs typeface="Open Sans Light"/>
                <a:sym typeface="Open Sans Light"/>
              </a:rPr>
              <a:t>View</a:t>
            </a:r>
            <a:r>
              <a:rPr lang="pt-PT" dirty="0">
                <a:latin typeface="Open Sans Light"/>
                <a:ea typeface="Open Sans Light"/>
                <a:cs typeface="Open Sans Light"/>
                <a:sym typeface="Open Sans Light"/>
              </a:rPr>
              <a:t>” </a:t>
            </a:r>
            <a:r>
              <a:rPr lang="pt-PT" dirty="0" err="1">
                <a:latin typeface="Open Sans Light"/>
                <a:ea typeface="Open Sans Light"/>
                <a:cs typeface="Open Sans Light"/>
                <a:sym typeface="Open Sans Light"/>
              </a:rPr>
              <a:t>and</a:t>
            </a:r>
            <a:r>
              <a:rPr lang="pt-PT" dirty="0">
                <a:latin typeface="Open Sans Light"/>
                <a:ea typeface="Open Sans Light"/>
                <a:cs typeface="Open Sans Light"/>
                <a:sym typeface="Open Sans Light"/>
              </a:rPr>
              <a:t> “</a:t>
            </a:r>
            <a:r>
              <a:rPr lang="pt-PT" b="1" i="1" dirty="0" err="1">
                <a:latin typeface="Open Sans Light"/>
                <a:ea typeface="Open Sans Light"/>
                <a:cs typeface="Open Sans Light"/>
                <a:sym typeface="Open Sans Light"/>
              </a:rPr>
              <a:t>Raw</a:t>
            </a:r>
            <a:r>
              <a:rPr lang="pt-PT" b="1" i="1" dirty="0">
                <a:latin typeface="Open Sans Light"/>
                <a:ea typeface="Open Sans Light"/>
                <a:cs typeface="Open Sans Light"/>
                <a:sym typeface="Open Sans Light"/>
              </a:rPr>
              <a:t> Data </a:t>
            </a:r>
            <a:r>
              <a:rPr lang="pt-PT" b="1" i="1" dirty="0" err="1">
                <a:latin typeface="Open Sans Light"/>
                <a:ea typeface="Open Sans Light"/>
                <a:cs typeface="Open Sans Light"/>
                <a:sym typeface="Open Sans Light"/>
              </a:rPr>
              <a:t>View</a:t>
            </a:r>
            <a:r>
              <a:rPr lang="pt-PT" dirty="0">
                <a:latin typeface="Open Sans Light"/>
                <a:ea typeface="Open Sans Light"/>
                <a:cs typeface="Open Sans Light"/>
                <a:sym typeface="Open Sans Light"/>
              </a:rPr>
              <a:t>”.</a:t>
            </a:r>
          </a:p>
          <a:p>
            <a:pPr marL="342900" lvl="0" indent="-342900" algn="l" rtl="0">
              <a:lnSpc>
                <a:spcPct val="100000"/>
              </a:lnSpc>
              <a:spcBef>
                <a:spcPts val="0"/>
              </a:spcBef>
              <a:spcAft>
                <a:spcPts val="0"/>
              </a:spcAft>
              <a:buClr>
                <a:schemeClr val="dk1"/>
              </a:buClr>
              <a:buSzPts val="1100"/>
              <a:buFont typeface="Arial"/>
              <a:buAutoNum type="arabicPeriod"/>
            </a:pPr>
            <a:endParaRPr lang="pt-PT" dirty="0">
              <a:latin typeface="Open Sans Light"/>
              <a:ea typeface="Open Sans Light"/>
              <a:cs typeface="Open Sans Light"/>
              <a:sym typeface="Open Sans Light"/>
            </a:endParaRPr>
          </a:p>
          <a:p>
            <a:pPr marL="285750" indent="-285750">
              <a:buFont typeface="Arial" panose="020B0604020202020204" pitchFamily="34" charset="0"/>
              <a:buChar char="•"/>
            </a:pPr>
            <a:r>
              <a:rPr lang="pt-PT" dirty="0" err="1"/>
              <a:t>The</a:t>
            </a:r>
            <a:r>
              <a:rPr lang="pt-PT" dirty="0"/>
              <a:t> Master </a:t>
            </a:r>
            <a:r>
              <a:rPr lang="pt-PT" dirty="0" err="1"/>
              <a:t>View</a:t>
            </a:r>
            <a:r>
              <a:rPr lang="pt-PT" dirty="0"/>
              <a:t> </a:t>
            </a:r>
            <a:r>
              <a:rPr lang="pt-PT" dirty="0" err="1"/>
              <a:t>is</a:t>
            </a:r>
            <a:r>
              <a:rPr lang="pt-PT" dirty="0"/>
              <a:t> </a:t>
            </a:r>
            <a:r>
              <a:rPr lang="pt-PT" dirty="0" err="1"/>
              <a:t>going</a:t>
            </a:r>
            <a:r>
              <a:rPr lang="pt-PT" dirty="0"/>
              <a:t> to </a:t>
            </a:r>
            <a:r>
              <a:rPr lang="pt-PT" dirty="0" err="1"/>
              <a:t>be</a:t>
            </a:r>
            <a:r>
              <a:rPr lang="pt-PT" dirty="0"/>
              <a:t> </a:t>
            </a:r>
            <a:r>
              <a:rPr lang="pt-PT" dirty="0" err="1"/>
              <a:t>where</a:t>
            </a:r>
            <a:r>
              <a:rPr lang="pt-PT" dirty="0"/>
              <a:t> </a:t>
            </a:r>
            <a:r>
              <a:rPr lang="pt-PT" dirty="0" err="1"/>
              <a:t>the</a:t>
            </a:r>
            <a:r>
              <a:rPr lang="pt-PT" dirty="0"/>
              <a:t> final </a:t>
            </a:r>
            <a:r>
              <a:rPr lang="pt-PT" dirty="0" err="1"/>
              <a:t>implementations</a:t>
            </a:r>
            <a:r>
              <a:rPr lang="pt-PT" dirty="0"/>
              <a:t> </a:t>
            </a:r>
            <a:r>
              <a:rPr lang="pt-PT" dirty="0" err="1"/>
              <a:t>of</a:t>
            </a:r>
            <a:r>
              <a:rPr lang="pt-PT" dirty="0"/>
              <a:t> </a:t>
            </a:r>
            <a:r>
              <a:rPr lang="pt-PT" dirty="0" err="1"/>
              <a:t>the</a:t>
            </a:r>
            <a:r>
              <a:rPr lang="pt-PT" dirty="0"/>
              <a:t> </a:t>
            </a:r>
            <a:r>
              <a:rPr lang="pt-PT" dirty="0" err="1"/>
              <a:t>tests</a:t>
            </a:r>
            <a:r>
              <a:rPr lang="pt-PT" dirty="0"/>
              <a:t> </a:t>
            </a:r>
            <a:r>
              <a:rPr lang="pt-PT" dirty="0" err="1"/>
              <a:t>that</a:t>
            </a:r>
            <a:r>
              <a:rPr lang="pt-PT" dirty="0"/>
              <a:t> </a:t>
            </a:r>
            <a:r>
              <a:rPr lang="pt-PT" dirty="0" err="1"/>
              <a:t>we</a:t>
            </a:r>
            <a:r>
              <a:rPr lang="pt-PT" dirty="0"/>
              <a:t> </a:t>
            </a:r>
            <a:r>
              <a:rPr lang="pt-PT" dirty="0" err="1"/>
              <a:t>did</a:t>
            </a:r>
            <a:r>
              <a:rPr lang="pt-PT" dirty="0"/>
              <a:t> in </a:t>
            </a:r>
            <a:r>
              <a:rPr lang="pt-PT" dirty="0" err="1"/>
              <a:t>the</a:t>
            </a:r>
            <a:r>
              <a:rPr lang="pt-PT" dirty="0"/>
              <a:t> </a:t>
            </a:r>
            <a:r>
              <a:rPr lang="pt-PT" dirty="0" err="1"/>
              <a:t>Test</a:t>
            </a:r>
            <a:r>
              <a:rPr lang="pt-PT" dirty="0"/>
              <a:t> </a:t>
            </a:r>
            <a:r>
              <a:rPr lang="pt-PT" dirty="0" err="1"/>
              <a:t>View</a:t>
            </a:r>
            <a:r>
              <a:rPr lang="pt-PT" dirty="0"/>
              <a:t> are </a:t>
            </a:r>
            <a:r>
              <a:rPr lang="pt-PT" dirty="0" err="1"/>
              <a:t>going</a:t>
            </a:r>
            <a:r>
              <a:rPr lang="pt-PT" dirty="0"/>
              <a:t> to </a:t>
            </a:r>
            <a:r>
              <a:rPr lang="pt-PT" dirty="0" err="1"/>
              <a:t>be</a:t>
            </a:r>
            <a:r>
              <a:rPr lang="pt-PT" dirty="0"/>
              <a:t> </a:t>
            </a:r>
            <a:r>
              <a:rPr lang="pt-PT" dirty="0" err="1"/>
              <a:t>placed</a:t>
            </a:r>
            <a:r>
              <a:rPr lang="pt-PT" dirty="0"/>
              <a:t>.</a:t>
            </a:r>
          </a:p>
          <a:p>
            <a:pPr marL="285750" indent="-285750">
              <a:buFont typeface="Arial" panose="020B0604020202020204" pitchFamily="34" charset="0"/>
              <a:buChar char="•"/>
            </a:pPr>
            <a:endParaRPr lang="pt-PT" dirty="0"/>
          </a:p>
          <a:p>
            <a:pPr marL="285750" indent="-285750">
              <a:buFont typeface="Arial" panose="020B0604020202020204" pitchFamily="34" charset="0"/>
              <a:buChar char="•"/>
            </a:pPr>
            <a:r>
              <a:rPr lang="pt-PT" dirty="0" err="1"/>
              <a:t>The</a:t>
            </a:r>
            <a:r>
              <a:rPr lang="pt-PT" dirty="0"/>
              <a:t> </a:t>
            </a:r>
            <a:r>
              <a:rPr lang="pt-PT" dirty="0" err="1"/>
              <a:t>Raw</a:t>
            </a:r>
            <a:r>
              <a:rPr lang="pt-PT" dirty="0"/>
              <a:t> Data </a:t>
            </a:r>
            <a:r>
              <a:rPr lang="pt-PT" dirty="0" err="1"/>
              <a:t>View</a:t>
            </a:r>
            <a:r>
              <a:rPr lang="pt-PT" dirty="0"/>
              <a:t> </a:t>
            </a:r>
            <a:r>
              <a:rPr lang="pt-PT" dirty="0" err="1"/>
              <a:t>is</a:t>
            </a:r>
            <a:r>
              <a:rPr lang="pt-PT" dirty="0"/>
              <a:t> </a:t>
            </a:r>
            <a:r>
              <a:rPr lang="pt-PT" dirty="0" err="1"/>
              <a:t>going</a:t>
            </a:r>
            <a:r>
              <a:rPr lang="pt-PT" dirty="0"/>
              <a:t> to serve </a:t>
            </a:r>
            <a:r>
              <a:rPr lang="pt-PT" dirty="0" err="1"/>
              <a:t>the</a:t>
            </a:r>
            <a:r>
              <a:rPr lang="pt-PT" dirty="0"/>
              <a:t> </a:t>
            </a:r>
            <a:r>
              <a:rPr lang="pt-PT" dirty="0" err="1"/>
              <a:t>purpose</a:t>
            </a:r>
            <a:r>
              <a:rPr lang="pt-PT" dirty="0"/>
              <a:t> </a:t>
            </a:r>
            <a:r>
              <a:rPr lang="pt-PT" dirty="0" err="1"/>
              <a:t>of</a:t>
            </a:r>
            <a:r>
              <a:rPr lang="pt-PT" dirty="0"/>
              <a:t> </a:t>
            </a:r>
            <a:r>
              <a:rPr lang="pt-PT" dirty="0" err="1"/>
              <a:t>backing</a:t>
            </a:r>
            <a:r>
              <a:rPr lang="pt-PT" dirty="0"/>
              <a:t> </a:t>
            </a:r>
            <a:r>
              <a:rPr lang="pt-PT" dirty="0" err="1"/>
              <a:t>up</a:t>
            </a:r>
            <a:r>
              <a:rPr lang="pt-PT" dirty="0"/>
              <a:t> </a:t>
            </a:r>
            <a:r>
              <a:rPr lang="pt-PT" dirty="0" err="1"/>
              <a:t>our</a:t>
            </a:r>
            <a:r>
              <a:rPr lang="pt-PT" dirty="0"/>
              <a:t> data, in case </a:t>
            </a:r>
            <a:r>
              <a:rPr lang="pt-PT" dirty="0" err="1"/>
              <a:t>anything</a:t>
            </a:r>
            <a:r>
              <a:rPr lang="pt-PT" dirty="0"/>
              <a:t> </a:t>
            </a:r>
            <a:r>
              <a:rPr lang="pt-PT" dirty="0" err="1"/>
              <a:t>goes</a:t>
            </a:r>
            <a:r>
              <a:rPr lang="pt-PT" dirty="0"/>
              <a:t> </a:t>
            </a:r>
            <a:r>
              <a:rPr lang="pt-PT" dirty="0" err="1"/>
              <a:t>wrong</a:t>
            </a:r>
            <a:r>
              <a:rPr lang="pt-PT" dirty="0"/>
              <a:t>, </a:t>
            </a:r>
            <a:r>
              <a:rPr lang="pt-PT" dirty="0" err="1"/>
              <a:t>such</a:t>
            </a:r>
            <a:r>
              <a:rPr lang="pt-PT" dirty="0"/>
              <a:t> as in a </a:t>
            </a:r>
            <a:r>
              <a:rPr lang="pt-PT" dirty="0" err="1"/>
              <a:t>filter</a:t>
            </a:r>
            <a:r>
              <a:rPr lang="pt-PT" dirty="0"/>
              <a:t>, </a:t>
            </a:r>
            <a:r>
              <a:rPr lang="pt-PT" dirty="0" err="1"/>
              <a:t>that</a:t>
            </a:r>
            <a:r>
              <a:rPr lang="pt-PT" dirty="0"/>
              <a:t> </a:t>
            </a:r>
            <a:r>
              <a:rPr lang="pt-PT" dirty="0" err="1"/>
              <a:t>could</a:t>
            </a:r>
            <a:r>
              <a:rPr lang="pt-PT" dirty="0"/>
              <a:t> </a:t>
            </a:r>
            <a:r>
              <a:rPr lang="pt-PT" dirty="0" err="1"/>
              <a:t>potentially</a:t>
            </a:r>
            <a:r>
              <a:rPr lang="pt-PT" dirty="0"/>
              <a:t> cause data </a:t>
            </a:r>
            <a:r>
              <a:rPr lang="pt-PT" dirty="0" err="1"/>
              <a:t>loss</a:t>
            </a:r>
            <a:r>
              <a:rPr lang="pt-PT" dirty="0"/>
              <a:t>.</a:t>
            </a:r>
          </a:p>
          <a:p>
            <a:pPr marL="342900" lvl="0" indent="-342900" algn="l" rtl="0">
              <a:lnSpc>
                <a:spcPct val="100000"/>
              </a:lnSpc>
              <a:spcBef>
                <a:spcPts val="0"/>
              </a:spcBef>
              <a:spcAft>
                <a:spcPts val="0"/>
              </a:spcAft>
              <a:buClr>
                <a:schemeClr val="dk1"/>
              </a:buClr>
              <a:buSzPts val="1100"/>
              <a:buFont typeface="Arial"/>
              <a:buAutoNum type="arabicPeriod"/>
            </a:pPr>
            <a:endParaRPr dirty="0">
              <a:latin typeface="Open Sans Light"/>
              <a:ea typeface="Open Sans Light"/>
              <a:cs typeface="Open Sans Light"/>
              <a:sym typeface="Open Sans Light"/>
            </a:endParaRPr>
          </a:p>
        </p:txBody>
      </p:sp>
      <p:pic>
        <p:nvPicPr>
          <p:cNvPr id="5" name="Content Placeholder 7">
            <a:extLst>
              <a:ext uri="{FF2B5EF4-FFF2-40B4-BE49-F238E27FC236}">
                <a16:creationId xmlns:a16="http://schemas.microsoft.com/office/drawing/2014/main" id="{672D1A2F-8EDF-4DD5-BDA7-3625441B9462}"/>
              </a:ext>
            </a:extLst>
          </p:cNvPr>
          <p:cNvPicPr>
            <a:picLocks noChangeAspect="1"/>
          </p:cNvPicPr>
          <p:nvPr/>
        </p:nvPicPr>
        <p:blipFill>
          <a:blip r:embed="rId4"/>
          <a:stretch>
            <a:fillRect/>
          </a:stretch>
        </p:blipFill>
        <p:spPr>
          <a:xfrm>
            <a:off x="758383" y="5402688"/>
            <a:ext cx="6255633" cy="2122164"/>
          </a:xfrm>
          <a:prstGeom prst="rect">
            <a:avLst/>
          </a:prstGeom>
          <a:noFill/>
          <a:ln>
            <a:solidFill>
              <a:schemeClr val="bg1">
                <a:lumMod val="85000"/>
              </a:schemeClr>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1"/>
        <p:cNvGrpSpPr/>
        <p:nvPr/>
      </p:nvGrpSpPr>
      <p:grpSpPr>
        <a:xfrm>
          <a:off x="0" y="0"/>
          <a:ext cx="0" cy="0"/>
          <a:chOff x="0" y="0"/>
          <a:chExt cx="0" cy="0"/>
        </a:xfrm>
      </p:grpSpPr>
      <p:sp>
        <p:nvSpPr>
          <p:cNvPr id="192" name="Google Shape;192;p45"/>
          <p:cNvSpPr txBox="1">
            <a:spLocks noGrp="1"/>
          </p:cNvSpPr>
          <p:nvPr>
            <p:ph type="title"/>
          </p:nvPr>
        </p:nvSpPr>
        <p:spPr>
          <a:xfrm>
            <a:off x="264895" y="959146"/>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3200">
                <a:solidFill>
                  <a:srgbClr val="02B3E4"/>
                </a:solidFill>
                <a:latin typeface="Open Sans"/>
                <a:ea typeface="Open Sans"/>
                <a:cs typeface="Open Sans"/>
                <a:sym typeface="Open Sans"/>
              </a:rPr>
              <a:t>2. Best Practice Check: </a:t>
            </a:r>
            <a:endParaRPr sz="3200">
              <a:solidFill>
                <a:srgbClr val="02B3E4"/>
              </a:solidFill>
              <a:latin typeface="Open Sans"/>
              <a:ea typeface="Open Sans"/>
              <a:cs typeface="Open Sans"/>
              <a:sym typeface="Open Sans"/>
            </a:endParaRPr>
          </a:p>
          <a:p>
            <a:pPr marL="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    Filtering Internal Traffic</a:t>
            </a:r>
            <a:endParaRPr sz="3200">
              <a:solidFill>
                <a:srgbClr val="02B3E4"/>
              </a:solidFill>
              <a:latin typeface="Open Sans Light"/>
              <a:ea typeface="Open Sans Light"/>
              <a:cs typeface="Open Sans Light"/>
              <a:sym typeface="Open Sans Light"/>
            </a:endParaRPr>
          </a:p>
        </p:txBody>
      </p:sp>
      <p:sp>
        <p:nvSpPr>
          <p:cNvPr id="193" name="Google Shape;193;p45"/>
          <p:cNvSpPr txBox="1"/>
          <p:nvPr/>
        </p:nvSpPr>
        <p:spPr>
          <a:xfrm>
            <a:off x="296450" y="2244600"/>
            <a:ext cx="7211100" cy="7051500"/>
          </a:xfrm>
          <a:prstGeom prst="rect">
            <a:avLst/>
          </a:prstGeom>
          <a:noFill/>
          <a:ln>
            <a:noFill/>
          </a:ln>
        </p:spPr>
        <p:txBody>
          <a:bodyPr spcFirstLastPara="1" wrap="square" lIns="91425" tIns="91425" rIns="91425" bIns="91425" anchor="t" anchorCtr="0">
            <a:noAutofit/>
          </a:bodyPr>
          <a:lstStyle/>
          <a:p>
            <a:r>
              <a:rPr lang="pt-PT" sz="1800" dirty="0" err="1"/>
              <a:t>There</a:t>
            </a:r>
            <a:r>
              <a:rPr lang="pt-PT" sz="1800" dirty="0"/>
              <a:t> are </a:t>
            </a:r>
            <a:r>
              <a:rPr lang="pt-PT" sz="1800" dirty="0" err="1"/>
              <a:t>three</a:t>
            </a:r>
            <a:r>
              <a:rPr lang="pt-PT" sz="1800" dirty="0"/>
              <a:t> </a:t>
            </a:r>
            <a:r>
              <a:rPr lang="pt-PT" sz="1800" dirty="0" err="1"/>
              <a:t>filters</a:t>
            </a:r>
            <a:r>
              <a:rPr lang="pt-PT" sz="1800" dirty="0"/>
              <a:t> in </a:t>
            </a:r>
            <a:r>
              <a:rPr lang="pt-PT" sz="1800" dirty="0" err="1"/>
              <a:t>the</a:t>
            </a:r>
            <a:r>
              <a:rPr lang="pt-PT" sz="1800" dirty="0"/>
              <a:t> </a:t>
            </a:r>
            <a:r>
              <a:rPr lang="pt-PT" sz="1800" dirty="0" err="1"/>
              <a:t>account</a:t>
            </a:r>
            <a:r>
              <a:rPr lang="pt-PT" sz="1800" dirty="0"/>
              <a:t>, </a:t>
            </a:r>
            <a:r>
              <a:rPr lang="pt-PT" sz="1800" dirty="0" err="1"/>
              <a:t>which</a:t>
            </a:r>
            <a:r>
              <a:rPr lang="pt-PT" sz="1800" dirty="0"/>
              <a:t> are:</a:t>
            </a:r>
          </a:p>
          <a:p>
            <a:endParaRPr lang="pt-PT" sz="1800" dirty="0"/>
          </a:p>
          <a:p>
            <a:pPr marL="514350" indent="-514350">
              <a:buAutoNum type="arabicPeriod"/>
            </a:pPr>
            <a:r>
              <a:rPr lang="pt-PT" sz="1800" b="1" i="1" dirty="0" err="1"/>
              <a:t>Exclude</a:t>
            </a:r>
            <a:r>
              <a:rPr lang="pt-PT" sz="1800" b="1" i="1" dirty="0"/>
              <a:t> </a:t>
            </a:r>
            <a:r>
              <a:rPr lang="pt-PT" sz="1800" b="1" i="1" dirty="0" err="1"/>
              <a:t>Product</a:t>
            </a:r>
            <a:r>
              <a:rPr lang="pt-PT" sz="1800" dirty="0"/>
              <a:t> (</a:t>
            </a:r>
            <a:r>
              <a:rPr lang="pt-PT" sz="1800" dirty="0" err="1"/>
              <a:t>not</a:t>
            </a:r>
            <a:r>
              <a:rPr lang="pt-PT" sz="1800" dirty="0"/>
              <a:t> </a:t>
            </a:r>
            <a:r>
              <a:rPr lang="pt-PT" sz="1800" dirty="0" err="1"/>
              <a:t>implemented</a:t>
            </a:r>
            <a:r>
              <a:rPr lang="pt-PT" sz="1800" dirty="0"/>
              <a:t> in </a:t>
            </a:r>
            <a:r>
              <a:rPr lang="pt-PT" sz="1800" dirty="0" err="1"/>
              <a:t>any</a:t>
            </a:r>
            <a:r>
              <a:rPr lang="pt-PT" sz="1800" dirty="0"/>
              <a:t> </a:t>
            </a:r>
            <a:r>
              <a:rPr lang="pt-PT" sz="1800" dirty="0" err="1"/>
              <a:t>view</a:t>
            </a:r>
            <a:r>
              <a:rPr lang="pt-PT" sz="1800" dirty="0"/>
              <a:t>)</a:t>
            </a:r>
            <a:r>
              <a:rPr lang="en-US" sz="1800" dirty="0"/>
              <a:t>.</a:t>
            </a:r>
          </a:p>
          <a:p>
            <a:pPr marL="514350" indent="-514350">
              <a:buAutoNum type="arabicPeriod"/>
            </a:pPr>
            <a:r>
              <a:rPr lang="en-US" sz="1800" b="1" i="1" dirty="0"/>
              <a:t>Include Hostname </a:t>
            </a:r>
            <a:r>
              <a:rPr lang="en-US" sz="1800" dirty="0"/>
              <a:t>(includes hostname “.googlemerchandisestore.com”), implemented in three views.</a:t>
            </a:r>
          </a:p>
          <a:p>
            <a:pPr marL="514350" indent="-514350">
              <a:buAutoNum type="arabicPeriod"/>
            </a:pPr>
            <a:r>
              <a:rPr lang="en-US" sz="1800" b="1" i="1" dirty="0"/>
              <a:t>Rename AdWords Campaigns </a:t>
            </a:r>
            <a:r>
              <a:rPr lang="en-US" sz="1800" dirty="0"/>
              <a:t>(Replaces Campaign Name strings using the Regex “^(.*?)(~|-)”), a Replace String is not yet provided, this filter was applied to the three views.</a:t>
            </a:r>
          </a:p>
          <a:p>
            <a:pPr marL="514350" indent="-514350">
              <a:buAutoNum type="arabicPeriod"/>
            </a:pPr>
            <a:endParaRPr lang="en-US" sz="1800" dirty="0"/>
          </a:p>
          <a:p>
            <a:pPr marL="514350" indent="-514350">
              <a:buAutoNum type="arabicPeriod"/>
            </a:pPr>
            <a:endParaRPr lang="en-US" sz="1800" dirty="0"/>
          </a:p>
          <a:p>
            <a:pPr marL="514350" indent="-514350">
              <a:buAutoNum type="arabicPeriod"/>
            </a:pPr>
            <a:endParaRPr lang="en-US" sz="1800" dirty="0"/>
          </a:p>
          <a:p>
            <a:pPr marL="514350" indent="-514350">
              <a:buAutoNum type="arabicPeriod"/>
            </a:pPr>
            <a:endParaRPr lang="en-US" sz="1800" dirty="0"/>
          </a:p>
          <a:p>
            <a:pPr marL="514350" indent="-514350">
              <a:buAutoNum type="arabicPeriod"/>
            </a:pPr>
            <a:endParaRPr lang="en-US" sz="1800" dirty="0"/>
          </a:p>
          <a:p>
            <a:pPr marL="514350" indent="-514350">
              <a:buAutoNum type="arabicPeriod"/>
            </a:pPr>
            <a:endParaRPr lang="en-US" sz="1800" dirty="0"/>
          </a:p>
          <a:p>
            <a:pPr marL="514350" indent="-514350">
              <a:buAutoNum type="arabicPeriod"/>
            </a:pPr>
            <a:endParaRPr lang="en-US" sz="1800" dirty="0"/>
          </a:p>
          <a:p>
            <a:r>
              <a:rPr lang="en-US" sz="1800" dirty="0"/>
              <a:t>Access to add a filter was not provided, but to do so we would Click on Filter and then Add filter.</a:t>
            </a:r>
          </a:p>
          <a:p>
            <a:r>
              <a:rPr lang="en-US" sz="1800" dirty="0"/>
              <a:t>As explained in the lessons, by making sure that the filter is set to exclude we would have to add a regular expression, such as “244\.90\.156\.([1-9]|1[0-5]$”, which filter out the rage from “244.90.156.1” until “244.90.156.15”.</a:t>
            </a:r>
            <a:endParaRPr lang="pt-PT" sz="1800" dirty="0"/>
          </a:p>
        </p:txBody>
      </p:sp>
      <p:pic>
        <p:nvPicPr>
          <p:cNvPr id="2" name="Picture 1">
            <a:extLst>
              <a:ext uri="{FF2B5EF4-FFF2-40B4-BE49-F238E27FC236}">
                <a16:creationId xmlns:a16="http://schemas.microsoft.com/office/drawing/2014/main" id="{D581FC15-BACB-4477-A789-C1069B3C9E4E}"/>
              </a:ext>
            </a:extLst>
          </p:cNvPr>
          <p:cNvPicPr>
            <a:picLocks noChangeAspect="1"/>
          </p:cNvPicPr>
          <p:nvPr/>
        </p:nvPicPr>
        <p:blipFill>
          <a:blip r:embed="rId4"/>
          <a:stretch>
            <a:fillRect/>
          </a:stretch>
        </p:blipFill>
        <p:spPr>
          <a:xfrm>
            <a:off x="264850" y="4804433"/>
            <a:ext cx="6961726" cy="964577"/>
          </a:xfrm>
          <a:prstGeom prst="rect">
            <a:avLst/>
          </a:prstGeom>
          <a:ln>
            <a:solidFill>
              <a:schemeClr val="bg1">
                <a:lumMod val="85000"/>
              </a:schemeClr>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7"/>
        <p:cNvGrpSpPr/>
        <p:nvPr/>
      </p:nvGrpSpPr>
      <p:grpSpPr>
        <a:xfrm>
          <a:off x="0" y="0"/>
          <a:ext cx="0" cy="0"/>
          <a:chOff x="0" y="0"/>
          <a:chExt cx="0" cy="0"/>
        </a:xfrm>
      </p:grpSpPr>
      <p:sp>
        <p:nvSpPr>
          <p:cNvPr id="198" name="Google Shape;198;p46"/>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Two:</a:t>
            </a:r>
            <a:r>
              <a:rPr lang="en" sz="4800" b="1">
                <a:solidFill>
                  <a:srgbClr val="FAFBFC"/>
                </a:solidFill>
              </a:rPr>
              <a:t> </a:t>
            </a:r>
            <a:endParaRPr sz="4800">
              <a:solidFill>
                <a:srgbClr val="FAFBFC"/>
              </a:solidFill>
              <a:latin typeface="Open Sans Light"/>
              <a:ea typeface="Open Sans Light"/>
              <a:cs typeface="Open Sans Light"/>
              <a:sym typeface="Open Sans Light"/>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Data Exploration</a:t>
            </a:r>
            <a:endParaRPr sz="3600">
              <a:solidFill>
                <a:srgbClr val="FAFBFC"/>
              </a:solidFill>
              <a:latin typeface="Open Sans"/>
              <a:ea typeface="Open Sans"/>
              <a:cs typeface="Open Sans"/>
              <a:sym typeface="Open Sans"/>
            </a:endParaRPr>
          </a:p>
        </p:txBody>
      </p:sp>
      <p:sp>
        <p:nvSpPr>
          <p:cNvPr id="199" name="Google Shape;199;p46"/>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2" name="Google Shape;332;p62">
            <a:extLst>
              <a:ext uri="{FF2B5EF4-FFF2-40B4-BE49-F238E27FC236}">
                <a16:creationId xmlns:a16="http://schemas.microsoft.com/office/drawing/2014/main" id="{9E0DCCDA-6927-40D5-A994-D11AECEBEC77}"/>
              </a:ext>
            </a:extLst>
          </p:cNvPr>
          <p:cNvPicPr preferRelativeResize="0"/>
          <p:nvPr/>
        </p:nvPicPr>
        <p:blipFill>
          <a:blip r:embed="rId4">
            <a:alphaModFix/>
          </a:blip>
          <a:stretch>
            <a:fillRect/>
          </a:stretch>
        </p:blipFill>
        <p:spPr>
          <a:xfrm>
            <a:off x="347400" y="281900"/>
            <a:ext cx="1395250" cy="690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Standard Display - Audience</a:t>
            </a:r>
            <a:endParaRPr sz="3200">
              <a:solidFill>
                <a:srgbClr val="02B3E4"/>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endParaRPr sz="2400">
              <a:solidFill>
                <a:srgbClr val="02B3E4"/>
              </a:solidFill>
              <a:latin typeface="Open Sans Light"/>
              <a:ea typeface="Open Sans Light"/>
              <a:cs typeface="Open Sans Light"/>
              <a:sym typeface="Open Sans Light"/>
            </a:endParaRPr>
          </a:p>
        </p:txBody>
      </p:sp>
      <p:sp>
        <p:nvSpPr>
          <p:cNvPr id="212" name="Google Shape;212;p48"/>
          <p:cNvSpPr txBox="1">
            <a:spLocks noGrp="1"/>
          </p:cNvSpPr>
          <p:nvPr>
            <p:ph type="body" idx="1"/>
          </p:nvPr>
        </p:nvSpPr>
        <p:spPr>
          <a:xfrm>
            <a:off x="264950" y="1686225"/>
            <a:ext cx="7242600" cy="134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From the Audience Overview Report</a:t>
            </a:r>
            <a:r>
              <a:rPr lang="pt-PT" dirty="0"/>
              <a:t>, </a:t>
            </a:r>
            <a:r>
              <a:rPr lang="pt-PT" dirty="0" err="1"/>
              <a:t>by</a:t>
            </a:r>
            <a:r>
              <a:rPr lang="pt-PT" dirty="0"/>
              <a:t> </a:t>
            </a:r>
            <a:r>
              <a:rPr lang="pt-PT" dirty="0" err="1"/>
              <a:t>seleting</a:t>
            </a:r>
            <a:r>
              <a:rPr lang="pt-PT" dirty="0"/>
              <a:t> a </a:t>
            </a:r>
            <a:r>
              <a:rPr lang="pt-PT" dirty="0" err="1"/>
              <a:t>period</a:t>
            </a:r>
            <a:r>
              <a:rPr lang="pt-PT" dirty="0"/>
              <a:t> </a:t>
            </a:r>
            <a:r>
              <a:rPr lang="pt-PT" dirty="0" err="1"/>
              <a:t>between</a:t>
            </a:r>
            <a:r>
              <a:rPr lang="pt-PT" dirty="0"/>
              <a:t> 1 Jan 2020 </a:t>
            </a:r>
            <a:r>
              <a:rPr lang="pt-PT" dirty="0" err="1"/>
              <a:t>and</a:t>
            </a:r>
            <a:r>
              <a:rPr lang="pt-PT" dirty="0"/>
              <a:t> 31 Mar 2020, </a:t>
            </a:r>
            <a:r>
              <a:rPr lang="pt-PT" dirty="0" err="1"/>
              <a:t>we</a:t>
            </a:r>
            <a:r>
              <a:rPr lang="pt-PT" dirty="0"/>
              <a:t> can </a:t>
            </a:r>
            <a:r>
              <a:rPr lang="pt-PT" dirty="0" err="1"/>
              <a:t>see</a:t>
            </a:r>
            <a:r>
              <a:rPr lang="pt-PT" dirty="0"/>
              <a:t> </a:t>
            </a:r>
            <a:r>
              <a:rPr lang="pt-PT" dirty="0" err="1"/>
              <a:t>that</a:t>
            </a:r>
            <a:r>
              <a:rPr lang="pt-PT" dirty="0"/>
              <a:t> </a:t>
            </a:r>
            <a:r>
              <a:rPr lang="pt-PT" dirty="0" err="1"/>
              <a:t>the</a:t>
            </a:r>
            <a:r>
              <a:rPr lang="pt-PT" dirty="0"/>
              <a:t> </a:t>
            </a:r>
            <a:r>
              <a:rPr lang="pt-PT" dirty="0" err="1"/>
              <a:t>week</a:t>
            </a:r>
            <a:r>
              <a:rPr lang="pt-PT" dirty="0"/>
              <a:t> </a:t>
            </a:r>
            <a:r>
              <a:rPr lang="pt-PT" dirty="0" err="1"/>
              <a:t>with</a:t>
            </a:r>
            <a:r>
              <a:rPr lang="pt-PT" dirty="0"/>
              <a:t> </a:t>
            </a:r>
            <a:r>
              <a:rPr lang="pt-PT" dirty="0" err="1"/>
              <a:t>lowest</a:t>
            </a:r>
            <a:r>
              <a:rPr lang="pt-PT" dirty="0"/>
              <a:t> </a:t>
            </a:r>
            <a:r>
              <a:rPr lang="pt-PT" dirty="0" err="1"/>
              <a:t>users</a:t>
            </a:r>
            <a:r>
              <a:rPr lang="pt-PT" dirty="0"/>
              <a:t> </a:t>
            </a:r>
            <a:r>
              <a:rPr lang="pt-PT" dirty="0" err="1"/>
              <a:t>was</a:t>
            </a:r>
            <a:r>
              <a:rPr lang="pt-PT" dirty="0"/>
              <a:t> </a:t>
            </a:r>
            <a:r>
              <a:rPr lang="pt-PT" dirty="0" err="1"/>
              <a:t>the</a:t>
            </a:r>
            <a:r>
              <a:rPr lang="pt-PT" dirty="0"/>
              <a:t> </a:t>
            </a:r>
            <a:r>
              <a:rPr lang="pt-PT" dirty="0" err="1"/>
              <a:t>last</a:t>
            </a:r>
            <a:r>
              <a:rPr lang="pt-PT" dirty="0"/>
              <a:t> </a:t>
            </a:r>
            <a:r>
              <a:rPr lang="pt-PT" dirty="0" err="1"/>
              <a:t>one</a:t>
            </a:r>
            <a:r>
              <a:rPr lang="pt-PT" dirty="0"/>
              <a:t>. </a:t>
            </a:r>
          </a:p>
          <a:p>
            <a:pPr marL="0" lvl="0" indent="0" algn="l" rtl="0">
              <a:spcBef>
                <a:spcPts val="0"/>
              </a:spcBef>
              <a:spcAft>
                <a:spcPts val="0"/>
              </a:spcAft>
              <a:buNone/>
            </a:pPr>
            <a:r>
              <a:rPr lang="pt-PT" dirty="0" err="1"/>
              <a:t>The</a:t>
            </a:r>
            <a:r>
              <a:rPr lang="pt-PT" dirty="0"/>
              <a:t> complete </a:t>
            </a:r>
            <a:r>
              <a:rPr lang="pt-PT" dirty="0" err="1"/>
              <a:t>week</a:t>
            </a:r>
            <a:r>
              <a:rPr lang="pt-PT" dirty="0"/>
              <a:t> </a:t>
            </a:r>
            <a:r>
              <a:rPr lang="pt-PT" dirty="0" err="1"/>
              <a:t>with</a:t>
            </a:r>
            <a:r>
              <a:rPr lang="pt-PT" dirty="0"/>
              <a:t> </a:t>
            </a:r>
            <a:r>
              <a:rPr lang="pt-PT" dirty="0" err="1"/>
              <a:t>least</a:t>
            </a:r>
            <a:r>
              <a:rPr lang="pt-PT" dirty="0"/>
              <a:t> </a:t>
            </a:r>
            <a:r>
              <a:rPr lang="pt-PT" dirty="0" err="1"/>
              <a:t>amount</a:t>
            </a:r>
            <a:r>
              <a:rPr lang="pt-PT" dirty="0"/>
              <a:t> </a:t>
            </a:r>
            <a:r>
              <a:rPr lang="pt-PT" dirty="0" err="1"/>
              <a:t>of</a:t>
            </a:r>
            <a:r>
              <a:rPr lang="pt-PT" dirty="0"/>
              <a:t> </a:t>
            </a:r>
            <a:r>
              <a:rPr lang="pt-PT" dirty="0" err="1"/>
              <a:t>users</a:t>
            </a:r>
            <a:r>
              <a:rPr lang="pt-PT" dirty="0"/>
              <a:t> </a:t>
            </a:r>
            <a:r>
              <a:rPr lang="pt-PT" dirty="0" err="1"/>
              <a:t>was</a:t>
            </a:r>
            <a:r>
              <a:rPr lang="pt-PT" dirty="0"/>
              <a:t> </a:t>
            </a:r>
            <a:r>
              <a:rPr lang="pt-PT" dirty="0" err="1"/>
              <a:t>from</a:t>
            </a:r>
            <a:r>
              <a:rPr lang="pt-PT" dirty="0"/>
              <a:t> 15 Mar 2020 to 21 Mar 2020.</a:t>
            </a:r>
          </a:p>
          <a:p>
            <a:pPr marL="0" lvl="0" indent="0" algn="l" rtl="0">
              <a:spcBef>
                <a:spcPts val="0"/>
              </a:spcBef>
              <a:spcAft>
                <a:spcPts val="0"/>
              </a:spcAft>
              <a:buNone/>
            </a:pPr>
            <a:endParaRPr lang="pt-PT" dirty="0"/>
          </a:p>
          <a:p>
            <a:pPr marL="0" lvl="0" indent="0" algn="l" rtl="0">
              <a:spcBef>
                <a:spcPts val="0"/>
              </a:spcBef>
              <a:spcAft>
                <a:spcPts val="0"/>
              </a:spcAft>
              <a:buNone/>
            </a:pPr>
            <a:r>
              <a:rPr lang="pt-PT" dirty="0" err="1"/>
              <a:t>The</a:t>
            </a:r>
            <a:r>
              <a:rPr lang="pt-PT" dirty="0"/>
              <a:t> </a:t>
            </a:r>
            <a:r>
              <a:rPr lang="pt-PT" dirty="0" err="1"/>
              <a:t>biggest</a:t>
            </a:r>
            <a:r>
              <a:rPr lang="pt-PT" dirty="0"/>
              <a:t> </a:t>
            </a:r>
            <a:r>
              <a:rPr lang="pt-PT" dirty="0" err="1"/>
              <a:t>amount</a:t>
            </a:r>
            <a:r>
              <a:rPr lang="pt-PT" dirty="0"/>
              <a:t> </a:t>
            </a:r>
            <a:r>
              <a:rPr lang="pt-PT" dirty="0" err="1"/>
              <a:t>of</a:t>
            </a:r>
            <a:r>
              <a:rPr lang="pt-PT" dirty="0"/>
              <a:t> </a:t>
            </a:r>
            <a:r>
              <a:rPr lang="pt-PT" dirty="0" err="1"/>
              <a:t>users</a:t>
            </a:r>
            <a:r>
              <a:rPr lang="pt-PT" dirty="0"/>
              <a:t> </a:t>
            </a:r>
            <a:r>
              <a:rPr lang="pt-PT" dirty="0" err="1"/>
              <a:t>week</a:t>
            </a:r>
            <a:r>
              <a:rPr lang="pt-PT" dirty="0"/>
              <a:t> </a:t>
            </a:r>
            <a:r>
              <a:rPr lang="pt-PT" dirty="0" err="1"/>
              <a:t>is</a:t>
            </a:r>
            <a:r>
              <a:rPr lang="pt-PT" dirty="0"/>
              <a:t> </a:t>
            </a:r>
            <a:r>
              <a:rPr lang="pt-PT" dirty="0" err="1"/>
              <a:t>the</a:t>
            </a:r>
            <a:r>
              <a:rPr lang="pt-PT" dirty="0"/>
              <a:t> 12 Jan 2020 to 18 Jan 2020.</a:t>
            </a:r>
            <a:endParaRPr dirty="0"/>
          </a:p>
          <a:p>
            <a:pPr marL="0" lvl="0" indent="0" algn="l" rtl="0">
              <a:spcBef>
                <a:spcPts val="1600"/>
              </a:spcBef>
              <a:spcAft>
                <a:spcPts val="1600"/>
              </a:spcAft>
              <a:buNone/>
            </a:pPr>
            <a:endParaRPr dirty="0"/>
          </a:p>
        </p:txBody>
      </p:sp>
      <p:sp>
        <p:nvSpPr>
          <p:cNvPr id="213" name="Google Shape;213;p48"/>
          <p:cNvSpPr txBox="1"/>
          <p:nvPr/>
        </p:nvSpPr>
        <p:spPr>
          <a:xfrm>
            <a:off x="276225" y="9496425"/>
            <a:ext cx="7343700" cy="4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FBEDAFA0-206C-4015-A5D5-0A19291D4446}"/>
              </a:ext>
            </a:extLst>
          </p:cNvPr>
          <p:cNvPicPr>
            <a:picLocks noChangeAspect="1"/>
          </p:cNvPicPr>
          <p:nvPr/>
        </p:nvPicPr>
        <p:blipFill>
          <a:blip r:embed="rId3"/>
          <a:stretch>
            <a:fillRect/>
          </a:stretch>
        </p:blipFill>
        <p:spPr>
          <a:xfrm>
            <a:off x="381287" y="5611509"/>
            <a:ext cx="7009825" cy="867433"/>
          </a:xfrm>
          <a:prstGeom prst="rect">
            <a:avLst/>
          </a:prstGeom>
        </p:spPr>
      </p:pic>
      <p:pic>
        <p:nvPicPr>
          <p:cNvPr id="4" name="Picture 3">
            <a:extLst>
              <a:ext uri="{FF2B5EF4-FFF2-40B4-BE49-F238E27FC236}">
                <a16:creationId xmlns:a16="http://schemas.microsoft.com/office/drawing/2014/main" id="{D258CBD8-4AE8-49DE-BCD1-D9ED3117F076}"/>
              </a:ext>
            </a:extLst>
          </p:cNvPr>
          <p:cNvPicPr>
            <a:picLocks noChangeAspect="1"/>
          </p:cNvPicPr>
          <p:nvPr/>
        </p:nvPicPr>
        <p:blipFill>
          <a:blip r:embed="rId4"/>
          <a:stretch>
            <a:fillRect/>
          </a:stretch>
        </p:blipFill>
        <p:spPr>
          <a:xfrm>
            <a:off x="326730" y="7472509"/>
            <a:ext cx="7445670" cy="8996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Standard Display - Audience</a:t>
            </a:r>
            <a:endParaRPr sz="3200">
              <a:solidFill>
                <a:srgbClr val="02B3E4"/>
              </a:solidFill>
              <a:latin typeface="Open Sans Light"/>
              <a:ea typeface="Open Sans Light"/>
              <a:cs typeface="Open Sans Light"/>
              <a:sym typeface="Open Sans Light"/>
            </a:endParaRPr>
          </a:p>
          <a:p>
            <a:pPr marL="0" marR="0" lvl="0" indent="0" algn="l" rtl="0">
              <a:lnSpc>
                <a:spcPct val="115000"/>
              </a:lnSpc>
              <a:spcBef>
                <a:spcPts val="0"/>
              </a:spcBef>
              <a:spcAft>
                <a:spcPts val="0"/>
              </a:spcAft>
              <a:buNone/>
            </a:pPr>
            <a:endParaRPr sz="2400">
              <a:solidFill>
                <a:srgbClr val="02B3E4"/>
              </a:solidFill>
              <a:latin typeface="Open Sans Light"/>
              <a:ea typeface="Open Sans Light"/>
              <a:cs typeface="Open Sans Light"/>
              <a:sym typeface="Open Sans Light"/>
            </a:endParaRPr>
          </a:p>
        </p:txBody>
      </p:sp>
      <p:sp>
        <p:nvSpPr>
          <p:cNvPr id="225" name="Google Shape;225;p49"/>
          <p:cNvSpPr txBox="1">
            <a:spLocks noGrp="1"/>
          </p:cNvSpPr>
          <p:nvPr>
            <p:ph type="body" idx="1"/>
          </p:nvPr>
        </p:nvSpPr>
        <p:spPr>
          <a:xfrm>
            <a:off x="264950" y="1686224"/>
            <a:ext cx="7242600" cy="24092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Do you have any ideas why certain trends are associated with these specific weeks?</a:t>
            </a:r>
          </a:p>
          <a:p>
            <a:pPr marL="0" lvl="0" indent="0" algn="l" rtl="0">
              <a:spcBef>
                <a:spcPts val="0"/>
              </a:spcBef>
              <a:spcAft>
                <a:spcPts val="0"/>
              </a:spcAft>
              <a:buNone/>
            </a:pPr>
            <a:endParaRPr lang="en" dirty="0"/>
          </a:p>
          <a:p>
            <a:pPr marL="0" lvl="0" indent="0">
              <a:buNone/>
            </a:pPr>
            <a:r>
              <a:rPr lang="pt-PT" dirty="0" err="1"/>
              <a:t>Although</a:t>
            </a:r>
            <a:r>
              <a:rPr lang="pt-PT" dirty="0"/>
              <a:t> </a:t>
            </a:r>
            <a:r>
              <a:rPr lang="pt-PT" dirty="0" err="1"/>
              <a:t>the</a:t>
            </a:r>
            <a:r>
              <a:rPr lang="pt-PT" dirty="0"/>
              <a:t> </a:t>
            </a:r>
            <a:r>
              <a:rPr lang="pt-PT" dirty="0" err="1"/>
              <a:t>smallest</a:t>
            </a:r>
            <a:r>
              <a:rPr lang="pt-PT" dirty="0"/>
              <a:t> </a:t>
            </a:r>
            <a:r>
              <a:rPr lang="pt-PT" dirty="0" err="1"/>
              <a:t>week</a:t>
            </a:r>
            <a:r>
              <a:rPr lang="pt-PT" dirty="0"/>
              <a:t> </a:t>
            </a:r>
            <a:r>
              <a:rPr lang="pt-PT" dirty="0" err="1"/>
              <a:t>was</a:t>
            </a:r>
            <a:r>
              <a:rPr lang="pt-PT" dirty="0"/>
              <a:t> </a:t>
            </a:r>
            <a:r>
              <a:rPr lang="pt-PT" dirty="0" err="1"/>
              <a:t>the</a:t>
            </a:r>
            <a:r>
              <a:rPr lang="pt-PT" dirty="0"/>
              <a:t> </a:t>
            </a:r>
            <a:r>
              <a:rPr lang="pt-PT" dirty="0" err="1"/>
              <a:t>one</a:t>
            </a:r>
            <a:r>
              <a:rPr lang="pt-PT" dirty="0"/>
              <a:t> </a:t>
            </a:r>
            <a:r>
              <a:rPr lang="pt-PT" dirty="0" err="1"/>
              <a:t>from</a:t>
            </a:r>
            <a:r>
              <a:rPr lang="pt-PT" dirty="0"/>
              <a:t> 29 Mar 2020 to 31 Mar 2020, </a:t>
            </a:r>
            <a:r>
              <a:rPr lang="pt-PT" dirty="0" err="1"/>
              <a:t>this</a:t>
            </a:r>
            <a:r>
              <a:rPr lang="pt-PT" dirty="0"/>
              <a:t> </a:t>
            </a:r>
            <a:r>
              <a:rPr lang="pt-PT" dirty="0" err="1"/>
              <a:t>was</a:t>
            </a:r>
            <a:r>
              <a:rPr lang="pt-PT" dirty="0"/>
              <a:t> </a:t>
            </a:r>
            <a:r>
              <a:rPr lang="pt-PT" dirty="0" err="1"/>
              <a:t>due</a:t>
            </a:r>
            <a:r>
              <a:rPr lang="pt-PT" dirty="0"/>
              <a:t> to </a:t>
            </a:r>
            <a:r>
              <a:rPr lang="pt-PT" dirty="0" err="1"/>
              <a:t>it</a:t>
            </a:r>
            <a:r>
              <a:rPr lang="pt-PT" dirty="0"/>
              <a:t> </a:t>
            </a:r>
            <a:r>
              <a:rPr lang="pt-PT" dirty="0" err="1"/>
              <a:t>only</a:t>
            </a:r>
            <a:r>
              <a:rPr lang="pt-PT" dirty="0"/>
              <a:t> </a:t>
            </a:r>
            <a:r>
              <a:rPr lang="pt-PT" dirty="0" err="1"/>
              <a:t>showing</a:t>
            </a:r>
            <a:r>
              <a:rPr lang="pt-PT" dirty="0"/>
              <a:t> </a:t>
            </a:r>
            <a:r>
              <a:rPr lang="pt-PT" dirty="0" err="1"/>
              <a:t>two</a:t>
            </a:r>
            <a:r>
              <a:rPr lang="pt-PT" dirty="0"/>
              <a:t> </a:t>
            </a:r>
            <a:r>
              <a:rPr lang="pt-PT" dirty="0" err="1"/>
              <a:t>days</a:t>
            </a:r>
            <a:r>
              <a:rPr lang="pt-PT" dirty="0"/>
              <a:t>. </a:t>
            </a:r>
          </a:p>
          <a:p>
            <a:pPr marL="0" lvl="0" indent="0">
              <a:buNone/>
            </a:pPr>
            <a:r>
              <a:rPr lang="pt-PT" dirty="0" err="1"/>
              <a:t>The</a:t>
            </a:r>
            <a:r>
              <a:rPr lang="pt-PT" dirty="0"/>
              <a:t> </a:t>
            </a:r>
            <a:r>
              <a:rPr lang="pt-PT" dirty="0" err="1"/>
              <a:t>first</a:t>
            </a:r>
            <a:r>
              <a:rPr lang="pt-PT" dirty="0"/>
              <a:t> </a:t>
            </a:r>
            <a:r>
              <a:rPr lang="pt-PT" dirty="0" err="1"/>
              <a:t>week</a:t>
            </a:r>
            <a:r>
              <a:rPr lang="pt-PT" dirty="0"/>
              <a:t> </a:t>
            </a:r>
            <a:r>
              <a:rPr lang="pt-PT" dirty="0" err="1"/>
              <a:t>is</a:t>
            </a:r>
            <a:r>
              <a:rPr lang="pt-PT" dirty="0"/>
              <a:t> </a:t>
            </a:r>
            <a:r>
              <a:rPr lang="pt-PT" dirty="0" err="1"/>
              <a:t>also</a:t>
            </a:r>
            <a:r>
              <a:rPr lang="pt-PT" dirty="0"/>
              <a:t> </a:t>
            </a:r>
            <a:r>
              <a:rPr lang="pt-PT" dirty="0" err="1"/>
              <a:t>incomplete</a:t>
            </a:r>
            <a:r>
              <a:rPr lang="pt-PT" dirty="0"/>
              <a:t>. </a:t>
            </a:r>
          </a:p>
          <a:p>
            <a:pPr marL="0" lvl="0" indent="0">
              <a:buNone/>
            </a:pPr>
            <a:endParaRPr lang="pt-PT" dirty="0"/>
          </a:p>
          <a:p>
            <a:pPr marL="0" lvl="0" indent="0">
              <a:buNone/>
            </a:pPr>
            <a:r>
              <a:rPr lang="pt-PT" dirty="0" err="1"/>
              <a:t>While</a:t>
            </a:r>
            <a:r>
              <a:rPr lang="pt-PT" dirty="0"/>
              <a:t> </a:t>
            </a:r>
            <a:r>
              <a:rPr lang="pt-PT" dirty="0" err="1"/>
              <a:t>I’m</a:t>
            </a:r>
            <a:r>
              <a:rPr lang="pt-PT" dirty="0"/>
              <a:t> </a:t>
            </a:r>
            <a:r>
              <a:rPr lang="pt-PT" dirty="0" err="1"/>
              <a:t>not</a:t>
            </a:r>
            <a:r>
              <a:rPr lang="pt-PT" dirty="0"/>
              <a:t> </a:t>
            </a:r>
            <a:r>
              <a:rPr lang="pt-PT" dirty="0" err="1"/>
              <a:t>certain</a:t>
            </a:r>
            <a:r>
              <a:rPr lang="pt-PT" dirty="0"/>
              <a:t> </a:t>
            </a:r>
            <a:r>
              <a:rPr lang="pt-PT" dirty="0" err="1"/>
              <a:t>of</a:t>
            </a:r>
            <a:r>
              <a:rPr lang="pt-PT" dirty="0"/>
              <a:t> </a:t>
            </a:r>
            <a:r>
              <a:rPr lang="pt-PT" dirty="0" err="1"/>
              <a:t>why</a:t>
            </a:r>
            <a:r>
              <a:rPr lang="pt-PT" dirty="0"/>
              <a:t> </a:t>
            </a:r>
            <a:r>
              <a:rPr lang="pt-PT" dirty="0" err="1"/>
              <a:t>this</a:t>
            </a:r>
            <a:r>
              <a:rPr lang="pt-PT" dirty="0"/>
              <a:t> </a:t>
            </a:r>
            <a:r>
              <a:rPr lang="pt-PT" dirty="0" err="1"/>
              <a:t>decrease</a:t>
            </a:r>
            <a:r>
              <a:rPr lang="pt-PT" dirty="0"/>
              <a:t> </a:t>
            </a:r>
            <a:r>
              <a:rPr lang="pt-PT" dirty="0" err="1"/>
              <a:t>happened</a:t>
            </a:r>
            <a:r>
              <a:rPr lang="pt-PT" dirty="0"/>
              <a:t>, </a:t>
            </a:r>
            <a:r>
              <a:rPr lang="pt-PT" dirty="0" err="1"/>
              <a:t>something</a:t>
            </a:r>
            <a:r>
              <a:rPr lang="pt-PT" dirty="0"/>
              <a:t> </a:t>
            </a:r>
            <a:r>
              <a:rPr lang="pt-PT" dirty="0" err="1"/>
              <a:t>that</a:t>
            </a:r>
            <a:r>
              <a:rPr lang="pt-PT" dirty="0"/>
              <a:t> can </a:t>
            </a:r>
            <a:r>
              <a:rPr lang="pt-PT" dirty="0" err="1"/>
              <a:t>be</a:t>
            </a:r>
            <a:r>
              <a:rPr lang="pt-PT" dirty="0"/>
              <a:t> </a:t>
            </a:r>
            <a:r>
              <a:rPr lang="pt-PT" dirty="0" err="1"/>
              <a:t>seen</a:t>
            </a:r>
            <a:r>
              <a:rPr lang="pt-PT" dirty="0"/>
              <a:t> </a:t>
            </a:r>
            <a:r>
              <a:rPr lang="pt-PT" dirty="0" err="1"/>
              <a:t>when</a:t>
            </a:r>
            <a:r>
              <a:rPr lang="pt-PT" dirty="0"/>
              <a:t> </a:t>
            </a:r>
            <a:r>
              <a:rPr lang="pt-PT" dirty="0" err="1"/>
              <a:t>comparing</a:t>
            </a:r>
            <a:r>
              <a:rPr lang="pt-PT" dirty="0"/>
              <a:t>  15 Mar 2020 – 21 Mar 2020 to </a:t>
            </a:r>
            <a:r>
              <a:rPr lang="pt-PT" dirty="0" err="1"/>
              <a:t>the</a:t>
            </a:r>
            <a:r>
              <a:rPr lang="pt-PT" dirty="0"/>
              <a:t> </a:t>
            </a:r>
            <a:r>
              <a:rPr lang="pt-PT" dirty="0" err="1"/>
              <a:t>previous</a:t>
            </a:r>
            <a:r>
              <a:rPr lang="pt-PT" dirty="0"/>
              <a:t>, </a:t>
            </a:r>
            <a:r>
              <a:rPr lang="pt-PT" dirty="0" err="1"/>
              <a:t>is</a:t>
            </a:r>
            <a:r>
              <a:rPr lang="pt-PT" dirty="0"/>
              <a:t> </a:t>
            </a:r>
            <a:r>
              <a:rPr lang="pt-PT" dirty="0" err="1"/>
              <a:t>that</a:t>
            </a:r>
            <a:r>
              <a:rPr lang="pt-PT" dirty="0"/>
              <a:t> </a:t>
            </a:r>
            <a:r>
              <a:rPr lang="pt-PT" dirty="0" err="1"/>
              <a:t>the</a:t>
            </a:r>
            <a:r>
              <a:rPr lang="pt-PT" dirty="0"/>
              <a:t> U.S </a:t>
            </a:r>
            <a:r>
              <a:rPr lang="pt-PT" dirty="0" err="1"/>
              <a:t>users</a:t>
            </a:r>
            <a:r>
              <a:rPr lang="pt-PT" dirty="0"/>
              <a:t> </a:t>
            </a:r>
            <a:r>
              <a:rPr lang="pt-PT" dirty="0" err="1"/>
              <a:t>dropped</a:t>
            </a:r>
            <a:r>
              <a:rPr lang="pt-PT" dirty="0"/>
              <a:t> </a:t>
            </a:r>
            <a:r>
              <a:rPr lang="pt-PT" dirty="0" err="1"/>
              <a:t>by</a:t>
            </a:r>
            <a:r>
              <a:rPr lang="pt-PT" dirty="0"/>
              <a:t> 25% </a:t>
            </a:r>
            <a:r>
              <a:rPr lang="pt-PT" dirty="0" err="1"/>
              <a:t>and</a:t>
            </a:r>
            <a:r>
              <a:rPr lang="pt-PT" dirty="0"/>
              <a:t> </a:t>
            </a:r>
            <a:r>
              <a:rPr lang="pt-PT" dirty="0" err="1"/>
              <a:t>although</a:t>
            </a:r>
            <a:r>
              <a:rPr lang="pt-PT" dirty="0"/>
              <a:t> </a:t>
            </a:r>
            <a:r>
              <a:rPr lang="pt-PT" dirty="0" err="1"/>
              <a:t>there</a:t>
            </a:r>
            <a:r>
              <a:rPr lang="pt-PT" dirty="0"/>
              <a:t> </a:t>
            </a:r>
            <a:r>
              <a:rPr lang="pt-PT" dirty="0" err="1"/>
              <a:t>were</a:t>
            </a:r>
            <a:r>
              <a:rPr lang="pt-PT" dirty="0"/>
              <a:t> countries </a:t>
            </a:r>
            <a:r>
              <a:rPr lang="pt-PT" dirty="0" err="1"/>
              <a:t>with</a:t>
            </a:r>
            <a:r>
              <a:rPr lang="pt-PT" dirty="0"/>
              <a:t> </a:t>
            </a:r>
            <a:r>
              <a:rPr lang="pt-PT" dirty="0" err="1"/>
              <a:t>bigger</a:t>
            </a:r>
            <a:r>
              <a:rPr lang="pt-PT" dirty="0"/>
              <a:t> </a:t>
            </a:r>
            <a:r>
              <a:rPr lang="pt-PT" dirty="0" err="1"/>
              <a:t>percentage</a:t>
            </a:r>
            <a:r>
              <a:rPr lang="pt-PT" dirty="0"/>
              <a:t> </a:t>
            </a:r>
            <a:r>
              <a:rPr lang="pt-PT" dirty="0" err="1"/>
              <a:t>drops</a:t>
            </a:r>
            <a:r>
              <a:rPr lang="pt-PT" dirty="0"/>
              <a:t> </a:t>
            </a:r>
            <a:r>
              <a:rPr lang="pt-PT" dirty="0" err="1"/>
              <a:t>or</a:t>
            </a:r>
            <a:r>
              <a:rPr lang="pt-PT" dirty="0"/>
              <a:t> </a:t>
            </a:r>
            <a:r>
              <a:rPr lang="pt-PT" dirty="0" err="1"/>
              <a:t>increases</a:t>
            </a:r>
            <a:r>
              <a:rPr lang="pt-PT" dirty="0"/>
              <a:t>, </a:t>
            </a:r>
            <a:r>
              <a:rPr lang="pt-PT" dirty="0" err="1"/>
              <a:t>the</a:t>
            </a:r>
            <a:r>
              <a:rPr lang="pt-PT" dirty="0"/>
              <a:t> United </a:t>
            </a:r>
            <a:r>
              <a:rPr lang="pt-PT" dirty="0" err="1"/>
              <a:t>States</a:t>
            </a:r>
            <a:r>
              <a:rPr lang="pt-PT" dirty="0"/>
              <a:t> </a:t>
            </a:r>
            <a:r>
              <a:rPr lang="pt-PT" dirty="0" err="1"/>
              <a:t>is</a:t>
            </a:r>
            <a:r>
              <a:rPr lang="pt-PT" dirty="0"/>
              <a:t> </a:t>
            </a:r>
            <a:r>
              <a:rPr lang="pt-PT" dirty="0" err="1"/>
              <a:t>the</a:t>
            </a:r>
            <a:r>
              <a:rPr lang="pt-PT" dirty="0"/>
              <a:t> </a:t>
            </a:r>
            <a:r>
              <a:rPr lang="pt-PT" dirty="0" err="1"/>
              <a:t>biggest</a:t>
            </a:r>
            <a:r>
              <a:rPr lang="pt-PT" dirty="0"/>
              <a:t> </a:t>
            </a:r>
            <a:r>
              <a:rPr lang="pt-PT" dirty="0" err="1"/>
              <a:t>contributor</a:t>
            </a:r>
            <a:r>
              <a:rPr lang="pt-PT" dirty="0"/>
              <a:t> in </a:t>
            </a:r>
            <a:r>
              <a:rPr lang="pt-PT" dirty="0" err="1"/>
              <a:t>terms</a:t>
            </a:r>
            <a:r>
              <a:rPr lang="pt-PT" dirty="0"/>
              <a:t> </a:t>
            </a:r>
            <a:r>
              <a:rPr lang="pt-PT" dirty="0" err="1"/>
              <a:t>of</a:t>
            </a:r>
            <a:r>
              <a:rPr lang="pt-PT" dirty="0"/>
              <a:t> </a:t>
            </a:r>
            <a:r>
              <a:rPr lang="pt-PT" dirty="0" err="1"/>
              <a:t>absolute</a:t>
            </a:r>
            <a:r>
              <a:rPr lang="pt-PT" dirty="0"/>
              <a:t> </a:t>
            </a:r>
            <a:r>
              <a:rPr lang="pt-PT" dirty="0" err="1"/>
              <a:t>values</a:t>
            </a:r>
            <a:r>
              <a:rPr lang="pt-PT" dirty="0"/>
              <a:t>.</a:t>
            </a:r>
          </a:p>
          <a:p>
            <a:pPr marL="0" lvl="0" indent="0" algn="l" rtl="0">
              <a:spcBef>
                <a:spcPts val="0"/>
              </a:spcBef>
              <a:spcAft>
                <a:spcPts val="0"/>
              </a:spcAft>
              <a:buNone/>
            </a:pPr>
            <a:endParaRPr dirty="0"/>
          </a:p>
          <a:p>
            <a:pPr marL="0" lvl="0" indent="0" algn="l" rtl="0">
              <a:spcBef>
                <a:spcPts val="1600"/>
              </a:spcBef>
              <a:spcAft>
                <a:spcPts val="1600"/>
              </a:spcAft>
              <a:buNone/>
            </a:pPr>
            <a:endParaRPr dirty="0"/>
          </a:p>
        </p:txBody>
      </p:sp>
      <p:sp>
        <p:nvSpPr>
          <p:cNvPr id="226" name="Google Shape;226;p49"/>
          <p:cNvSpPr txBox="1"/>
          <p:nvPr/>
        </p:nvSpPr>
        <p:spPr>
          <a:xfrm>
            <a:off x="276225" y="9496425"/>
            <a:ext cx="7343700" cy="4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4CCC5204-89AF-448B-822B-07FC17C5C2A3}"/>
              </a:ext>
            </a:extLst>
          </p:cNvPr>
          <p:cNvPicPr>
            <a:picLocks noChangeAspect="1"/>
          </p:cNvPicPr>
          <p:nvPr/>
        </p:nvPicPr>
        <p:blipFill>
          <a:blip r:embed="rId3"/>
          <a:stretch>
            <a:fillRect/>
          </a:stretch>
        </p:blipFill>
        <p:spPr>
          <a:xfrm>
            <a:off x="441568" y="6290426"/>
            <a:ext cx="6889264" cy="3104674"/>
          </a:xfrm>
          <a:prstGeom prst="rect">
            <a:avLst/>
          </a:prstGeom>
          <a:ln>
            <a:solidFill>
              <a:schemeClr val="bg1">
                <a:lumMod val="85000"/>
              </a:schemeClr>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5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Standard Display: Acquisition</a:t>
            </a:r>
            <a:endParaRPr sz="2400">
              <a:solidFill>
                <a:srgbClr val="02B3E4"/>
              </a:solidFill>
              <a:latin typeface="Open Sans Light"/>
              <a:ea typeface="Open Sans Light"/>
              <a:cs typeface="Open Sans Light"/>
              <a:sym typeface="Open Sans Light"/>
            </a:endParaRPr>
          </a:p>
        </p:txBody>
      </p:sp>
      <p:sp>
        <p:nvSpPr>
          <p:cNvPr id="232" name="Google Shape;232;p50"/>
          <p:cNvSpPr txBox="1">
            <a:spLocks noGrp="1"/>
          </p:cNvSpPr>
          <p:nvPr>
            <p:ph type="body" idx="1"/>
          </p:nvPr>
        </p:nvSpPr>
        <p:spPr>
          <a:xfrm>
            <a:off x="264950" y="1913675"/>
            <a:ext cx="7242600" cy="15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By creating a </a:t>
            </a:r>
            <a:r>
              <a:rPr lang="en-US" dirty="0"/>
              <a:t>creating a regex filter to exclude “</a:t>
            </a:r>
            <a:r>
              <a:rPr lang="en-US" dirty="0" err="1"/>
              <a:t>Direct|Other</a:t>
            </a:r>
            <a:r>
              <a:rPr lang="en-US" dirty="0"/>
              <a:t>”, it can be clearly seen that the biggest Bounce Rate was on Display (76.54%) and the lowest was Paid Search (30.86%).</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highest E-commerce Conversion Rate was on Paid Search, while the lowest was on Display and Affiliates.</a:t>
            </a:r>
            <a:endParaRPr dirty="0"/>
          </a:p>
          <a:p>
            <a:pPr marL="0" lvl="0" indent="0" algn="l" rtl="0">
              <a:spcBef>
                <a:spcPts val="1600"/>
              </a:spcBef>
              <a:spcAft>
                <a:spcPts val="1600"/>
              </a:spcAft>
              <a:buNone/>
            </a:pPr>
            <a:endParaRPr dirty="0"/>
          </a:p>
        </p:txBody>
      </p:sp>
      <p:pic>
        <p:nvPicPr>
          <p:cNvPr id="3" name="Picture 2">
            <a:extLst>
              <a:ext uri="{FF2B5EF4-FFF2-40B4-BE49-F238E27FC236}">
                <a16:creationId xmlns:a16="http://schemas.microsoft.com/office/drawing/2014/main" id="{F89C71C3-01FC-4FF2-9004-4D56A58A67CE}"/>
              </a:ext>
            </a:extLst>
          </p:cNvPr>
          <p:cNvPicPr>
            <a:picLocks noChangeAspect="1"/>
          </p:cNvPicPr>
          <p:nvPr/>
        </p:nvPicPr>
        <p:blipFill>
          <a:blip r:embed="rId3"/>
          <a:stretch>
            <a:fillRect/>
          </a:stretch>
        </p:blipFill>
        <p:spPr>
          <a:xfrm>
            <a:off x="206064" y="4197122"/>
            <a:ext cx="7352999" cy="1854498"/>
          </a:xfrm>
          <a:prstGeom prst="rect">
            <a:avLst/>
          </a:prstGeom>
          <a:ln>
            <a:solidFill>
              <a:schemeClr val="bg1">
                <a:lumMod val="85000"/>
              </a:schemeClr>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Standard Display: Acquisition</a:t>
            </a:r>
            <a:endParaRPr sz="2400">
              <a:solidFill>
                <a:srgbClr val="02B3E4"/>
              </a:solidFill>
              <a:latin typeface="Open Sans Light"/>
              <a:ea typeface="Open Sans Light"/>
              <a:cs typeface="Open Sans Light"/>
              <a:sym typeface="Open Sans Light"/>
            </a:endParaRPr>
          </a:p>
        </p:txBody>
      </p:sp>
      <p:sp>
        <p:nvSpPr>
          <p:cNvPr id="241" name="Google Shape;241;p51"/>
          <p:cNvSpPr txBox="1">
            <a:spLocks noGrp="1"/>
          </p:cNvSpPr>
          <p:nvPr>
            <p:ph type="body" idx="1"/>
          </p:nvPr>
        </p:nvSpPr>
        <p:spPr>
          <a:xfrm>
            <a:off x="264950" y="1913675"/>
            <a:ext cx="7242600" cy="78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Bounce Rate corresponds to a percentage </a:t>
            </a:r>
            <a:r>
              <a:rPr lang="en-US" dirty="0"/>
              <a:t>of sessions in which there wasn’t any interaction with any other page after the landing page.</a:t>
            </a:r>
          </a:p>
          <a:p>
            <a:pPr marL="0" lvl="0" indent="0" algn="l" rtl="0">
              <a:spcBef>
                <a:spcPts val="0"/>
              </a:spcBef>
              <a:spcAft>
                <a:spcPts val="0"/>
              </a:spcAft>
              <a:buClr>
                <a:schemeClr val="dk1"/>
              </a:buClr>
              <a:buSzPts val="1100"/>
              <a:buFont typeface="Arial"/>
              <a:buNone/>
            </a:pPr>
            <a:r>
              <a:rPr lang="en-US" dirty="0"/>
              <a:t>Since the user doesn’t click in any page, or leaves the page, it is considered a bounce.</a:t>
            </a:r>
            <a:endParaRPr dirty="0"/>
          </a:p>
          <a:p>
            <a:pPr marL="0" lvl="0" indent="0" algn="l" rtl="0">
              <a:spcBef>
                <a:spcPts val="1600"/>
              </a:spcBef>
              <a:spcAft>
                <a:spcPts val="0"/>
              </a:spcAft>
              <a:buNone/>
            </a:pPr>
            <a:r>
              <a:rPr lang="pt-PT" dirty="0" err="1"/>
              <a:t>The</a:t>
            </a:r>
            <a:r>
              <a:rPr lang="pt-PT" dirty="0"/>
              <a:t> E-commerce </a:t>
            </a:r>
            <a:r>
              <a:rPr lang="pt-PT" dirty="0" err="1"/>
              <a:t>Conversion</a:t>
            </a:r>
            <a:r>
              <a:rPr lang="pt-PT" dirty="0"/>
              <a:t> rate compares </a:t>
            </a:r>
            <a:r>
              <a:rPr lang="pt-PT" dirty="0" err="1"/>
              <a:t>the</a:t>
            </a:r>
            <a:r>
              <a:rPr lang="pt-PT" dirty="0"/>
              <a:t> </a:t>
            </a:r>
            <a:r>
              <a:rPr lang="pt-PT" dirty="0" err="1"/>
              <a:t>Transactions</a:t>
            </a:r>
            <a:r>
              <a:rPr lang="pt-PT" dirty="0"/>
              <a:t> </a:t>
            </a:r>
            <a:r>
              <a:rPr lang="pt-PT" dirty="0" err="1"/>
              <a:t>with</a:t>
            </a:r>
            <a:r>
              <a:rPr lang="pt-PT" dirty="0"/>
              <a:t> </a:t>
            </a:r>
            <a:r>
              <a:rPr lang="pt-PT" dirty="0" err="1"/>
              <a:t>the</a:t>
            </a:r>
            <a:r>
              <a:rPr lang="pt-PT" dirty="0"/>
              <a:t> </a:t>
            </a:r>
            <a:r>
              <a:rPr lang="pt-PT" dirty="0" err="1"/>
              <a:t>Sessions</a:t>
            </a:r>
            <a:r>
              <a:rPr lang="pt-PT" dirty="0"/>
              <a:t>, can </a:t>
            </a:r>
            <a:r>
              <a:rPr lang="pt-PT" dirty="0" err="1"/>
              <a:t>be</a:t>
            </a:r>
            <a:r>
              <a:rPr lang="pt-PT" dirty="0"/>
              <a:t> </a:t>
            </a:r>
            <a:r>
              <a:rPr lang="pt-PT" dirty="0" err="1"/>
              <a:t>derived</a:t>
            </a:r>
            <a:r>
              <a:rPr lang="pt-PT" dirty="0"/>
              <a:t> </a:t>
            </a:r>
            <a:r>
              <a:rPr lang="pt-PT" dirty="0" err="1"/>
              <a:t>using</a:t>
            </a:r>
            <a:r>
              <a:rPr lang="pt-PT" dirty="0"/>
              <a:t> </a:t>
            </a:r>
            <a:r>
              <a:rPr lang="pt-PT" dirty="0" err="1"/>
              <a:t>the</a:t>
            </a:r>
            <a:r>
              <a:rPr lang="pt-PT" dirty="0"/>
              <a:t> formula “</a:t>
            </a:r>
            <a:r>
              <a:rPr lang="pt-PT" dirty="0" err="1"/>
              <a:t>Sessions</a:t>
            </a:r>
            <a:r>
              <a:rPr lang="pt-PT" dirty="0"/>
              <a:t>/</a:t>
            </a:r>
            <a:r>
              <a:rPr lang="pt-PT" dirty="0" err="1"/>
              <a:t>Transactions</a:t>
            </a:r>
            <a:r>
              <a:rPr lang="pt-PT" dirty="0"/>
              <a:t>”</a:t>
            </a:r>
            <a:endParaRPr dirty="0"/>
          </a:p>
          <a:p>
            <a:pPr marL="0" lvl="0" indent="0" algn="l" rtl="0">
              <a:spcBef>
                <a:spcPts val="1600"/>
              </a:spcBef>
              <a:spcAft>
                <a:spcPts val="1600"/>
              </a:spcAft>
              <a:buNone/>
            </a:pPr>
            <a:endParaRPr dirty="0"/>
          </a:p>
        </p:txBody>
      </p:sp>
      <p:sp>
        <p:nvSpPr>
          <p:cNvPr id="242" name="Google Shape;242;p51"/>
          <p:cNvSpPr txBox="1"/>
          <p:nvPr/>
        </p:nvSpPr>
        <p:spPr>
          <a:xfrm>
            <a:off x="276225" y="9496425"/>
            <a:ext cx="7343700" cy="4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52"/>
          <p:cNvSpPr txBox="1">
            <a:spLocks noGrp="1"/>
          </p:cNvSpPr>
          <p:nvPr>
            <p:ph type="title"/>
          </p:nvPr>
        </p:nvSpPr>
        <p:spPr>
          <a:xfrm>
            <a:off x="264950" y="742700"/>
            <a:ext cx="7242600" cy="13794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Percentage Display: Conversion</a:t>
            </a:r>
            <a:endParaRPr sz="2400">
              <a:solidFill>
                <a:srgbClr val="02B3E4"/>
              </a:solidFill>
              <a:latin typeface="Open Sans Light"/>
              <a:ea typeface="Open Sans Light"/>
              <a:cs typeface="Open Sans Light"/>
              <a:sym typeface="Open Sans Light"/>
            </a:endParaRPr>
          </a:p>
        </p:txBody>
      </p:sp>
      <p:sp>
        <p:nvSpPr>
          <p:cNvPr id="248" name="Google Shape;248;p52"/>
          <p:cNvSpPr txBox="1">
            <a:spLocks noGrp="1"/>
          </p:cNvSpPr>
          <p:nvPr>
            <p:ph type="body" idx="1"/>
          </p:nvPr>
        </p:nvSpPr>
        <p:spPr>
          <a:xfrm>
            <a:off x="264950" y="1913674"/>
            <a:ext cx="7242600" cy="3572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be able to answer this question, the segment was changed to the system segment “New Users”.</a:t>
            </a:r>
          </a:p>
          <a:p>
            <a:pPr marL="0" lvl="0" indent="0" algn="l" rtl="0">
              <a:spcBef>
                <a:spcPts val="0"/>
              </a:spcBef>
              <a:spcAft>
                <a:spcPts val="0"/>
              </a:spcAft>
              <a:buNone/>
            </a:pPr>
            <a:r>
              <a:rPr lang="en" dirty="0"/>
              <a:t>The product Category which contributed </a:t>
            </a:r>
            <a:r>
              <a:rPr lang="en-US" dirty="0"/>
              <a:t>the most to the Unique Purchases was “Apparel”.</a:t>
            </a:r>
          </a:p>
          <a:p>
            <a:pPr marL="0" lvl="0" indent="0" algn="l" rtl="0">
              <a:spcBef>
                <a:spcPts val="0"/>
              </a:spcBef>
              <a:spcAft>
                <a:spcPts val="0"/>
              </a:spcAft>
              <a:buNone/>
            </a:pPr>
            <a:r>
              <a:rPr lang="en-US" dirty="0"/>
              <a:t>The product Category responsible for the largest percentage of revenue for New Users was also Apparel, with 55.1%.</a:t>
            </a:r>
            <a:endParaRPr dirty="0"/>
          </a:p>
          <a:p>
            <a:pPr marL="0" lvl="0" indent="0" algn="l" rtl="0">
              <a:spcBef>
                <a:spcPts val="1600"/>
              </a:spcBef>
              <a:spcAft>
                <a:spcPts val="0"/>
              </a:spcAft>
              <a:buNone/>
            </a:pPr>
            <a:endParaRPr i="1" dirty="0"/>
          </a:p>
          <a:p>
            <a:pPr marL="0" lvl="0" indent="0" algn="l" rtl="0">
              <a:spcBef>
                <a:spcPts val="1600"/>
              </a:spcBef>
              <a:spcAft>
                <a:spcPts val="1600"/>
              </a:spcAft>
              <a:buNone/>
            </a:pPr>
            <a:endParaRPr dirty="0"/>
          </a:p>
        </p:txBody>
      </p:sp>
      <p:pic>
        <p:nvPicPr>
          <p:cNvPr id="3" name="Picture 2">
            <a:extLst>
              <a:ext uri="{FF2B5EF4-FFF2-40B4-BE49-F238E27FC236}">
                <a16:creationId xmlns:a16="http://schemas.microsoft.com/office/drawing/2014/main" id="{9CCD96EC-8C4E-414E-BF37-C77D04A202BC}"/>
              </a:ext>
            </a:extLst>
          </p:cNvPr>
          <p:cNvPicPr>
            <a:picLocks noChangeAspect="1"/>
          </p:cNvPicPr>
          <p:nvPr/>
        </p:nvPicPr>
        <p:blipFill>
          <a:blip r:embed="rId3"/>
          <a:stretch>
            <a:fillRect/>
          </a:stretch>
        </p:blipFill>
        <p:spPr>
          <a:xfrm>
            <a:off x="219407" y="5254740"/>
            <a:ext cx="7333586" cy="2189249"/>
          </a:xfrm>
          <a:prstGeom prst="rect">
            <a:avLst/>
          </a:prstGeom>
          <a:ln>
            <a:solidFill>
              <a:schemeClr val="bg1">
                <a:lumMod val="85000"/>
              </a:schemeClr>
            </a:solidFill>
          </a:ln>
        </p:spPr>
      </p:pic>
      <p:pic>
        <p:nvPicPr>
          <p:cNvPr id="4" name="Picture 3">
            <a:extLst>
              <a:ext uri="{FF2B5EF4-FFF2-40B4-BE49-F238E27FC236}">
                <a16:creationId xmlns:a16="http://schemas.microsoft.com/office/drawing/2014/main" id="{2FB24B4B-2710-4BE1-A074-755A3AFD492B}"/>
              </a:ext>
            </a:extLst>
          </p:cNvPr>
          <p:cNvPicPr>
            <a:picLocks noChangeAspect="1"/>
          </p:cNvPicPr>
          <p:nvPr/>
        </p:nvPicPr>
        <p:blipFill>
          <a:blip r:embed="rId4"/>
          <a:stretch>
            <a:fillRect/>
          </a:stretch>
        </p:blipFill>
        <p:spPr>
          <a:xfrm>
            <a:off x="219407" y="7946106"/>
            <a:ext cx="7333586" cy="1663199"/>
          </a:xfrm>
          <a:prstGeom prst="rect">
            <a:avLst/>
          </a:prstGeom>
          <a:ln>
            <a:solidFill>
              <a:schemeClr val="bg1">
                <a:lumMod val="85000"/>
              </a:schemeClr>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53"/>
          <p:cNvSpPr txBox="1">
            <a:spLocks noGrp="1"/>
          </p:cNvSpPr>
          <p:nvPr>
            <p:ph type="title"/>
          </p:nvPr>
        </p:nvSpPr>
        <p:spPr>
          <a:xfrm>
            <a:off x="264950" y="742700"/>
            <a:ext cx="7242600" cy="13794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a:solidFill>
                  <a:srgbClr val="02B3E4"/>
                </a:solidFill>
                <a:latin typeface="Open Sans Light"/>
                <a:ea typeface="Open Sans Light"/>
                <a:cs typeface="Open Sans Light"/>
                <a:sym typeface="Open Sans Light"/>
              </a:rPr>
              <a:t>Comparison Display:  Behavior</a:t>
            </a:r>
            <a:endParaRPr sz="2400">
              <a:solidFill>
                <a:srgbClr val="02B3E4"/>
              </a:solidFill>
              <a:latin typeface="Open Sans Light"/>
              <a:ea typeface="Open Sans Light"/>
              <a:cs typeface="Open Sans Light"/>
              <a:sym typeface="Open Sans Light"/>
            </a:endParaRPr>
          </a:p>
        </p:txBody>
      </p:sp>
      <p:sp>
        <p:nvSpPr>
          <p:cNvPr id="257" name="Google Shape;257;p53"/>
          <p:cNvSpPr txBox="1">
            <a:spLocks noGrp="1"/>
          </p:cNvSpPr>
          <p:nvPr>
            <p:ph type="body" idx="1"/>
          </p:nvPr>
        </p:nvSpPr>
        <p:spPr>
          <a:xfrm>
            <a:off x="264950" y="1913675"/>
            <a:ext cx="7242600" cy="168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 the all users segment, there are three poorly </a:t>
            </a:r>
            <a:r>
              <a:rPr lang="en-US" dirty="0"/>
              <a:t>performing pages in terms of Page Load Time, when compared to the total average load time.</a:t>
            </a:r>
          </a:p>
          <a:p>
            <a:pPr marL="0" lvl="0" indent="0" algn="l" rtl="0">
              <a:spcBef>
                <a:spcPts val="0"/>
              </a:spcBef>
              <a:spcAft>
                <a:spcPts val="0"/>
              </a:spcAft>
              <a:buNone/>
            </a:pPr>
            <a:r>
              <a:rPr lang="en-US" dirty="0"/>
              <a:t>The three pages are “/store.html”, “/store.html/</a:t>
            </a:r>
            <a:r>
              <a:rPr lang="en-US" dirty="0" err="1"/>
              <a:t>quickview</a:t>
            </a:r>
            <a:r>
              <a:rPr lang="en-US" dirty="0"/>
              <a:t>” and “/</a:t>
            </a:r>
            <a:r>
              <a:rPr lang="en-US" dirty="0" err="1"/>
              <a:t>google+redesign</a:t>
            </a:r>
            <a:r>
              <a:rPr lang="en-US" dirty="0"/>
              <a:t>/</a:t>
            </a:r>
            <a:r>
              <a:rPr lang="en-US" dirty="0" err="1"/>
              <a:t>shop+by+brand</a:t>
            </a:r>
            <a:r>
              <a:rPr lang="en-US" dirty="0"/>
              <a:t>/</a:t>
            </a:r>
            <a:r>
              <a:rPr lang="en-US" dirty="0" err="1"/>
              <a:t>youtube</a:t>
            </a:r>
            <a:r>
              <a:rPr lang="en-US" dirty="0"/>
              <a:t>”.</a:t>
            </a:r>
          </a:p>
          <a:p>
            <a:pPr marL="0" lvl="0" indent="0" algn="l" rtl="0">
              <a:spcBef>
                <a:spcPts val="0"/>
              </a:spcBef>
              <a:spcAft>
                <a:spcPts val="0"/>
              </a:spcAft>
              <a:buNone/>
            </a:pPr>
            <a:r>
              <a:rPr lang="en-US" dirty="0"/>
              <a:t>The latter two are more than 40% below average.</a:t>
            </a:r>
          </a:p>
          <a:p>
            <a:pPr marL="0" lvl="0" indent="0" algn="l" rtl="0">
              <a:spcBef>
                <a:spcPts val="0"/>
              </a:spcBef>
              <a:spcAft>
                <a:spcPts val="0"/>
              </a:spcAft>
              <a:buNone/>
            </a:pPr>
            <a:endParaRPr i="1" dirty="0"/>
          </a:p>
          <a:p>
            <a:pPr marL="0" lvl="0" indent="0" algn="l" rtl="0">
              <a:spcBef>
                <a:spcPts val="1600"/>
              </a:spcBef>
              <a:spcAft>
                <a:spcPts val="1600"/>
              </a:spcAft>
              <a:buNone/>
            </a:pPr>
            <a:endParaRPr dirty="0"/>
          </a:p>
        </p:txBody>
      </p:sp>
      <p:pic>
        <p:nvPicPr>
          <p:cNvPr id="2" name="Picture 1">
            <a:extLst>
              <a:ext uri="{FF2B5EF4-FFF2-40B4-BE49-F238E27FC236}">
                <a16:creationId xmlns:a16="http://schemas.microsoft.com/office/drawing/2014/main" id="{5A05EF47-2956-4FDD-A319-6EA43685DCD6}"/>
              </a:ext>
            </a:extLst>
          </p:cNvPr>
          <p:cNvPicPr>
            <a:picLocks noChangeAspect="1"/>
          </p:cNvPicPr>
          <p:nvPr/>
        </p:nvPicPr>
        <p:blipFill>
          <a:blip r:embed="rId3"/>
          <a:stretch>
            <a:fillRect/>
          </a:stretch>
        </p:blipFill>
        <p:spPr>
          <a:xfrm>
            <a:off x="264900" y="4641425"/>
            <a:ext cx="7242600" cy="3632201"/>
          </a:xfrm>
          <a:prstGeom prst="rect">
            <a:avLst/>
          </a:prstGeom>
          <a:ln>
            <a:solidFill>
              <a:schemeClr val="bg1">
                <a:lumMod val="85000"/>
              </a:schemeClr>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4"/>
          <p:cNvSpPr txBox="1">
            <a:spLocks noGrp="1"/>
          </p:cNvSpPr>
          <p:nvPr>
            <p:ph type="title"/>
          </p:nvPr>
        </p:nvSpPr>
        <p:spPr>
          <a:xfrm>
            <a:off x="264950" y="742700"/>
            <a:ext cx="7242600" cy="13794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3200" dirty="0">
                <a:solidFill>
                  <a:srgbClr val="02B3E4"/>
                </a:solidFill>
                <a:latin typeface="Open Sans Light"/>
                <a:ea typeface="Open Sans Light"/>
                <a:cs typeface="Open Sans Light"/>
                <a:sym typeface="Open Sans Light"/>
              </a:rPr>
              <a:t>Percentage Display:  Audience</a:t>
            </a:r>
            <a:endParaRPr sz="2400" dirty="0">
              <a:solidFill>
                <a:srgbClr val="02B3E4"/>
              </a:solidFill>
              <a:latin typeface="Open Sans Light"/>
              <a:ea typeface="Open Sans Light"/>
              <a:cs typeface="Open Sans Light"/>
              <a:sym typeface="Open Sans Light"/>
            </a:endParaRPr>
          </a:p>
        </p:txBody>
      </p:sp>
      <p:sp>
        <p:nvSpPr>
          <p:cNvPr id="266" name="Google Shape;266;p54"/>
          <p:cNvSpPr txBox="1">
            <a:spLocks noGrp="1"/>
          </p:cNvSpPr>
          <p:nvPr>
            <p:ph type="body" idx="1"/>
          </p:nvPr>
        </p:nvSpPr>
        <p:spPr>
          <a:xfrm>
            <a:off x="264950" y="1913675"/>
            <a:ext cx="7242600" cy="226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dirty="0"/>
              <a:t>For </a:t>
            </a:r>
            <a:r>
              <a:rPr lang="pt-PT" dirty="0" err="1"/>
              <a:t>this</a:t>
            </a:r>
            <a:r>
              <a:rPr lang="pt-PT" dirty="0"/>
              <a:t> </a:t>
            </a:r>
            <a:r>
              <a:rPr lang="pt-PT" dirty="0" err="1"/>
              <a:t>comparison</a:t>
            </a:r>
            <a:r>
              <a:rPr lang="pt-PT" dirty="0"/>
              <a:t>, a </a:t>
            </a:r>
            <a:r>
              <a:rPr lang="pt-PT" dirty="0" err="1"/>
              <a:t>new</a:t>
            </a:r>
            <a:r>
              <a:rPr lang="pt-PT" dirty="0"/>
              <a:t> </a:t>
            </a:r>
            <a:r>
              <a:rPr lang="pt-PT" dirty="0" err="1"/>
              <a:t>segment</a:t>
            </a:r>
            <a:r>
              <a:rPr lang="pt-PT" dirty="0"/>
              <a:t> </a:t>
            </a:r>
            <a:r>
              <a:rPr lang="pt-PT" dirty="0" err="1"/>
              <a:t>was</a:t>
            </a:r>
            <a:r>
              <a:rPr lang="pt-PT" dirty="0"/>
              <a:t> </a:t>
            </a:r>
            <a:r>
              <a:rPr lang="pt-PT" dirty="0" err="1"/>
              <a:t>added</a:t>
            </a:r>
            <a:r>
              <a:rPr lang="pt-PT" dirty="0"/>
              <a:t> for </a:t>
            </a:r>
            <a:r>
              <a:rPr lang="pt-PT" dirty="0" err="1"/>
              <a:t>Paid</a:t>
            </a:r>
            <a:r>
              <a:rPr lang="pt-PT" dirty="0"/>
              <a:t> </a:t>
            </a:r>
            <a:r>
              <a:rPr lang="pt-PT" dirty="0" err="1"/>
              <a:t>Traffic</a:t>
            </a:r>
            <a:r>
              <a:rPr lang="pt-PT" dirty="0"/>
              <a:t>, </a:t>
            </a:r>
            <a:r>
              <a:rPr lang="pt-PT" dirty="0" err="1"/>
              <a:t>going</a:t>
            </a:r>
            <a:r>
              <a:rPr lang="pt-PT" dirty="0"/>
              <a:t> </a:t>
            </a:r>
            <a:r>
              <a:rPr lang="pt-PT" dirty="0" err="1"/>
              <a:t>into</a:t>
            </a:r>
            <a:r>
              <a:rPr lang="pt-PT" dirty="0"/>
              <a:t> </a:t>
            </a:r>
            <a:r>
              <a:rPr lang="pt-PT" dirty="0" err="1"/>
              <a:t>Audience</a:t>
            </a:r>
            <a:r>
              <a:rPr lang="pt-PT" dirty="0"/>
              <a:t> </a:t>
            </a:r>
            <a:r>
              <a:rPr lang="pt-PT" dirty="0">
                <a:sym typeface="Wingdings" panose="05000000000000000000" pitchFamily="2" charset="2"/>
              </a:rPr>
              <a:t> Mobile </a:t>
            </a:r>
            <a:r>
              <a:rPr lang="pt-PT" dirty="0" err="1">
                <a:sym typeface="Wingdings" panose="05000000000000000000" pitchFamily="2" charset="2"/>
              </a:rPr>
              <a:t>Overview</a:t>
            </a:r>
            <a:r>
              <a:rPr lang="pt-PT" dirty="0">
                <a:sym typeface="Wingdings" panose="05000000000000000000" pitchFamily="2" charset="2"/>
              </a:rPr>
              <a:t>.</a:t>
            </a:r>
          </a:p>
          <a:p>
            <a:pPr marL="0" lvl="0" indent="0" algn="l" rtl="0">
              <a:spcBef>
                <a:spcPts val="0"/>
              </a:spcBef>
              <a:spcAft>
                <a:spcPts val="0"/>
              </a:spcAft>
              <a:buNone/>
            </a:pPr>
            <a:r>
              <a:rPr lang="pt-PT" dirty="0">
                <a:sym typeface="Wingdings" panose="05000000000000000000" pitchFamily="2" charset="2"/>
              </a:rPr>
              <a:t>In </a:t>
            </a:r>
            <a:r>
              <a:rPr lang="pt-PT" dirty="0" err="1">
                <a:sym typeface="Wingdings" panose="05000000000000000000" pitchFamily="2" charset="2"/>
              </a:rPr>
              <a:t>there</a:t>
            </a:r>
            <a:r>
              <a:rPr lang="pt-PT" dirty="0">
                <a:sym typeface="Wingdings" panose="05000000000000000000" pitchFamily="2" charset="2"/>
              </a:rPr>
              <a:t>, </a:t>
            </a:r>
            <a:r>
              <a:rPr lang="pt-PT" dirty="0" err="1">
                <a:sym typeface="Wingdings" panose="05000000000000000000" pitchFamily="2" charset="2"/>
              </a:rPr>
              <a:t>the</a:t>
            </a:r>
            <a:r>
              <a:rPr lang="pt-PT" dirty="0">
                <a:sym typeface="Wingdings" panose="05000000000000000000" pitchFamily="2" charset="2"/>
              </a:rPr>
              <a:t> </a:t>
            </a:r>
            <a:r>
              <a:rPr lang="pt-PT" dirty="0" err="1">
                <a:sym typeface="Wingdings" panose="05000000000000000000" pitchFamily="2" charset="2"/>
              </a:rPr>
              <a:t>breakdown</a:t>
            </a:r>
            <a:r>
              <a:rPr lang="pt-PT" dirty="0">
                <a:sym typeface="Wingdings" panose="05000000000000000000" pitchFamily="2" charset="2"/>
              </a:rPr>
              <a:t> </a:t>
            </a:r>
            <a:r>
              <a:rPr lang="pt-PT" dirty="0" err="1">
                <a:sym typeface="Wingdings" panose="05000000000000000000" pitchFamily="2" charset="2"/>
              </a:rPr>
              <a:t>by</a:t>
            </a:r>
            <a:r>
              <a:rPr lang="pt-PT" dirty="0">
                <a:sym typeface="Wingdings" panose="05000000000000000000" pitchFamily="2" charset="2"/>
              </a:rPr>
              <a:t> </a:t>
            </a:r>
            <a:r>
              <a:rPr lang="pt-PT" dirty="0" err="1">
                <a:sym typeface="Wingdings" panose="05000000000000000000" pitchFamily="2" charset="2"/>
              </a:rPr>
              <a:t>the</a:t>
            </a:r>
            <a:r>
              <a:rPr lang="pt-PT" dirty="0">
                <a:sym typeface="Wingdings" panose="05000000000000000000" pitchFamily="2" charset="2"/>
              </a:rPr>
              <a:t> </a:t>
            </a:r>
            <a:r>
              <a:rPr lang="pt-PT" dirty="0" err="1">
                <a:sym typeface="Wingdings" panose="05000000000000000000" pitchFamily="2" charset="2"/>
              </a:rPr>
              <a:t>device</a:t>
            </a:r>
            <a:r>
              <a:rPr lang="pt-PT" dirty="0">
                <a:sym typeface="Wingdings" panose="05000000000000000000" pitchFamily="2" charset="2"/>
              </a:rPr>
              <a:t> </a:t>
            </a:r>
            <a:r>
              <a:rPr lang="pt-PT" dirty="0" err="1">
                <a:sym typeface="Wingdings" panose="05000000000000000000" pitchFamily="2" charset="2"/>
              </a:rPr>
              <a:t>category</a:t>
            </a:r>
            <a:r>
              <a:rPr lang="pt-PT" dirty="0">
                <a:sym typeface="Wingdings" panose="05000000000000000000" pitchFamily="2" charset="2"/>
              </a:rPr>
              <a:t> </a:t>
            </a:r>
            <a:r>
              <a:rPr lang="pt-PT" dirty="0" err="1">
                <a:sym typeface="Wingdings" panose="05000000000000000000" pitchFamily="2" charset="2"/>
              </a:rPr>
              <a:t>and</a:t>
            </a:r>
            <a:r>
              <a:rPr lang="pt-PT" dirty="0">
                <a:sym typeface="Wingdings" panose="05000000000000000000" pitchFamily="2" charset="2"/>
              </a:rPr>
              <a:t> </a:t>
            </a:r>
            <a:r>
              <a:rPr lang="pt-PT" dirty="0" err="1">
                <a:sym typeface="Wingdings" panose="05000000000000000000" pitchFamily="2" charset="2"/>
              </a:rPr>
              <a:t>both</a:t>
            </a:r>
            <a:r>
              <a:rPr lang="pt-PT" dirty="0">
                <a:sym typeface="Wingdings" panose="05000000000000000000" pitchFamily="2" charset="2"/>
              </a:rPr>
              <a:t> </a:t>
            </a:r>
            <a:r>
              <a:rPr lang="pt-PT" dirty="0" err="1">
                <a:sym typeface="Wingdings" panose="05000000000000000000" pitchFamily="2" charset="2"/>
              </a:rPr>
              <a:t>segments</a:t>
            </a:r>
            <a:r>
              <a:rPr lang="pt-PT" dirty="0">
                <a:sym typeface="Wingdings" panose="05000000000000000000" pitchFamily="2" charset="2"/>
              </a:rPr>
              <a:t> </a:t>
            </a:r>
            <a:r>
              <a:rPr lang="pt-PT" dirty="0" err="1">
                <a:sym typeface="Wingdings" panose="05000000000000000000" pitchFamily="2" charset="2"/>
              </a:rPr>
              <a:t>is</a:t>
            </a:r>
            <a:r>
              <a:rPr lang="pt-PT" dirty="0">
                <a:sym typeface="Wingdings" panose="05000000000000000000" pitchFamily="2" charset="2"/>
              </a:rPr>
              <a:t> </a:t>
            </a:r>
            <a:r>
              <a:rPr lang="pt-PT" dirty="0" err="1">
                <a:sym typeface="Wingdings" panose="05000000000000000000" pitchFamily="2" charset="2"/>
              </a:rPr>
              <a:t>created</a:t>
            </a:r>
            <a:r>
              <a:rPr lang="pt-PT" dirty="0">
                <a:sym typeface="Wingdings" panose="05000000000000000000" pitchFamily="2" charset="2"/>
              </a:rPr>
              <a:t> </a:t>
            </a:r>
            <a:r>
              <a:rPr lang="pt-PT" dirty="0" err="1">
                <a:sym typeface="Wingdings" panose="05000000000000000000" pitchFamily="2" charset="2"/>
              </a:rPr>
              <a:t>automatically</a:t>
            </a:r>
            <a:r>
              <a:rPr lang="pt-PT" dirty="0">
                <a:sym typeface="Wingdings" panose="05000000000000000000" pitchFamily="2" charset="2"/>
              </a:rPr>
              <a:t>, </a:t>
            </a:r>
            <a:r>
              <a:rPr lang="pt-PT" dirty="0" err="1">
                <a:sym typeface="Wingdings" panose="05000000000000000000" pitchFamily="2" charset="2"/>
              </a:rPr>
              <a:t>which</a:t>
            </a:r>
            <a:r>
              <a:rPr lang="pt-PT" dirty="0">
                <a:sym typeface="Wingdings" panose="05000000000000000000" pitchFamily="2" charset="2"/>
              </a:rPr>
              <a:t> can </a:t>
            </a:r>
            <a:r>
              <a:rPr lang="pt-PT" dirty="0" err="1">
                <a:sym typeface="Wingdings" panose="05000000000000000000" pitchFamily="2" charset="2"/>
              </a:rPr>
              <a:t>be</a:t>
            </a:r>
            <a:r>
              <a:rPr lang="pt-PT" dirty="0">
                <a:sym typeface="Wingdings" panose="05000000000000000000" pitchFamily="2" charset="2"/>
              </a:rPr>
              <a:t> </a:t>
            </a:r>
            <a:r>
              <a:rPr lang="pt-PT" dirty="0" err="1">
                <a:sym typeface="Wingdings" panose="05000000000000000000" pitchFamily="2" charset="2"/>
              </a:rPr>
              <a:t>seen</a:t>
            </a:r>
            <a:r>
              <a:rPr lang="pt-PT" dirty="0">
                <a:sym typeface="Wingdings" panose="05000000000000000000" pitchFamily="2" charset="2"/>
              </a:rPr>
              <a:t> </a:t>
            </a:r>
            <a:r>
              <a:rPr lang="pt-PT" dirty="0" err="1">
                <a:sym typeface="Wingdings" panose="05000000000000000000" pitchFamily="2" charset="2"/>
              </a:rPr>
              <a:t>and</a:t>
            </a:r>
            <a:r>
              <a:rPr lang="pt-PT" dirty="0">
                <a:sym typeface="Wingdings" panose="05000000000000000000" pitchFamily="2" charset="2"/>
              </a:rPr>
              <a:t> </a:t>
            </a:r>
            <a:r>
              <a:rPr lang="pt-PT" dirty="0" err="1">
                <a:sym typeface="Wingdings" panose="05000000000000000000" pitchFamily="2" charset="2"/>
              </a:rPr>
              <a:t>understood</a:t>
            </a:r>
            <a:r>
              <a:rPr lang="pt-PT" dirty="0">
                <a:sym typeface="Wingdings" panose="05000000000000000000" pitchFamily="2" charset="2"/>
              </a:rPr>
              <a:t> </a:t>
            </a:r>
            <a:r>
              <a:rPr lang="pt-PT" dirty="0" err="1">
                <a:sym typeface="Wingdings" panose="05000000000000000000" pitchFamily="2" charset="2"/>
              </a:rPr>
              <a:t>at</a:t>
            </a:r>
            <a:r>
              <a:rPr lang="pt-PT" dirty="0">
                <a:sym typeface="Wingdings" panose="05000000000000000000" pitchFamily="2" charset="2"/>
              </a:rPr>
              <a:t> a </a:t>
            </a:r>
            <a:r>
              <a:rPr lang="pt-PT" dirty="0" err="1">
                <a:sym typeface="Wingdings" panose="05000000000000000000" pitchFamily="2" charset="2"/>
              </a:rPr>
              <a:t>glance</a:t>
            </a:r>
            <a:r>
              <a:rPr lang="pt-PT" dirty="0">
                <a:sym typeface="Wingdings" panose="05000000000000000000" pitchFamily="2" charset="2"/>
              </a:rPr>
              <a:t> </a:t>
            </a:r>
            <a:r>
              <a:rPr lang="pt-PT" dirty="0" err="1">
                <a:sym typeface="Wingdings" panose="05000000000000000000" pitchFamily="2" charset="2"/>
              </a:rPr>
              <a:t>by</a:t>
            </a:r>
            <a:r>
              <a:rPr lang="pt-PT" dirty="0">
                <a:sym typeface="Wingdings" panose="05000000000000000000" pitchFamily="2" charset="2"/>
              </a:rPr>
              <a:t> </a:t>
            </a:r>
            <a:r>
              <a:rPr lang="pt-PT" dirty="0" err="1">
                <a:sym typeface="Wingdings" panose="05000000000000000000" pitchFamily="2" charset="2"/>
              </a:rPr>
              <a:t>looking</a:t>
            </a:r>
            <a:r>
              <a:rPr lang="pt-PT" dirty="0">
                <a:sym typeface="Wingdings" panose="05000000000000000000" pitchFamily="2" charset="2"/>
              </a:rPr>
              <a:t> </a:t>
            </a:r>
            <a:r>
              <a:rPr lang="pt-PT" dirty="0" err="1">
                <a:sym typeface="Wingdings" panose="05000000000000000000" pitchFamily="2" charset="2"/>
              </a:rPr>
              <a:t>at</a:t>
            </a:r>
            <a:r>
              <a:rPr lang="pt-PT" dirty="0">
                <a:sym typeface="Wingdings" panose="05000000000000000000" pitchFamily="2" charset="2"/>
              </a:rPr>
              <a:t> </a:t>
            </a:r>
            <a:r>
              <a:rPr lang="pt-PT" dirty="0" err="1">
                <a:sym typeface="Wingdings" panose="05000000000000000000" pitchFamily="2" charset="2"/>
              </a:rPr>
              <a:t>the</a:t>
            </a:r>
            <a:r>
              <a:rPr lang="pt-PT" dirty="0">
                <a:sym typeface="Wingdings" panose="05000000000000000000" pitchFamily="2" charset="2"/>
              </a:rPr>
              <a:t> pie </a:t>
            </a:r>
            <a:r>
              <a:rPr lang="pt-PT" dirty="0" err="1">
                <a:sym typeface="Wingdings" panose="05000000000000000000" pitchFamily="2" charset="2"/>
              </a:rPr>
              <a:t>charts</a:t>
            </a:r>
            <a:r>
              <a:rPr lang="pt-PT" dirty="0">
                <a:sym typeface="Wingdings" panose="05000000000000000000" pitchFamily="2" charset="2"/>
              </a:rPr>
              <a:t>.</a:t>
            </a:r>
            <a:endParaRPr dirty="0"/>
          </a:p>
        </p:txBody>
      </p:sp>
      <p:pic>
        <p:nvPicPr>
          <p:cNvPr id="2" name="Picture 1">
            <a:extLst>
              <a:ext uri="{FF2B5EF4-FFF2-40B4-BE49-F238E27FC236}">
                <a16:creationId xmlns:a16="http://schemas.microsoft.com/office/drawing/2014/main" id="{F9A5342A-ADB3-4981-A8AF-A4B1CB04A251}"/>
              </a:ext>
            </a:extLst>
          </p:cNvPr>
          <p:cNvPicPr>
            <a:picLocks noChangeAspect="1"/>
          </p:cNvPicPr>
          <p:nvPr/>
        </p:nvPicPr>
        <p:blipFill>
          <a:blip r:embed="rId3"/>
          <a:stretch>
            <a:fillRect/>
          </a:stretch>
        </p:blipFill>
        <p:spPr>
          <a:xfrm>
            <a:off x="264950" y="4851520"/>
            <a:ext cx="7246242" cy="2708014"/>
          </a:xfrm>
          <a:prstGeom prst="rect">
            <a:avLst/>
          </a:prstGeom>
          <a:ln>
            <a:solidFill>
              <a:schemeClr val="bg1">
                <a:lumMod val="85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p55"/>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Part Three:</a:t>
            </a:r>
            <a:r>
              <a:rPr lang="en" sz="4800" b="1">
                <a:solidFill>
                  <a:srgbClr val="FAFBFC"/>
                </a:solidFill>
              </a:rPr>
              <a:t> </a:t>
            </a:r>
            <a:endParaRPr sz="4800" b="1">
              <a:solidFill>
                <a:srgbClr val="FAFBFC"/>
              </a:solidFill>
            </a:endParaRPr>
          </a:p>
          <a:p>
            <a:pPr marL="0" lvl="0" indent="0" algn="l" rtl="0">
              <a:spcBef>
                <a:spcPts val="0"/>
              </a:spcBef>
              <a:spcAft>
                <a:spcPts val="0"/>
              </a:spcAft>
              <a:buNone/>
            </a:pPr>
            <a:r>
              <a:rPr lang="en" sz="4800">
                <a:solidFill>
                  <a:srgbClr val="FAFBFC"/>
                </a:solidFill>
                <a:latin typeface="Open Sans Light"/>
                <a:ea typeface="Open Sans Light"/>
                <a:cs typeface="Open Sans Light"/>
                <a:sym typeface="Open Sans Light"/>
              </a:rPr>
              <a:t>Segmentation</a:t>
            </a:r>
            <a:endParaRPr sz="3600">
              <a:solidFill>
                <a:srgbClr val="FAFBFC"/>
              </a:solidFill>
              <a:latin typeface="Open Sans"/>
              <a:ea typeface="Open Sans"/>
              <a:cs typeface="Open Sans"/>
              <a:sym typeface="Open Sans"/>
            </a:endParaRPr>
          </a:p>
        </p:txBody>
      </p:sp>
      <p:sp>
        <p:nvSpPr>
          <p:cNvPr id="275" name="Google Shape;275;p55"/>
          <p:cNvSpPr/>
          <p:nvPr/>
        </p:nvSpPr>
        <p:spPr>
          <a:xfrm>
            <a:off x="964649" y="4818975"/>
            <a:ext cx="716700" cy="441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2" name="Google Shape;332;p62">
            <a:extLst>
              <a:ext uri="{FF2B5EF4-FFF2-40B4-BE49-F238E27FC236}">
                <a16:creationId xmlns:a16="http://schemas.microsoft.com/office/drawing/2014/main" id="{7700FB02-7577-4B07-8B2E-EC46966C4BE3}"/>
              </a:ext>
            </a:extLst>
          </p:cNvPr>
          <p:cNvPicPr preferRelativeResize="0"/>
          <p:nvPr/>
        </p:nvPicPr>
        <p:blipFill>
          <a:blip r:embed="rId4">
            <a:alphaModFix/>
          </a:blip>
          <a:stretch>
            <a:fillRect/>
          </a:stretch>
        </p:blipFill>
        <p:spPr>
          <a:xfrm>
            <a:off x="347400" y="281900"/>
            <a:ext cx="1395250" cy="690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9"/>
        <p:cNvGrpSpPr/>
        <p:nvPr/>
      </p:nvGrpSpPr>
      <p:grpSpPr>
        <a:xfrm>
          <a:off x="0" y="0"/>
          <a:ext cx="0" cy="0"/>
          <a:chOff x="0" y="0"/>
          <a:chExt cx="0" cy="0"/>
        </a:xfrm>
      </p:grpSpPr>
      <p:sp>
        <p:nvSpPr>
          <p:cNvPr id="280" name="Google Shape;280;p56"/>
          <p:cNvSpPr txBox="1">
            <a:spLocks noGrp="1"/>
          </p:cNvSpPr>
          <p:nvPr>
            <p:ph type="title"/>
          </p:nvPr>
        </p:nvSpPr>
        <p:spPr>
          <a:xfrm>
            <a:off x="264895" y="9379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3200">
                <a:solidFill>
                  <a:srgbClr val="2E3D49"/>
                </a:solidFill>
                <a:latin typeface="Open Sans Light"/>
                <a:ea typeface="Open Sans Light"/>
                <a:cs typeface="Open Sans Light"/>
                <a:sym typeface="Open Sans Light"/>
              </a:rPr>
              <a:t>Segmentation: Instructions</a:t>
            </a:r>
            <a:endParaRPr sz="3200">
              <a:solidFill>
                <a:srgbClr val="2E3D49"/>
              </a:solidFill>
              <a:latin typeface="Open Sans Light"/>
              <a:ea typeface="Open Sans Light"/>
              <a:cs typeface="Open Sans Light"/>
              <a:sym typeface="Open Sans Light"/>
            </a:endParaRPr>
          </a:p>
        </p:txBody>
      </p:sp>
      <p:sp>
        <p:nvSpPr>
          <p:cNvPr id="281" name="Google Shape;281;p56"/>
          <p:cNvSpPr txBox="1"/>
          <p:nvPr/>
        </p:nvSpPr>
        <p:spPr>
          <a:xfrm>
            <a:off x="280650" y="1926975"/>
            <a:ext cx="7211100" cy="705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800">
                <a:solidFill>
                  <a:srgbClr val="525C65"/>
                </a:solidFill>
                <a:latin typeface="Open Sans Light"/>
                <a:ea typeface="Open Sans Light"/>
                <a:cs typeface="Open Sans Light"/>
                <a:sym typeface="Open Sans Light"/>
              </a:rPr>
              <a:t>Segmentation helps provide clarity, insight, and confidence in data by making it more specific and actionable.</a:t>
            </a:r>
            <a:endParaRPr sz="1800">
              <a:solidFill>
                <a:srgbClr val="525C65"/>
              </a:solidFill>
              <a:latin typeface="Open Sans Light"/>
              <a:ea typeface="Open Sans Light"/>
              <a:cs typeface="Open Sans Light"/>
              <a:sym typeface="Open Sans Light"/>
            </a:endParaRPr>
          </a:p>
          <a:p>
            <a:pPr marL="0" lvl="0" indent="0" algn="l" rtl="0">
              <a:lnSpc>
                <a:spcPct val="100000"/>
              </a:lnSpc>
              <a:spcBef>
                <a:spcPts val="1100"/>
              </a:spcBef>
              <a:spcAft>
                <a:spcPts val="0"/>
              </a:spcAft>
              <a:buNone/>
            </a:pPr>
            <a:r>
              <a:rPr lang="en" sz="1800" i="1" u="sng">
                <a:solidFill>
                  <a:srgbClr val="525C65"/>
                </a:solidFill>
                <a:latin typeface="Open Sans Light"/>
                <a:ea typeface="Open Sans Light"/>
                <a:cs typeface="Open Sans Light"/>
                <a:sym typeface="Open Sans Light"/>
              </a:rPr>
              <a:t>To demonstrate your knowledge:</a:t>
            </a:r>
            <a:r>
              <a:rPr lang="en" sz="1800" u="sng">
                <a:solidFill>
                  <a:srgbClr val="525C65"/>
                </a:solidFill>
                <a:latin typeface="Open Sans Light"/>
                <a:ea typeface="Open Sans Light"/>
                <a:cs typeface="Open Sans Light"/>
                <a:sym typeface="Open Sans Light"/>
              </a:rPr>
              <a:t> </a:t>
            </a:r>
            <a:endParaRPr sz="1800" u="sng">
              <a:solidFill>
                <a:srgbClr val="525C65"/>
              </a:solidFill>
              <a:latin typeface="Open Sans Light"/>
              <a:ea typeface="Open Sans Light"/>
              <a:cs typeface="Open Sans Light"/>
              <a:sym typeface="Open Sans Light"/>
            </a:endParaRPr>
          </a:p>
          <a:p>
            <a:pPr marL="457200" lvl="0" indent="-342900" algn="l" rtl="0">
              <a:lnSpc>
                <a:spcPct val="100000"/>
              </a:lnSpc>
              <a:spcBef>
                <a:spcPts val="1100"/>
              </a:spcBef>
              <a:spcAft>
                <a:spcPts val="0"/>
              </a:spcAft>
              <a:buClr>
                <a:srgbClr val="525C65"/>
              </a:buClr>
              <a:buSzPts val="1800"/>
              <a:buFont typeface="Open Sans Light"/>
              <a:buChar char="●"/>
            </a:pPr>
            <a:r>
              <a:rPr lang="en" sz="1800">
                <a:solidFill>
                  <a:srgbClr val="525C65"/>
                </a:solidFill>
                <a:latin typeface="Open Sans Light"/>
                <a:ea typeface="Open Sans Light"/>
                <a:cs typeface="Open Sans Light"/>
                <a:sym typeface="Open Sans Light"/>
              </a:rPr>
              <a:t>Identify and create three different audience segments and apply them to your data:</a:t>
            </a:r>
            <a:endParaRPr sz="1800">
              <a:solidFill>
                <a:srgbClr val="525C65"/>
              </a:solidFill>
              <a:latin typeface="Open Sans Light"/>
              <a:ea typeface="Open Sans Light"/>
              <a:cs typeface="Open Sans Light"/>
              <a:sym typeface="Open Sans Light"/>
            </a:endParaRPr>
          </a:p>
          <a:p>
            <a:pPr marL="914400" lvl="1" indent="-317500" algn="l" rtl="0">
              <a:lnSpc>
                <a:spcPct val="100000"/>
              </a:lnSpc>
              <a:spcBef>
                <a:spcPts val="0"/>
              </a:spcBef>
              <a:spcAft>
                <a:spcPts val="0"/>
              </a:spcAft>
              <a:buClr>
                <a:srgbClr val="525C65"/>
              </a:buClr>
              <a:buSzPts val="1400"/>
              <a:buFont typeface="Open Sans Light"/>
              <a:buChar char="○"/>
            </a:pPr>
            <a:r>
              <a:rPr lang="en" sz="1800">
                <a:solidFill>
                  <a:srgbClr val="525C65"/>
                </a:solidFill>
                <a:latin typeface="Open Sans Light"/>
                <a:ea typeface="Open Sans Light"/>
                <a:cs typeface="Open Sans Light"/>
                <a:sym typeface="Open Sans Light"/>
              </a:rPr>
              <a:t>one based on audience characteristic (such as technology or demographics)</a:t>
            </a:r>
            <a:endParaRPr sz="1800">
              <a:solidFill>
                <a:srgbClr val="525C65"/>
              </a:solidFill>
              <a:latin typeface="Open Sans Light"/>
              <a:ea typeface="Open Sans Light"/>
              <a:cs typeface="Open Sans Light"/>
              <a:sym typeface="Open Sans Light"/>
            </a:endParaRPr>
          </a:p>
          <a:p>
            <a:pPr marL="914400" lvl="1" indent="-317500" algn="l" rtl="0">
              <a:lnSpc>
                <a:spcPct val="100000"/>
              </a:lnSpc>
              <a:spcBef>
                <a:spcPts val="0"/>
              </a:spcBef>
              <a:spcAft>
                <a:spcPts val="0"/>
              </a:spcAft>
              <a:buClr>
                <a:srgbClr val="525C65"/>
              </a:buClr>
              <a:buSzPts val="1400"/>
              <a:buFont typeface="Open Sans Light"/>
              <a:buChar char="○"/>
            </a:pPr>
            <a:r>
              <a:rPr lang="en" sz="1800">
                <a:solidFill>
                  <a:srgbClr val="525C65"/>
                </a:solidFill>
                <a:latin typeface="Open Sans Light"/>
                <a:ea typeface="Open Sans Light"/>
                <a:cs typeface="Open Sans Light"/>
                <a:sym typeface="Open Sans Light"/>
              </a:rPr>
              <a:t>one based on geography</a:t>
            </a:r>
            <a:endParaRPr sz="1800">
              <a:solidFill>
                <a:srgbClr val="525C65"/>
              </a:solidFill>
              <a:latin typeface="Open Sans Light"/>
              <a:ea typeface="Open Sans Light"/>
              <a:cs typeface="Open Sans Light"/>
              <a:sym typeface="Open Sans Light"/>
            </a:endParaRPr>
          </a:p>
          <a:p>
            <a:pPr marL="914400" lvl="1" indent="-317500" algn="l" rtl="0">
              <a:lnSpc>
                <a:spcPct val="100000"/>
              </a:lnSpc>
              <a:spcBef>
                <a:spcPts val="0"/>
              </a:spcBef>
              <a:spcAft>
                <a:spcPts val="0"/>
              </a:spcAft>
              <a:buClr>
                <a:srgbClr val="525C65"/>
              </a:buClr>
              <a:buSzPts val="1400"/>
              <a:buFont typeface="Open Sans Light"/>
              <a:buChar char="○"/>
            </a:pPr>
            <a:r>
              <a:rPr lang="en" sz="1800">
                <a:solidFill>
                  <a:srgbClr val="525C65"/>
                </a:solidFill>
                <a:latin typeface="Open Sans Light"/>
                <a:ea typeface="Open Sans Light"/>
                <a:cs typeface="Open Sans Light"/>
                <a:sym typeface="Open Sans Light"/>
              </a:rPr>
              <a:t>one based on user behaviors</a:t>
            </a:r>
            <a:endParaRPr sz="1800">
              <a:solidFill>
                <a:srgbClr val="525C65"/>
              </a:solidFill>
              <a:latin typeface="Open Sans Light"/>
              <a:ea typeface="Open Sans Light"/>
              <a:cs typeface="Open Sans Light"/>
              <a:sym typeface="Open Sans Light"/>
            </a:endParaRPr>
          </a:p>
          <a:p>
            <a:pPr marL="457200" lvl="0" indent="-342900" algn="l" rtl="0">
              <a:lnSpc>
                <a:spcPct val="100000"/>
              </a:lnSpc>
              <a:spcBef>
                <a:spcPts val="0"/>
              </a:spcBef>
              <a:spcAft>
                <a:spcPts val="0"/>
              </a:spcAft>
              <a:buClr>
                <a:srgbClr val="525C65"/>
              </a:buClr>
              <a:buSzPts val="1800"/>
              <a:buFont typeface="Open Sans Light"/>
              <a:buChar char="●"/>
            </a:pPr>
            <a:r>
              <a:rPr lang="en" sz="1800">
                <a:solidFill>
                  <a:srgbClr val="525C65"/>
                </a:solidFill>
                <a:latin typeface="Open Sans Light"/>
                <a:ea typeface="Open Sans Light"/>
                <a:cs typeface="Open Sans Light"/>
                <a:sym typeface="Open Sans Light"/>
              </a:rPr>
              <a:t>Change the scope for the behavior segment between </a:t>
            </a:r>
            <a:r>
              <a:rPr lang="en" sz="1800" i="1">
                <a:solidFill>
                  <a:srgbClr val="525C65"/>
                </a:solidFill>
                <a:latin typeface="Open Sans Light"/>
                <a:ea typeface="Open Sans Light"/>
                <a:cs typeface="Open Sans Light"/>
                <a:sym typeface="Open Sans Light"/>
              </a:rPr>
              <a:t>Sessions</a:t>
            </a:r>
            <a:r>
              <a:rPr lang="en" sz="1800">
                <a:solidFill>
                  <a:srgbClr val="525C65"/>
                </a:solidFill>
                <a:latin typeface="Open Sans Light"/>
                <a:ea typeface="Open Sans Light"/>
                <a:cs typeface="Open Sans Light"/>
                <a:sym typeface="Open Sans Light"/>
              </a:rPr>
              <a:t> and </a:t>
            </a:r>
            <a:r>
              <a:rPr lang="en" sz="1800" i="1">
                <a:solidFill>
                  <a:srgbClr val="525C65"/>
                </a:solidFill>
                <a:latin typeface="Open Sans Light"/>
                <a:ea typeface="Open Sans Light"/>
                <a:cs typeface="Open Sans Light"/>
                <a:sym typeface="Open Sans Light"/>
              </a:rPr>
              <a:t>Users</a:t>
            </a:r>
            <a:r>
              <a:rPr lang="en" sz="1800">
                <a:solidFill>
                  <a:srgbClr val="525C65"/>
                </a:solidFill>
                <a:latin typeface="Open Sans Light"/>
                <a:ea typeface="Open Sans Light"/>
                <a:cs typeface="Open Sans Light"/>
                <a:sym typeface="Open Sans Light"/>
              </a:rPr>
              <a:t> to see how this impacts metrics such as goal conversion rate.</a:t>
            </a:r>
            <a:endParaRPr sz="1800">
              <a:solidFill>
                <a:srgbClr val="525C65"/>
              </a:solidFill>
              <a:latin typeface="Open Sans Light"/>
              <a:ea typeface="Open Sans Light"/>
              <a:cs typeface="Open Sans Light"/>
              <a:sym typeface="Open Sans Light"/>
            </a:endParaRPr>
          </a:p>
          <a:p>
            <a:pPr marL="457200" lvl="0" indent="-342900" algn="l" rtl="0">
              <a:spcBef>
                <a:spcPts val="0"/>
              </a:spcBef>
              <a:spcAft>
                <a:spcPts val="0"/>
              </a:spcAft>
              <a:buClr>
                <a:srgbClr val="525C65"/>
              </a:buClr>
              <a:buSzPts val="1800"/>
              <a:buFont typeface="Open Sans Light"/>
              <a:buChar char="●"/>
            </a:pPr>
            <a:r>
              <a:rPr lang="en" sz="1800" b="1">
                <a:solidFill>
                  <a:srgbClr val="525C65"/>
                </a:solidFill>
                <a:latin typeface="Open Sans"/>
                <a:ea typeface="Open Sans"/>
                <a:cs typeface="Open Sans"/>
                <a:sym typeface="Open Sans"/>
              </a:rPr>
              <a:t>Take screenshots showing each of your segments applied to the data and explain the segment and the results in the notes section. Place these items on the slides that follow. </a:t>
            </a:r>
            <a:endParaRPr sz="1800">
              <a:solidFill>
                <a:srgbClr val="525C65"/>
              </a:solidFill>
              <a:latin typeface="Open Sans Light"/>
              <a:ea typeface="Open Sans Light"/>
              <a:cs typeface="Open Sans Light"/>
              <a:sym typeface="Open Sans Light"/>
            </a:endParaRPr>
          </a:p>
        </p:txBody>
      </p:sp>
      <p:sp>
        <p:nvSpPr>
          <p:cNvPr id="282" name="Google Shape;282;p56"/>
          <p:cNvSpPr txBox="1"/>
          <p:nvPr/>
        </p:nvSpPr>
        <p:spPr>
          <a:xfrm>
            <a:off x="884100" y="7546801"/>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i="1">
                <a:solidFill>
                  <a:srgbClr val="15C26B"/>
                </a:solidFill>
                <a:latin typeface="Open Sans Light"/>
                <a:ea typeface="Open Sans Light"/>
                <a:cs typeface="Open Sans Light"/>
                <a:sym typeface="Open Sans Light"/>
              </a:rPr>
              <a:t>Remove this slide </a:t>
            </a:r>
            <a:endParaRPr sz="3600" i="1">
              <a:solidFill>
                <a:srgbClr val="15C26B"/>
              </a:solidFill>
              <a:latin typeface="Open Sans Light"/>
              <a:ea typeface="Open Sans Light"/>
              <a:cs typeface="Open Sans Light"/>
              <a:sym typeface="Open Sans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Characteristic</a:t>
            </a:r>
            <a:endParaRPr sz="3200">
              <a:solidFill>
                <a:srgbClr val="02B3E4"/>
              </a:solidFill>
              <a:latin typeface="Open Sans Light"/>
              <a:ea typeface="Open Sans Light"/>
              <a:cs typeface="Open Sans Light"/>
              <a:sym typeface="Open Sans Light"/>
            </a:endParaRPr>
          </a:p>
        </p:txBody>
      </p:sp>
      <p:sp>
        <p:nvSpPr>
          <p:cNvPr id="288" name="Google Shape;288;p57"/>
          <p:cNvSpPr txBox="1">
            <a:spLocks noGrp="1"/>
          </p:cNvSpPr>
          <p:nvPr>
            <p:ph type="body" idx="1"/>
          </p:nvPr>
        </p:nvSpPr>
        <p:spPr>
          <a:xfrm>
            <a:off x="264963" y="6366077"/>
            <a:ext cx="7242600" cy="3060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dirty="0" err="1"/>
              <a:t>By</a:t>
            </a:r>
            <a:r>
              <a:rPr lang="pt-PT" dirty="0"/>
              <a:t> </a:t>
            </a:r>
            <a:r>
              <a:rPr lang="pt-PT" dirty="0" err="1"/>
              <a:t>selecting</a:t>
            </a:r>
            <a:r>
              <a:rPr lang="pt-PT" dirty="0"/>
              <a:t> a </a:t>
            </a:r>
            <a:r>
              <a:rPr lang="pt-PT" dirty="0" err="1"/>
              <a:t>segment</a:t>
            </a:r>
            <a:r>
              <a:rPr lang="pt-PT" dirty="0"/>
              <a:t> </a:t>
            </a:r>
            <a:r>
              <a:rPr lang="pt-PT" dirty="0" err="1"/>
              <a:t>of</a:t>
            </a:r>
            <a:r>
              <a:rPr lang="pt-PT" dirty="0"/>
              <a:t> </a:t>
            </a:r>
            <a:r>
              <a:rPr lang="pt-PT" dirty="0" err="1"/>
              <a:t>users</a:t>
            </a:r>
            <a:r>
              <a:rPr lang="pt-PT" dirty="0"/>
              <a:t> </a:t>
            </a:r>
            <a:r>
              <a:rPr lang="pt-PT" dirty="0" err="1"/>
              <a:t>that</a:t>
            </a:r>
            <a:r>
              <a:rPr lang="pt-PT" dirty="0"/>
              <a:t> use </a:t>
            </a:r>
            <a:r>
              <a:rPr lang="pt-PT" dirty="0" err="1"/>
              <a:t>the</a:t>
            </a:r>
            <a:r>
              <a:rPr lang="pt-PT" dirty="0"/>
              <a:t> Windows </a:t>
            </a:r>
            <a:r>
              <a:rPr lang="pt-PT" dirty="0" err="1"/>
              <a:t>Operating</a:t>
            </a:r>
            <a:r>
              <a:rPr lang="pt-PT" dirty="0"/>
              <a:t> </a:t>
            </a:r>
            <a:r>
              <a:rPr lang="pt-PT" dirty="0" err="1"/>
              <a:t>System</a:t>
            </a:r>
            <a:r>
              <a:rPr lang="pt-PT" dirty="0"/>
              <a:t>, </a:t>
            </a:r>
            <a:r>
              <a:rPr lang="pt-PT" dirty="0" err="1"/>
              <a:t>we</a:t>
            </a:r>
            <a:r>
              <a:rPr lang="pt-PT" dirty="0"/>
              <a:t> can </a:t>
            </a:r>
            <a:r>
              <a:rPr lang="pt-PT" dirty="0" err="1"/>
              <a:t>see</a:t>
            </a:r>
            <a:r>
              <a:rPr lang="pt-PT" dirty="0"/>
              <a:t> </a:t>
            </a:r>
            <a:r>
              <a:rPr lang="pt-PT" dirty="0" err="1"/>
              <a:t>that</a:t>
            </a:r>
            <a:r>
              <a:rPr lang="pt-PT" dirty="0"/>
              <a:t> </a:t>
            </a:r>
            <a:r>
              <a:rPr lang="pt-PT" dirty="0" err="1"/>
              <a:t>it</a:t>
            </a:r>
            <a:r>
              <a:rPr lang="pt-PT" dirty="0"/>
              <a:t> </a:t>
            </a:r>
            <a:r>
              <a:rPr lang="pt-PT" dirty="0" err="1"/>
              <a:t>pertains</a:t>
            </a:r>
            <a:r>
              <a:rPr lang="pt-PT" dirty="0"/>
              <a:t> to 37.28% </a:t>
            </a:r>
            <a:r>
              <a:rPr lang="pt-PT" dirty="0" err="1"/>
              <a:t>of</a:t>
            </a:r>
            <a:r>
              <a:rPr lang="pt-PT" dirty="0"/>
              <a:t> </a:t>
            </a:r>
            <a:r>
              <a:rPr lang="pt-PT" dirty="0" err="1"/>
              <a:t>users</a:t>
            </a:r>
            <a:r>
              <a:rPr lang="pt-PT" dirty="0"/>
              <a:t> (50.097 </a:t>
            </a:r>
            <a:r>
              <a:rPr lang="pt-PT" dirty="0" err="1"/>
              <a:t>users</a:t>
            </a:r>
            <a:r>
              <a:rPr lang="pt-PT" dirty="0"/>
              <a:t>) </a:t>
            </a:r>
            <a:r>
              <a:rPr lang="pt-PT" dirty="0" err="1"/>
              <a:t>and</a:t>
            </a:r>
            <a:r>
              <a:rPr lang="pt-PT" dirty="0"/>
              <a:t> 36.84% </a:t>
            </a:r>
            <a:r>
              <a:rPr lang="pt-PT" dirty="0" err="1"/>
              <a:t>of</a:t>
            </a:r>
            <a:r>
              <a:rPr lang="pt-PT" dirty="0"/>
              <a:t> </a:t>
            </a:r>
            <a:r>
              <a:rPr lang="pt-PT" dirty="0" err="1"/>
              <a:t>sessions</a:t>
            </a:r>
            <a:r>
              <a:rPr lang="pt-PT" dirty="0"/>
              <a:t> (64.990 </a:t>
            </a:r>
            <a:r>
              <a:rPr lang="pt-PT" dirty="0" err="1"/>
              <a:t>sessions</a:t>
            </a:r>
            <a:r>
              <a:rPr lang="pt-PT" dirty="0"/>
              <a:t>).</a:t>
            </a:r>
          </a:p>
          <a:p>
            <a:pPr marL="0" lvl="0" indent="0" algn="l" rtl="0">
              <a:spcBef>
                <a:spcPts val="0"/>
              </a:spcBef>
              <a:spcAft>
                <a:spcPts val="1600"/>
              </a:spcAft>
              <a:buNone/>
            </a:pPr>
            <a:r>
              <a:rPr lang="pt-PT" dirty="0" err="1"/>
              <a:t>Using</a:t>
            </a:r>
            <a:r>
              <a:rPr lang="pt-PT" dirty="0"/>
              <a:t> </a:t>
            </a:r>
            <a:r>
              <a:rPr lang="pt-PT" dirty="0" err="1"/>
              <a:t>this</a:t>
            </a:r>
            <a:r>
              <a:rPr lang="pt-PT" dirty="0"/>
              <a:t> </a:t>
            </a:r>
            <a:r>
              <a:rPr lang="pt-PT" dirty="0" err="1"/>
              <a:t>segment</a:t>
            </a:r>
            <a:r>
              <a:rPr lang="pt-PT" dirty="0"/>
              <a:t>, I can </a:t>
            </a:r>
            <a:r>
              <a:rPr lang="pt-PT" dirty="0" err="1"/>
              <a:t>answer</a:t>
            </a:r>
            <a:r>
              <a:rPr lang="pt-PT" dirty="0"/>
              <a:t> a </a:t>
            </a:r>
            <a:r>
              <a:rPr lang="pt-PT" dirty="0" err="1"/>
              <a:t>specific</a:t>
            </a:r>
            <a:r>
              <a:rPr lang="pt-PT" dirty="0"/>
              <a:t> </a:t>
            </a:r>
            <a:r>
              <a:rPr lang="pt-PT" dirty="0" err="1"/>
              <a:t>questions</a:t>
            </a:r>
            <a:r>
              <a:rPr lang="pt-PT" dirty="0"/>
              <a:t> </a:t>
            </a:r>
            <a:r>
              <a:rPr lang="pt-PT" dirty="0" err="1"/>
              <a:t>such</a:t>
            </a:r>
            <a:r>
              <a:rPr lang="pt-PT" dirty="0"/>
              <a:t> as:</a:t>
            </a:r>
          </a:p>
          <a:p>
            <a:pPr marL="0" lvl="0" indent="0" algn="l" rtl="0">
              <a:spcBef>
                <a:spcPts val="0"/>
              </a:spcBef>
              <a:spcAft>
                <a:spcPts val="1600"/>
              </a:spcAft>
              <a:buNone/>
            </a:pPr>
            <a:r>
              <a:rPr lang="pt-PT" dirty="0" err="1"/>
              <a:t>How</a:t>
            </a:r>
            <a:r>
              <a:rPr lang="pt-PT" dirty="0"/>
              <a:t> do </a:t>
            </a:r>
            <a:r>
              <a:rPr lang="pt-PT" dirty="0" err="1"/>
              <a:t>my</a:t>
            </a:r>
            <a:r>
              <a:rPr lang="pt-PT" dirty="0"/>
              <a:t> Windows </a:t>
            </a:r>
            <a:r>
              <a:rPr lang="pt-PT" dirty="0" err="1"/>
              <a:t>users</a:t>
            </a:r>
            <a:r>
              <a:rPr lang="pt-PT" dirty="0"/>
              <a:t> </a:t>
            </a:r>
            <a:r>
              <a:rPr lang="pt-PT" dirty="0" err="1"/>
              <a:t>behave</a:t>
            </a:r>
            <a:r>
              <a:rPr lang="pt-PT" dirty="0"/>
              <a:t> </a:t>
            </a:r>
            <a:r>
              <a:rPr lang="pt-PT" dirty="0" err="1"/>
              <a:t>compared</a:t>
            </a:r>
            <a:r>
              <a:rPr lang="pt-PT" dirty="0"/>
              <a:t> to </a:t>
            </a:r>
            <a:r>
              <a:rPr lang="pt-PT" dirty="0" err="1"/>
              <a:t>all</a:t>
            </a:r>
            <a:r>
              <a:rPr lang="pt-PT" dirty="0"/>
              <a:t> </a:t>
            </a:r>
            <a:r>
              <a:rPr lang="pt-PT" dirty="0" err="1"/>
              <a:t>users</a:t>
            </a:r>
            <a:r>
              <a:rPr lang="pt-PT" dirty="0"/>
              <a:t>? </a:t>
            </a:r>
          </a:p>
          <a:p>
            <a:pPr marL="0" lvl="0" indent="0" algn="l" rtl="0">
              <a:spcBef>
                <a:spcPts val="0"/>
              </a:spcBef>
              <a:spcAft>
                <a:spcPts val="1600"/>
              </a:spcAft>
              <a:buNone/>
            </a:pPr>
            <a:r>
              <a:rPr lang="pt-PT" dirty="0" err="1"/>
              <a:t>How</a:t>
            </a:r>
            <a:r>
              <a:rPr lang="pt-PT" dirty="0"/>
              <a:t> </a:t>
            </a:r>
            <a:r>
              <a:rPr lang="pt-PT" dirty="0" err="1"/>
              <a:t>much</a:t>
            </a:r>
            <a:r>
              <a:rPr lang="pt-PT" dirty="0"/>
              <a:t> </a:t>
            </a:r>
            <a:r>
              <a:rPr lang="pt-PT" dirty="0" err="1"/>
              <a:t>off</a:t>
            </a:r>
            <a:r>
              <a:rPr lang="pt-PT" dirty="0"/>
              <a:t> </a:t>
            </a:r>
            <a:r>
              <a:rPr lang="pt-PT" dirty="0" err="1"/>
              <a:t>the</a:t>
            </a:r>
            <a:r>
              <a:rPr lang="pt-PT" dirty="0"/>
              <a:t> </a:t>
            </a:r>
            <a:r>
              <a:rPr lang="pt-PT" dirty="0" err="1"/>
              <a:t>ecommerce</a:t>
            </a:r>
            <a:r>
              <a:rPr lang="pt-PT" dirty="0"/>
              <a:t> </a:t>
            </a:r>
            <a:r>
              <a:rPr lang="pt-PT" dirty="0" err="1"/>
              <a:t>revenue</a:t>
            </a:r>
            <a:r>
              <a:rPr lang="pt-PT" dirty="0"/>
              <a:t> comes </a:t>
            </a:r>
            <a:r>
              <a:rPr lang="pt-PT" dirty="0" err="1"/>
              <a:t>from</a:t>
            </a:r>
            <a:r>
              <a:rPr lang="pt-PT" dirty="0"/>
              <a:t> </a:t>
            </a:r>
            <a:r>
              <a:rPr lang="pt-PT" dirty="0" err="1"/>
              <a:t>this</a:t>
            </a:r>
            <a:r>
              <a:rPr lang="pt-PT" dirty="0"/>
              <a:t> </a:t>
            </a:r>
            <a:r>
              <a:rPr lang="pt-PT" dirty="0" err="1"/>
              <a:t>segment</a:t>
            </a:r>
            <a:r>
              <a:rPr lang="pt-PT" dirty="0"/>
              <a:t>?</a:t>
            </a:r>
          </a:p>
          <a:p>
            <a:pPr marL="0" lvl="0" indent="0" algn="l" rtl="0">
              <a:spcBef>
                <a:spcPts val="0"/>
              </a:spcBef>
              <a:spcAft>
                <a:spcPts val="1600"/>
              </a:spcAft>
              <a:buNone/>
            </a:pPr>
            <a:r>
              <a:rPr lang="pt-PT" dirty="0" err="1"/>
              <a:t>How</a:t>
            </a:r>
            <a:r>
              <a:rPr lang="pt-PT" dirty="0"/>
              <a:t> do </a:t>
            </a:r>
            <a:r>
              <a:rPr lang="pt-PT" dirty="0" err="1"/>
              <a:t>these</a:t>
            </a:r>
            <a:r>
              <a:rPr lang="pt-PT" dirty="0"/>
              <a:t> </a:t>
            </a:r>
            <a:r>
              <a:rPr lang="pt-PT" dirty="0" err="1"/>
              <a:t>users</a:t>
            </a:r>
            <a:r>
              <a:rPr lang="pt-PT" dirty="0"/>
              <a:t> compare to </a:t>
            </a:r>
            <a:r>
              <a:rPr lang="pt-PT" dirty="0" err="1"/>
              <a:t>other</a:t>
            </a:r>
            <a:r>
              <a:rPr lang="pt-PT" dirty="0"/>
              <a:t> </a:t>
            </a:r>
            <a:r>
              <a:rPr lang="pt-PT" dirty="0" err="1"/>
              <a:t>operating</a:t>
            </a:r>
            <a:r>
              <a:rPr lang="pt-PT" dirty="0"/>
              <a:t> </a:t>
            </a:r>
            <a:r>
              <a:rPr lang="pt-PT" dirty="0" err="1"/>
              <a:t>systems</a:t>
            </a:r>
            <a:r>
              <a:rPr lang="pt-PT" dirty="0"/>
              <a:t>?</a:t>
            </a:r>
          </a:p>
          <a:p>
            <a:pPr marL="0" lvl="0" indent="0" algn="l" rtl="0">
              <a:spcBef>
                <a:spcPts val="0"/>
              </a:spcBef>
              <a:spcAft>
                <a:spcPts val="1600"/>
              </a:spcAft>
              <a:buNone/>
            </a:pPr>
            <a:endParaRPr dirty="0"/>
          </a:p>
        </p:txBody>
      </p:sp>
      <p:pic>
        <p:nvPicPr>
          <p:cNvPr id="2" name="Picture 1">
            <a:extLst>
              <a:ext uri="{FF2B5EF4-FFF2-40B4-BE49-F238E27FC236}">
                <a16:creationId xmlns:a16="http://schemas.microsoft.com/office/drawing/2014/main" id="{44A1C8D0-850B-4C7D-BA82-28C4E57BEC1F}"/>
              </a:ext>
            </a:extLst>
          </p:cNvPr>
          <p:cNvPicPr>
            <a:picLocks noChangeAspect="1"/>
          </p:cNvPicPr>
          <p:nvPr/>
        </p:nvPicPr>
        <p:blipFill>
          <a:blip r:embed="rId3"/>
          <a:stretch>
            <a:fillRect/>
          </a:stretch>
        </p:blipFill>
        <p:spPr>
          <a:xfrm>
            <a:off x="264900" y="2476475"/>
            <a:ext cx="7242600" cy="2721992"/>
          </a:xfrm>
          <a:prstGeom prst="rect">
            <a:avLst/>
          </a:prstGeom>
          <a:ln>
            <a:solidFill>
              <a:schemeClr val="bg1">
                <a:lumMod val="85000"/>
              </a:schemeClr>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Characteristic</a:t>
            </a:r>
            <a:endParaRPr sz="3200">
              <a:solidFill>
                <a:srgbClr val="02B3E4"/>
              </a:solidFill>
              <a:latin typeface="Open Sans Light"/>
              <a:ea typeface="Open Sans Light"/>
              <a:cs typeface="Open Sans Light"/>
              <a:sym typeface="Open Sans Light"/>
            </a:endParaRPr>
          </a:p>
        </p:txBody>
      </p:sp>
      <p:sp>
        <p:nvSpPr>
          <p:cNvPr id="288" name="Google Shape;288;p57"/>
          <p:cNvSpPr txBox="1">
            <a:spLocks noGrp="1"/>
          </p:cNvSpPr>
          <p:nvPr>
            <p:ph type="body" idx="1"/>
          </p:nvPr>
        </p:nvSpPr>
        <p:spPr>
          <a:xfrm>
            <a:off x="264963" y="5808372"/>
            <a:ext cx="7242600" cy="361860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dirty="0"/>
              <a:t>In </a:t>
            </a:r>
            <a:r>
              <a:rPr lang="pt-PT" dirty="0" err="1"/>
              <a:t>the</a:t>
            </a:r>
            <a:r>
              <a:rPr lang="pt-PT" dirty="0"/>
              <a:t> </a:t>
            </a:r>
            <a:r>
              <a:rPr lang="pt-PT" dirty="0" err="1"/>
              <a:t>image</a:t>
            </a:r>
            <a:r>
              <a:rPr lang="pt-PT" dirty="0"/>
              <a:t> </a:t>
            </a:r>
            <a:r>
              <a:rPr lang="pt-PT" dirty="0" err="1"/>
              <a:t>above</a:t>
            </a:r>
            <a:r>
              <a:rPr lang="pt-PT" dirty="0"/>
              <a:t>, </a:t>
            </a:r>
            <a:r>
              <a:rPr lang="pt-PT" dirty="0" err="1"/>
              <a:t>we</a:t>
            </a:r>
            <a:r>
              <a:rPr lang="pt-PT" dirty="0"/>
              <a:t> can </a:t>
            </a:r>
            <a:r>
              <a:rPr lang="pt-PT" dirty="0" err="1"/>
              <a:t>see</a:t>
            </a:r>
            <a:r>
              <a:rPr lang="pt-PT" dirty="0"/>
              <a:t> </a:t>
            </a:r>
            <a:r>
              <a:rPr lang="pt-PT" dirty="0" err="1"/>
              <a:t>that</a:t>
            </a:r>
            <a:r>
              <a:rPr lang="pt-PT" dirty="0"/>
              <a:t> Windows </a:t>
            </a:r>
            <a:r>
              <a:rPr lang="pt-PT" dirty="0" err="1"/>
              <a:t>Operating</a:t>
            </a:r>
            <a:r>
              <a:rPr lang="pt-PT" dirty="0"/>
              <a:t> </a:t>
            </a:r>
            <a:r>
              <a:rPr lang="pt-PT" dirty="0" err="1"/>
              <a:t>System</a:t>
            </a:r>
            <a:r>
              <a:rPr lang="pt-PT" dirty="0"/>
              <a:t> </a:t>
            </a:r>
            <a:r>
              <a:rPr lang="pt-PT" dirty="0" err="1"/>
              <a:t>users</a:t>
            </a:r>
            <a:r>
              <a:rPr lang="pt-PT" dirty="0"/>
              <a:t>, </a:t>
            </a:r>
            <a:r>
              <a:rPr lang="pt-PT" dirty="0" err="1"/>
              <a:t>on</a:t>
            </a:r>
            <a:r>
              <a:rPr lang="pt-PT" dirty="0"/>
              <a:t> </a:t>
            </a:r>
            <a:r>
              <a:rPr lang="pt-PT" dirty="0" err="1"/>
              <a:t>average</a:t>
            </a:r>
            <a:r>
              <a:rPr lang="pt-PT" dirty="0"/>
              <a:t> </a:t>
            </a:r>
            <a:r>
              <a:rPr lang="pt-PT" dirty="0" err="1"/>
              <a:t>stay</a:t>
            </a:r>
            <a:r>
              <a:rPr lang="pt-PT" dirty="0"/>
              <a:t> </a:t>
            </a:r>
            <a:r>
              <a:rPr lang="pt-PT" dirty="0" err="1"/>
              <a:t>longer</a:t>
            </a:r>
            <a:r>
              <a:rPr lang="pt-PT" dirty="0"/>
              <a:t> </a:t>
            </a:r>
            <a:r>
              <a:rPr lang="pt-PT" dirty="0" err="1"/>
              <a:t>on</a:t>
            </a:r>
            <a:r>
              <a:rPr lang="pt-PT" dirty="0"/>
              <a:t> a </a:t>
            </a:r>
            <a:r>
              <a:rPr lang="pt-PT" dirty="0" err="1"/>
              <a:t>page</a:t>
            </a:r>
            <a:r>
              <a:rPr lang="pt-PT" dirty="0"/>
              <a:t> </a:t>
            </a:r>
            <a:r>
              <a:rPr lang="pt-PT" dirty="0" err="1"/>
              <a:t>when</a:t>
            </a:r>
            <a:r>
              <a:rPr lang="pt-PT" dirty="0"/>
              <a:t> </a:t>
            </a:r>
            <a:r>
              <a:rPr lang="pt-PT" dirty="0" err="1"/>
              <a:t>compared</a:t>
            </a:r>
            <a:r>
              <a:rPr lang="pt-PT" dirty="0"/>
              <a:t> to </a:t>
            </a:r>
            <a:r>
              <a:rPr lang="pt-PT" dirty="0" err="1"/>
              <a:t>the</a:t>
            </a:r>
            <a:r>
              <a:rPr lang="pt-PT" dirty="0"/>
              <a:t> </a:t>
            </a:r>
            <a:r>
              <a:rPr lang="pt-PT" dirty="0" err="1"/>
              <a:t>totality</a:t>
            </a:r>
            <a:r>
              <a:rPr lang="pt-PT" dirty="0"/>
              <a:t> </a:t>
            </a:r>
            <a:r>
              <a:rPr lang="pt-PT" dirty="0" err="1"/>
              <a:t>of</a:t>
            </a:r>
            <a:r>
              <a:rPr lang="pt-PT" dirty="0"/>
              <a:t> </a:t>
            </a:r>
            <a:r>
              <a:rPr lang="pt-PT" dirty="0" err="1"/>
              <a:t>users</a:t>
            </a:r>
            <a:r>
              <a:rPr lang="pt-PT" dirty="0"/>
              <a:t>.</a:t>
            </a:r>
          </a:p>
          <a:p>
            <a:pPr marL="0" lvl="0" indent="0" algn="l" rtl="0">
              <a:spcBef>
                <a:spcPts val="0"/>
              </a:spcBef>
              <a:spcAft>
                <a:spcPts val="1600"/>
              </a:spcAft>
              <a:buNone/>
            </a:pPr>
            <a:r>
              <a:rPr lang="pt-PT" dirty="0" err="1"/>
              <a:t>Other</a:t>
            </a:r>
            <a:r>
              <a:rPr lang="pt-PT" dirty="0"/>
              <a:t> </a:t>
            </a:r>
            <a:r>
              <a:rPr lang="pt-PT" dirty="0" err="1"/>
              <a:t>kinds</a:t>
            </a:r>
            <a:r>
              <a:rPr lang="pt-PT" dirty="0"/>
              <a:t> </a:t>
            </a:r>
            <a:r>
              <a:rPr lang="pt-PT" dirty="0" err="1"/>
              <a:t>of</a:t>
            </a:r>
            <a:r>
              <a:rPr lang="pt-PT" dirty="0"/>
              <a:t> </a:t>
            </a:r>
            <a:r>
              <a:rPr lang="pt-PT" dirty="0" err="1"/>
              <a:t>analysis</a:t>
            </a:r>
            <a:r>
              <a:rPr lang="pt-PT" dirty="0"/>
              <a:t> </a:t>
            </a:r>
            <a:r>
              <a:rPr lang="pt-PT" dirty="0" err="1"/>
              <a:t>using</a:t>
            </a:r>
            <a:r>
              <a:rPr lang="pt-PT" dirty="0"/>
              <a:t> </a:t>
            </a:r>
            <a:r>
              <a:rPr lang="pt-PT" dirty="0" err="1"/>
              <a:t>averages</a:t>
            </a:r>
            <a:r>
              <a:rPr lang="pt-PT" dirty="0"/>
              <a:t> </a:t>
            </a:r>
            <a:r>
              <a:rPr lang="pt-PT" dirty="0" err="1"/>
              <a:t>and</a:t>
            </a:r>
            <a:r>
              <a:rPr lang="pt-PT" dirty="0"/>
              <a:t> </a:t>
            </a:r>
            <a:r>
              <a:rPr lang="pt-PT" dirty="0" err="1"/>
              <a:t>percentages</a:t>
            </a:r>
            <a:r>
              <a:rPr lang="pt-PT" dirty="0"/>
              <a:t> </a:t>
            </a:r>
            <a:r>
              <a:rPr lang="pt-PT" dirty="0" err="1"/>
              <a:t>could</a:t>
            </a:r>
            <a:r>
              <a:rPr lang="pt-PT" dirty="0"/>
              <a:t> </a:t>
            </a:r>
            <a:r>
              <a:rPr lang="pt-PT" dirty="0" err="1"/>
              <a:t>also</a:t>
            </a:r>
            <a:r>
              <a:rPr lang="pt-PT" dirty="0"/>
              <a:t> </a:t>
            </a:r>
            <a:r>
              <a:rPr lang="pt-PT" dirty="0" err="1"/>
              <a:t>be</a:t>
            </a:r>
            <a:r>
              <a:rPr lang="pt-PT" dirty="0"/>
              <a:t> </a:t>
            </a:r>
            <a:r>
              <a:rPr lang="pt-PT" dirty="0" err="1"/>
              <a:t>performed</a:t>
            </a:r>
            <a:r>
              <a:rPr lang="pt-PT" dirty="0"/>
              <a:t>.</a:t>
            </a:r>
          </a:p>
          <a:p>
            <a:pPr marL="0" lvl="0" indent="0" algn="l" rtl="0">
              <a:spcBef>
                <a:spcPts val="0"/>
              </a:spcBef>
              <a:spcAft>
                <a:spcPts val="1600"/>
              </a:spcAft>
              <a:buNone/>
            </a:pPr>
            <a:endParaRPr dirty="0"/>
          </a:p>
        </p:txBody>
      </p:sp>
      <p:pic>
        <p:nvPicPr>
          <p:cNvPr id="3" name="Picture 2">
            <a:extLst>
              <a:ext uri="{FF2B5EF4-FFF2-40B4-BE49-F238E27FC236}">
                <a16:creationId xmlns:a16="http://schemas.microsoft.com/office/drawing/2014/main" id="{9131ADBF-9129-4765-989D-0377C807264A}"/>
              </a:ext>
            </a:extLst>
          </p:cNvPr>
          <p:cNvPicPr>
            <a:picLocks noChangeAspect="1"/>
          </p:cNvPicPr>
          <p:nvPr/>
        </p:nvPicPr>
        <p:blipFill>
          <a:blip r:embed="rId3"/>
          <a:stretch>
            <a:fillRect/>
          </a:stretch>
        </p:blipFill>
        <p:spPr>
          <a:xfrm>
            <a:off x="438345" y="2540739"/>
            <a:ext cx="6895709" cy="2182239"/>
          </a:xfrm>
          <a:prstGeom prst="rect">
            <a:avLst/>
          </a:prstGeom>
        </p:spPr>
      </p:pic>
    </p:spTree>
    <p:extLst>
      <p:ext uri="{BB962C8B-B14F-4D97-AF65-F5344CB8AC3E}">
        <p14:creationId xmlns:p14="http://schemas.microsoft.com/office/powerpoint/2010/main" val="3355399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Geography</a:t>
            </a:r>
            <a:endParaRPr sz="3200">
              <a:solidFill>
                <a:srgbClr val="02B3E4"/>
              </a:solidFill>
              <a:latin typeface="Open Sans Light"/>
              <a:ea typeface="Open Sans Light"/>
              <a:cs typeface="Open Sans Light"/>
              <a:sym typeface="Open Sans Light"/>
            </a:endParaRPr>
          </a:p>
        </p:txBody>
      </p:sp>
      <p:pic>
        <p:nvPicPr>
          <p:cNvPr id="2" name="Picture 1">
            <a:extLst>
              <a:ext uri="{FF2B5EF4-FFF2-40B4-BE49-F238E27FC236}">
                <a16:creationId xmlns:a16="http://schemas.microsoft.com/office/drawing/2014/main" id="{CCE86872-7343-42F0-8FA6-288C29537BC3}"/>
              </a:ext>
            </a:extLst>
          </p:cNvPr>
          <p:cNvPicPr>
            <a:picLocks noChangeAspect="1"/>
          </p:cNvPicPr>
          <p:nvPr/>
        </p:nvPicPr>
        <p:blipFill>
          <a:blip r:embed="rId3"/>
          <a:stretch>
            <a:fillRect/>
          </a:stretch>
        </p:blipFill>
        <p:spPr>
          <a:xfrm>
            <a:off x="354169" y="2983466"/>
            <a:ext cx="7064062" cy="2285812"/>
          </a:xfrm>
          <a:prstGeom prst="rect">
            <a:avLst/>
          </a:prstGeom>
          <a:ln>
            <a:solidFill>
              <a:schemeClr val="bg1">
                <a:lumMod val="85000"/>
              </a:schemeClr>
            </a:solidFill>
          </a:ln>
        </p:spPr>
      </p:pic>
      <p:sp>
        <p:nvSpPr>
          <p:cNvPr id="10" name="Google Shape;288;p57">
            <a:extLst>
              <a:ext uri="{FF2B5EF4-FFF2-40B4-BE49-F238E27FC236}">
                <a16:creationId xmlns:a16="http://schemas.microsoft.com/office/drawing/2014/main" id="{E7EAFF6C-7167-43C9-88D4-98F4B19241BB}"/>
              </a:ext>
            </a:extLst>
          </p:cNvPr>
          <p:cNvSpPr txBox="1">
            <a:spLocks noGrp="1"/>
          </p:cNvSpPr>
          <p:nvPr>
            <p:ph type="body" idx="1"/>
          </p:nvPr>
        </p:nvSpPr>
        <p:spPr>
          <a:xfrm>
            <a:off x="264963" y="6366077"/>
            <a:ext cx="7242600" cy="3060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dirty="0" err="1"/>
              <a:t>By</a:t>
            </a:r>
            <a:r>
              <a:rPr lang="pt-PT" dirty="0"/>
              <a:t> </a:t>
            </a:r>
            <a:r>
              <a:rPr lang="pt-PT" dirty="0" err="1"/>
              <a:t>selecting</a:t>
            </a:r>
            <a:r>
              <a:rPr lang="pt-PT" dirty="0"/>
              <a:t> a </a:t>
            </a:r>
            <a:r>
              <a:rPr lang="pt-PT" dirty="0" err="1"/>
              <a:t>segment</a:t>
            </a:r>
            <a:r>
              <a:rPr lang="pt-PT" dirty="0"/>
              <a:t> </a:t>
            </a:r>
            <a:r>
              <a:rPr lang="pt-PT" dirty="0" err="1"/>
              <a:t>of</a:t>
            </a:r>
            <a:r>
              <a:rPr lang="pt-PT" dirty="0"/>
              <a:t> </a:t>
            </a:r>
            <a:r>
              <a:rPr lang="pt-PT" dirty="0" err="1"/>
              <a:t>users</a:t>
            </a:r>
            <a:r>
              <a:rPr lang="pt-PT" dirty="0"/>
              <a:t> </a:t>
            </a:r>
            <a:r>
              <a:rPr lang="pt-PT" dirty="0" err="1"/>
              <a:t>that</a:t>
            </a:r>
            <a:r>
              <a:rPr lang="pt-PT" dirty="0"/>
              <a:t> are </a:t>
            </a:r>
            <a:r>
              <a:rPr lang="pt-PT" dirty="0" err="1"/>
              <a:t>located</a:t>
            </a:r>
            <a:r>
              <a:rPr lang="pt-PT" dirty="0"/>
              <a:t> in </a:t>
            </a:r>
            <a:r>
              <a:rPr lang="pt-PT" dirty="0" err="1"/>
              <a:t>Europe</a:t>
            </a:r>
            <a:r>
              <a:rPr lang="pt-PT" dirty="0"/>
              <a:t>, </a:t>
            </a:r>
            <a:r>
              <a:rPr lang="pt-PT" dirty="0" err="1"/>
              <a:t>we</a:t>
            </a:r>
            <a:r>
              <a:rPr lang="pt-PT" dirty="0"/>
              <a:t> can </a:t>
            </a:r>
            <a:r>
              <a:rPr lang="pt-PT" dirty="0" err="1"/>
              <a:t>see</a:t>
            </a:r>
            <a:r>
              <a:rPr lang="pt-PT" dirty="0"/>
              <a:t> </a:t>
            </a:r>
            <a:r>
              <a:rPr lang="pt-PT" dirty="0" err="1"/>
              <a:t>that</a:t>
            </a:r>
            <a:r>
              <a:rPr lang="pt-PT" dirty="0"/>
              <a:t> </a:t>
            </a:r>
            <a:r>
              <a:rPr lang="pt-PT" dirty="0" err="1"/>
              <a:t>it</a:t>
            </a:r>
            <a:r>
              <a:rPr lang="pt-PT" dirty="0"/>
              <a:t> </a:t>
            </a:r>
            <a:r>
              <a:rPr lang="pt-PT" dirty="0" err="1"/>
              <a:t>pertains</a:t>
            </a:r>
            <a:r>
              <a:rPr lang="pt-PT" dirty="0"/>
              <a:t> to 26.27% </a:t>
            </a:r>
            <a:r>
              <a:rPr lang="pt-PT" dirty="0" err="1"/>
              <a:t>of</a:t>
            </a:r>
            <a:r>
              <a:rPr lang="pt-PT" dirty="0"/>
              <a:t> </a:t>
            </a:r>
            <a:r>
              <a:rPr lang="pt-PT" dirty="0" err="1"/>
              <a:t>users</a:t>
            </a:r>
            <a:r>
              <a:rPr lang="pt-PT" dirty="0"/>
              <a:t> (35.300 </a:t>
            </a:r>
            <a:r>
              <a:rPr lang="pt-PT" dirty="0" err="1"/>
              <a:t>users</a:t>
            </a:r>
            <a:r>
              <a:rPr lang="pt-PT" dirty="0"/>
              <a:t>) </a:t>
            </a:r>
            <a:r>
              <a:rPr lang="pt-PT" dirty="0" err="1"/>
              <a:t>and</a:t>
            </a:r>
            <a:r>
              <a:rPr lang="pt-PT" dirty="0"/>
              <a:t> 25.22% </a:t>
            </a:r>
            <a:r>
              <a:rPr lang="pt-PT" dirty="0" err="1"/>
              <a:t>of</a:t>
            </a:r>
            <a:r>
              <a:rPr lang="pt-PT" dirty="0"/>
              <a:t> </a:t>
            </a:r>
            <a:r>
              <a:rPr lang="pt-PT" dirty="0" err="1"/>
              <a:t>sessions</a:t>
            </a:r>
            <a:r>
              <a:rPr lang="pt-PT" dirty="0"/>
              <a:t> (44.492 </a:t>
            </a:r>
            <a:r>
              <a:rPr lang="pt-PT" dirty="0" err="1"/>
              <a:t>sessions</a:t>
            </a:r>
            <a:r>
              <a:rPr lang="pt-PT" dirty="0"/>
              <a:t>).</a:t>
            </a:r>
          </a:p>
          <a:p>
            <a:pPr marL="0" lvl="0" indent="0" algn="l" rtl="0">
              <a:spcBef>
                <a:spcPts val="0"/>
              </a:spcBef>
              <a:spcAft>
                <a:spcPts val="1600"/>
              </a:spcAft>
              <a:buNone/>
            </a:pPr>
            <a:r>
              <a:rPr lang="pt-PT" dirty="0"/>
              <a:t>I can use </a:t>
            </a:r>
            <a:r>
              <a:rPr lang="pt-PT" dirty="0" err="1"/>
              <a:t>this</a:t>
            </a:r>
            <a:r>
              <a:rPr lang="pt-PT" dirty="0"/>
              <a:t> </a:t>
            </a:r>
            <a:r>
              <a:rPr lang="pt-PT" dirty="0" err="1"/>
              <a:t>segment</a:t>
            </a:r>
            <a:r>
              <a:rPr lang="pt-PT" dirty="0"/>
              <a:t> to </a:t>
            </a:r>
            <a:r>
              <a:rPr lang="pt-PT" dirty="0" err="1"/>
              <a:t>answer</a:t>
            </a:r>
            <a:r>
              <a:rPr lang="pt-PT" dirty="0"/>
              <a:t> </a:t>
            </a:r>
            <a:r>
              <a:rPr lang="pt-PT" dirty="0" err="1"/>
              <a:t>questions</a:t>
            </a:r>
            <a:r>
              <a:rPr lang="pt-PT" dirty="0"/>
              <a:t> </a:t>
            </a:r>
            <a:r>
              <a:rPr lang="pt-PT" dirty="0" err="1"/>
              <a:t>such</a:t>
            </a:r>
            <a:r>
              <a:rPr lang="pt-PT" dirty="0"/>
              <a:t> as:</a:t>
            </a:r>
          </a:p>
          <a:p>
            <a:pPr marL="0" lvl="0" indent="0" algn="l" rtl="0">
              <a:spcBef>
                <a:spcPts val="0"/>
              </a:spcBef>
              <a:spcAft>
                <a:spcPts val="1600"/>
              </a:spcAft>
              <a:buNone/>
            </a:pPr>
            <a:r>
              <a:rPr lang="pt-PT" dirty="0" err="1"/>
              <a:t>How</a:t>
            </a:r>
            <a:r>
              <a:rPr lang="pt-PT" dirty="0"/>
              <a:t> do </a:t>
            </a:r>
            <a:r>
              <a:rPr lang="pt-PT" dirty="0" err="1"/>
              <a:t>my</a:t>
            </a:r>
            <a:r>
              <a:rPr lang="pt-PT" dirty="0"/>
              <a:t> </a:t>
            </a:r>
            <a:r>
              <a:rPr lang="pt-PT" dirty="0" err="1"/>
              <a:t>European</a:t>
            </a:r>
            <a:r>
              <a:rPr lang="pt-PT" dirty="0"/>
              <a:t> </a:t>
            </a:r>
            <a:r>
              <a:rPr lang="pt-PT" dirty="0" err="1"/>
              <a:t>users</a:t>
            </a:r>
            <a:r>
              <a:rPr lang="pt-PT" dirty="0"/>
              <a:t> </a:t>
            </a:r>
            <a:r>
              <a:rPr lang="pt-PT" dirty="0" err="1"/>
              <a:t>behave</a:t>
            </a:r>
            <a:r>
              <a:rPr lang="pt-PT" dirty="0"/>
              <a:t>, </a:t>
            </a:r>
            <a:r>
              <a:rPr lang="pt-PT" dirty="0" err="1"/>
              <a:t>related</a:t>
            </a:r>
            <a:r>
              <a:rPr lang="pt-PT" dirty="0"/>
              <a:t> to </a:t>
            </a:r>
            <a:r>
              <a:rPr lang="pt-PT" dirty="0" err="1"/>
              <a:t>other</a:t>
            </a:r>
            <a:r>
              <a:rPr lang="pt-PT" dirty="0"/>
              <a:t> </a:t>
            </a:r>
            <a:r>
              <a:rPr lang="pt-PT" dirty="0" err="1"/>
              <a:t>continents</a:t>
            </a:r>
            <a:r>
              <a:rPr lang="pt-PT" dirty="0"/>
              <a:t>?</a:t>
            </a:r>
          </a:p>
          <a:p>
            <a:pPr marL="0" lvl="0" indent="0" algn="l" rtl="0">
              <a:spcBef>
                <a:spcPts val="0"/>
              </a:spcBef>
              <a:spcAft>
                <a:spcPts val="1600"/>
              </a:spcAft>
              <a:buNone/>
            </a:pPr>
            <a:r>
              <a:rPr lang="pt-PT" dirty="0"/>
              <a:t>Are </a:t>
            </a:r>
            <a:r>
              <a:rPr lang="pt-PT" dirty="0" err="1"/>
              <a:t>there</a:t>
            </a:r>
            <a:r>
              <a:rPr lang="pt-PT" dirty="0"/>
              <a:t> </a:t>
            </a:r>
            <a:r>
              <a:rPr lang="pt-PT" dirty="0" err="1"/>
              <a:t>any</a:t>
            </a:r>
            <a:r>
              <a:rPr lang="pt-PT" dirty="0"/>
              <a:t> </a:t>
            </a:r>
            <a:r>
              <a:rPr lang="pt-PT" dirty="0" err="1"/>
              <a:t>differences</a:t>
            </a:r>
            <a:r>
              <a:rPr lang="pt-PT" dirty="0"/>
              <a:t> </a:t>
            </a:r>
            <a:r>
              <a:rPr lang="pt-PT" dirty="0" err="1"/>
              <a:t>between</a:t>
            </a:r>
            <a:r>
              <a:rPr lang="pt-PT" dirty="0"/>
              <a:t> </a:t>
            </a:r>
            <a:r>
              <a:rPr lang="pt-PT" dirty="0" err="1"/>
              <a:t>these</a:t>
            </a:r>
            <a:r>
              <a:rPr lang="pt-PT" dirty="0"/>
              <a:t>?</a:t>
            </a:r>
          </a:p>
          <a:p>
            <a:pPr marL="0" lvl="0" indent="0" algn="l" rtl="0">
              <a:spcBef>
                <a:spcPts val="0"/>
              </a:spcBef>
              <a:spcAft>
                <a:spcPts val="1600"/>
              </a:spcAft>
              <a:buNone/>
            </a:pPr>
            <a:endParaRPr lang="pt-PT" dirty="0"/>
          </a:p>
          <a:p>
            <a:pPr marL="0" lvl="0" indent="0" algn="l" rtl="0">
              <a:spcBef>
                <a:spcPts val="0"/>
              </a:spcBef>
              <a:spcAft>
                <a:spcPts val="1600"/>
              </a:spcAft>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Geography</a:t>
            </a:r>
            <a:endParaRPr sz="3200">
              <a:solidFill>
                <a:srgbClr val="02B3E4"/>
              </a:solidFill>
              <a:latin typeface="Open Sans Light"/>
              <a:ea typeface="Open Sans Light"/>
              <a:cs typeface="Open Sans Light"/>
              <a:sym typeface="Open Sans Light"/>
            </a:endParaRPr>
          </a:p>
        </p:txBody>
      </p:sp>
      <p:sp>
        <p:nvSpPr>
          <p:cNvPr id="10" name="Google Shape;288;p57">
            <a:extLst>
              <a:ext uri="{FF2B5EF4-FFF2-40B4-BE49-F238E27FC236}">
                <a16:creationId xmlns:a16="http://schemas.microsoft.com/office/drawing/2014/main" id="{E7EAFF6C-7167-43C9-88D4-98F4B19241BB}"/>
              </a:ext>
            </a:extLst>
          </p:cNvPr>
          <p:cNvSpPr txBox="1">
            <a:spLocks noGrp="1"/>
          </p:cNvSpPr>
          <p:nvPr>
            <p:ph type="body" idx="1"/>
          </p:nvPr>
        </p:nvSpPr>
        <p:spPr>
          <a:xfrm>
            <a:off x="264963" y="6366077"/>
            <a:ext cx="7242600" cy="3060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pt-PT" dirty="0" err="1"/>
              <a:t>By</a:t>
            </a:r>
            <a:r>
              <a:rPr lang="pt-PT" dirty="0"/>
              <a:t> </a:t>
            </a:r>
            <a:r>
              <a:rPr lang="pt-PT" dirty="0" err="1"/>
              <a:t>selecting</a:t>
            </a:r>
            <a:r>
              <a:rPr lang="pt-PT" dirty="0"/>
              <a:t> a </a:t>
            </a:r>
            <a:r>
              <a:rPr lang="pt-PT" dirty="0" err="1"/>
              <a:t>segment</a:t>
            </a:r>
            <a:r>
              <a:rPr lang="pt-PT" dirty="0"/>
              <a:t> </a:t>
            </a:r>
            <a:r>
              <a:rPr lang="pt-PT" dirty="0" err="1"/>
              <a:t>of</a:t>
            </a:r>
            <a:r>
              <a:rPr lang="pt-PT" dirty="0"/>
              <a:t> </a:t>
            </a:r>
            <a:r>
              <a:rPr lang="pt-PT" dirty="0" err="1"/>
              <a:t>users</a:t>
            </a:r>
            <a:r>
              <a:rPr lang="pt-PT" dirty="0"/>
              <a:t> </a:t>
            </a:r>
            <a:r>
              <a:rPr lang="pt-PT" dirty="0" err="1"/>
              <a:t>that</a:t>
            </a:r>
            <a:r>
              <a:rPr lang="pt-PT" dirty="0"/>
              <a:t> are </a:t>
            </a:r>
            <a:r>
              <a:rPr lang="pt-PT" dirty="0" err="1"/>
              <a:t>located</a:t>
            </a:r>
            <a:r>
              <a:rPr lang="pt-PT" dirty="0"/>
              <a:t> in </a:t>
            </a:r>
            <a:r>
              <a:rPr lang="pt-PT" dirty="0" err="1"/>
              <a:t>Europe</a:t>
            </a:r>
            <a:r>
              <a:rPr lang="pt-PT" dirty="0"/>
              <a:t>, </a:t>
            </a:r>
            <a:r>
              <a:rPr lang="pt-PT" dirty="0" err="1"/>
              <a:t>find</a:t>
            </a:r>
            <a:r>
              <a:rPr lang="pt-PT" dirty="0"/>
              <a:t> </a:t>
            </a:r>
            <a:r>
              <a:rPr lang="pt-PT" dirty="0" err="1"/>
              <a:t>that</a:t>
            </a:r>
            <a:r>
              <a:rPr lang="pt-PT" dirty="0"/>
              <a:t> </a:t>
            </a:r>
            <a:r>
              <a:rPr lang="pt-PT" dirty="0" err="1"/>
              <a:t>based</a:t>
            </a:r>
            <a:r>
              <a:rPr lang="pt-PT" dirty="0"/>
              <a:t> </a:t>
            </a:r>
            <a:r>
              <a:rPr lang="pt-PT" dirty="0" err="1"/>
              <a:t>on</a:t>
            </a:r>
            <a:r>
              <a:rPr lang="pt-PT" dirty="0"/>
              <a:t> </a:t>
            </a:r>
            <a:r>
              <a:rPr lang="pt-PT" dirty="0" err="1"/>
              <a:t>the</a:t>
            </a:r>
            <a:r>
              <a:rPr lang="pt-PT" dirty="0"/>
              <a:t> </a:t>
            </a:r>
            <a:r>
              <a:rPr lang="pt-PT" dirty="0" err="1"/>
              <a:t>average</a:t>
            </a:r>
            <a:r>
              <a:rPr lang="pt-PT" dirty="0"/>
              <a:t> </a:t>
            </a:r>
            <a:r>
              <a:rPr lang="pt-PT" dirty="0" err="1"/>
              <a:t>quantity</a:t>
            </a:r>
            <a:r>
              <a:rPr lang="pt-PT" dirty="0"/>
              <a:t> </a:t>
            </a:r>
            <a:r>
              <a:rPr lang="pt-PT" dirty="0" err="1"/>
              <a:t>bought</a:t>
            </a:r>
            <a:r>
              <a:rPr lang="pt-PT" dirty="0"/>
              <a:t> for </a:t>
            </a:r>
            <a:r>
              <a:rPr lang="pt-PT" dirty="0" err="1"/>
              <a:t>the</a:t>
            </a:r>
            <a:r>
              <a:rPr lang="pt-PT" dirty="0"/>
              <a:t> dates </a:t>
            </a:r>
            <a:r>
              <a:rPr lang="pt-PT" dirty="0" err="1"/>
              <a:t>between</a:t>
            </a:r>
            <a:r>
              <a:rPr lang="pt-PT" dirty="0"/>
              <a:t> 1 Jan 2020 </a:t>
            </a:r>
            <a:r>
              <a:rPr lang="pt-PT" dirty="0" err="1"/>
              <a:t>and</a:t>
            </a:r>
            <a:r>
              <a:rPr lang="pt-PT" dirty="0"/>
              <a:t> 31 Mar 2020, </a:t>
            </a:r>
            <a:r>
              <a:rPr lang="pt-PT" dirty="0" err="1"/>
              <a:t>European</a:t>
            </a:r>
            <a:r>
              <a:rPr lang="pt-PT" dirty="0"/>
              <a:t> </a:t>
            </a:r>
            <a:r>
              <a:rPr lang="pt-PT" dirty="0" err="1"/>
              <a:t>users</a:t>
            </a:r>
            <a:r>
              <a:rPr lang="pt-PT" dirty="0"/>
              <a:t> </a:t>
            </a:r>
            <a:r>
              <a:rPr lang="pt-PT" dirty="0" err="1"/>
              <a:t>purchase</a:t>
            </a:r>
            <a:r>
              <a:rPr lang="pt-PT" dirty="0"/>
              <a:t> in </a:t>
            </a:r>
            <a:r>
              <a:rPr lang="pt-PT" dirty="0" err="1"/>
              <a:t>smaller</a:t>
            </a:r>
            <a:r>
              <a:rPr lang="pt-PT" dirty="0"/>
              <a:t> </a:t>
            </a:r>
            <a:r>
              <a:rPr lang="pt-PT" dirty="0" err="1"/>
              <a:t>quantities</a:t>
            </a:r>
            <a:r>
              <a:rPr lang="pt-PT" dirty="0"/>
              <a:t>.</a:t>
            </a:r>
          </a:p>
          <a:p>
            <a:pPr marL="0" lvl="0" indent="0" algn="l" rtl="0">
              <a:spcBef>
                <a:spcPts val="0"/>
              </a:spcBef>
              <a:spcAft>
                <a:spcPts val="1600"/>
              </a:spcAft>
              <a:buNone/>
            </a:pPr>
            <a:endParaRPr lang="pt-PT" dirty="0"/>
          </a:p>
          <a:p>
            <a:pPr marL="0" lvl="0" indent="0" algn="l" rtl="0">
              <a:spcBef>
                <a:spcPts val="0"/>
              </a:spcBef>
              <a:spcAft>
                <a:spcPts val="1600"/>
              </a:spcAft>
              <a:buNone/>
            </a:pPr>
            <a:endParaRPr lang="pt-PT" dirty="0"/>
          </a:p>
          <a:p>
            <a:pPr marL="0" lvl="0" indent="0" algn="l" rtl="0">
              <a:spcBef>
                <a:spcPts val="0"/>
              </a:spcBef>
              <a:spcAft>
                <a:spcPts val="1600"/>
              </a:spcAft>
              <a:buNone/>
            </a:pPr>
            <a:endParaRPr dirty="0"/>
          </a:p>
        </p:txBody>
      </p:sp>
      <p:pic>
        <p:nvPicPr>
          <p:cNvPr id="3" name="Picture 2">
            <a:extLst>
              <a:ext uri="{FF2B5EF4-FFF2-40B4-BE49-F238E27FC236}">
                <a16:creationId xmlns:a16="http://schemas.microsoft.com/office/drawing/2014/main" id="{4339D407-5DD0-42D0-975E-618363422DA7}"/>
              </a:ext>
            </a:extLst>
          </p:cNvPr>
          <p:cNvPicPr>
            <a:picLocks noChangeAspect="1"/>
          </p:cNvPicPr>
          <p:nvPr/>
        </p:nvPicPr>
        <p:blipFill>
          <a:blip r:embed="rId3"/>
          <a:stretch>
            <a:fillRect/>
          </a:stretch>
        </p:blipFill>
        <p:spPr>
          <a:xfrm>
            <a:off x="399245" y="2273562"/>
            <a:ext cx="6684135" cy="3344077"/>
          </a:xfrm>
          <a:prstGeom prst="rect">
            <a:avLst/>
          </a:prstGeom>
          <a:ln>
            <a:solidFill>
              <a:schemeClr val="bg1">
                <a:lumMod val="85000"/>
              </a:schemeClr>
            </a:solidFill>
          </a:ln>
        </p:spPr>
      </p:pic>
    </p:spTree>
    <p:extLst>
      <p:ext uri="{BB962C8B-B14F-4D97-AF65-F5344CB8AC3E}">
        <p14:creationId xmlns:p14="http://schemas.microsoft.com/office/powerpoint/2010/main" val="2146332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User Behavior</a:t>
            </a:r>
            <a:endParaRPr sz="320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264963" y="6366077"/>
            <a:ext cx="7242600" cy="30609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By selecting a segment of users that are New Visitors, we can see that it pertains to 96.13% of users (129.159 users) and 73.33% of sessions (129.367 sessions).</a:t>
            </a:r>
          </a:p>
          <a:p>
            <a:pPr marL="0" lvl="0" indent="0">
              <a:spcAft>
                <a:spcPts val="1600"/>
              </a:spcAft>
              <a:buNone/>
            </a:pPr>
            <a:r>
              <a:rPr lang="en-US" dirty="0"/>
              <a:t>I can user this segment to answer the question:</a:t>
            </a:r>
          </a:p>
          <a:p>
            <a:pPr marL="0" lvl="0" indent="0">
              <a:spcAft>
                <a:spcPts val="1600"/>
              </a:spcAft>
              <a:buNone/>
            </a:pPr>
            <a:r>
              <a:rPr lang="en-US" dirty="0"/>
              <a:t>- What was the contribution of the segment to the Revenue in the time period for the different Channels?</a:t>
            </a:r>
          </a:p>
          <a:p>
            <a:pPr marL="0" lvl="0" indent="0">
              <a:spcAft>
                <a:spcPts val="1600"/>
              </a:spcAft>
              <a:buNone/>
            </a:pPr>
            <a:endParaRPr lang="en-US" dirty="0"/>
          </a:p>
        </p:txBody>
      </p:sp>
      <p:pic>
        <p:nvPicPr>
          <p:cNvPr id="3" name="Picture 2">
            <a:extLst>
              <a:ext uri="{FF2B5EF4-FFF2-40B4-BE49-F238E27FC236}">
                <a16:creationId xmlns:a16="http://schemas.microsoft.com/office/drawing/2014/main" id="{9FC02B16-177D-47F1-B693-C801128723B5}"/>
              </a:ext>
            </a:extLst>
          </p:cNvPr>
          <p:cNvPicPr>
            <a:picLocks noChangeAspect="1"/>
          </p:cNvPicPr>
          <p:nvPr/>
        </p:nvPicPr>
        <p:blipFill>
          <a:blip r:embed="rId3"/>
          <a:stretch>
            <a:fillRect/>
          </a:stretch>
        </p:blipFill>
        <p:spPr>
          <a:xfrm>
            <a:off x="370267" y="2283986"/>
            <a:ext cx="7031865" cy="2812746"/>
          </a:xfrm>
          <a:prstGeom prst="rect">
            <a:avLst/>
          </a:prstGeom>
          <a:ln>
            <a:solidFill>
              <a:schemeClr val="bg1">
                <a:lumMod val="85000"/>
              </a:schemeClr>
            </a:solidFill>
          </a:ln>
        </p:spPr>
      </p:pic>
    </p:spTree>
    <p:extLst>
      <p:ext uri="{BB962C8B-B14F-4D97-AF65-F5344CB8AC3E}">
        <p14:creationId xmlns:p14="http://schemas.microsoft.com/office/powerpoint/2010/main" val="4019054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a:solidFill>
                  <a:srgbClr val="02B3E4"/>
                </a:solidFill>
                <a:latin typeface="Open Sans Light"/>
                <a:ea typeface="Open Sans Light"/>
                <a:cs typeface="Open Sans Light"/>
                <a:sym typeface="Open Sans Light"/>
              </a:rPr>
              <a:t>Audience Segment: User Behavior</a:t>
            </a:r>
            <a:endParaRPr sz="320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264963" y="6366077"/>
            <a:ext cx="7242600" cy="30609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From the image above, we can see that the revenue for the time period in analysis was $6,680.50, which answers our question.</a:t>
            </a:r>
          </a:p>
          <a:p>
            <a:pPr marL="0" lvl="0" indent="0">
              <a:spcAft>
                <a:spcPts val="1600"/>
              </a:spcAft>
              <a:buNone/>
            </a:pPr>
            <a:r>
              <a:rPr lang="en-US" dirty="0"/>
              <a:t>Some deeper analysis could also be conducted, to compare between New Visitor Segments and all users.</a:t>
            </a:r>
          </a:p>
          <a:p>
            <a:pPr marL="0" lvl="0" indent="0">
              <a:spcAft>
                <a:spcPts val="1600"/>
              </a:spcAft>
              <a:buNone/>
            </a:pPr>
            <a:endParaRPr lang="en-US" dirty="0"/>
          </a:p>
        </p:txBody>
      </p:sp>
      <p:pic>
        <p:nvPicPr>
          <p:cNvPr id="2" name="Picture 1">
            <a:extLst>
              <a:ext uri="{FF2B5EF4-FFF2-40B4-BE49-F238E27FC236}">
                <a16:creationId xmlns:a16="http://schemas.microsoft.com/office/drawing/2014/main" id="{3C935E72-3650-463E-9DBD-F10EB0E234FA}"/>
              </a:ext>
            </a:extLst>
          </p:cNvPr>
          <p:cNvPicPr>
            <a:picLocks noChangeAspect="1"/>
          </p:cNvPicPr>
          <p:nvPr/>
        </p:nvPicPr>
        <p:blipFill>
          <a:blip r:embed="rId3"/>
          <a:stretch>
            <a:fillRect/>
          </a:stretch>
        </p:blipFill>
        <p:spPr>
          <a:xfrm>
            <a:off x="340067" y="2305233"/>
            <a:ext cx="6894146" cy="3318327"/>
          </a:xfrm>
          <a:prstGeom prst="rect">
            <a:avLst/>
          </a:prstGeom>
          <a:ln>
            <a:solidFill>
              <a:schemeClr val="bg1">
                <a:lumMod val="85000"/>
              </a:schemeClr>
            </a:solidFill>
          </a:ln>
        </p:spPr>
      </p:pic>
    </p:spTree>
    <p:extLst>
      <p:ext uri="{BB962C8B-B14F-4D97-AF65-F5344CB8AC3E}">
        <p14:creationId xmlns:p14="http://schemas.microsoft.com/office/powerpoint/2010/main" val="971384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p55"/>
          <p:cNvSpPr txBox="1">
            <a:spLocks noGrp="1"/>
          </p:cNvSpPr>
          <p:nvPr>
            <p:ph type="ctrTitle"/>
          </p:nvPr>
        </p:nvSpPr>
        <p:spPr>
          <a:xfrm>
            <a:off x="347400" y="1947675"/>
            <a:ext cx="7077600" cy="29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solidFill>
                  <a:srgbClr val="FAFBFC"/>
                </a:solidFill>
                <a:latin typeface="Open Sans Light"/>
                <a:ea typeface="Open Sans Light"/>
                <a:cs typeface="Open Sans Light"/>
                <a:sym typeface="Open Sans Light"/>
              </a:rPr>
              <a:t>Part </a:t>
            </a:r>
            <a:r>
              <a:rPr lang="en-US" sz="4800" dirty="0">
                <a:solidFill>
                  <a:srgbClr val="FAFBFC"/>
                </a:solidFill>
                <a:latin typeface="Open Sans Light"/>
                <a:ea typeface="Open Sans Light"/>
                <a:cs typeface="Open Sans Light"/>
                <a:sym typeface="Open Sans Light"/>
              </a:rPr>
              <a:t>Two:</a:t>
            </a:r>
            <a:br>
              <a:rPr lang="en-US" sz="4800" dirty="0">
                <a:solidFill>
                  <a:srgbClr val="FAFBFC"/>
                </a:solidFill>
                <a:latin typeface="Open Sans Light"/>
                <a:ea typeface="Open Sans Light"/>
                <a:cs typeface="Open Sans Light"/>
                <a:sym typeface="Open Sans Light"/>
              </a:rPr>
            </a:br>
            <a:r>
              <a:rPr lang="en-US" sz="4800" dirty="0">
                <a:solidFill>
                  <a:srgbClr val="FAFBFC"/>
                </a:solidFill>
                <a:latin typeface="Open Sans Light"/>
                <a:ea typeface="Open Sans Light"/>
                <a:cs typeface="Open Sans Light"/>
                <a:sym typeface="Open Sans Light"/>
              </a:rPr>
              <a:t>Connecting a Data Source and Creating a Custom Dashboard</a:t>
            </a:r>
            <a:endParaRPr sz="3600" dirty="0">
              <a:solidFill>
                <a:srgbClr val="FAFBFC"/>
              </a:solidFill>
              <a:latin typeface="Open Sans"/>
              <a:ea typeface="Open Sans"/>
              <a:cs typeface="Open Sans"/>
              <a:sym typeface="Open Sans"/>
            </a:endParaRPr>
          </a:p>
        </p:txBody>
      </p:sp>
      <p:sp>
        <p:nvSpPr>
          <p:cNvPr id="275" name="Google Shape;275;p55"/>
          <p:cNvSpPr/>
          <p:nvPr/>
        </p:nvSpPr>
        <p:spPr>
          <a:xfrm>
            <a:off x="835859" y="5029201"/>
            <a:ext cx="1340671" cy="78576"/>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2" name="Google Shape;332;p62">
            <a:extLst>
              <a:ext uri="{FF2B5EF4-FFF2-40B4-BE49-F238E27FC236}">
                <a16:creationId xmlns:a16="http://schemas.microsoft.com/office/drawing/2014/main" id="{4DDAC133-329F-4E8D-B61F-807E586758C2}"/>
              </a:ext>
            </a:extLst>
          </p:cNvPr>
          <p:cNvPicPr preferRelativeResize="0"/>
          <p:nvPr/>
        </p:nvPicPr>
        <p:blipFill>
          <a:blip r:embed="rId4">
            <a:alphaModFix/>
          </a:blip>
          <a:stretch>
            <a:fillRect/>
          </a:stretch>
        </p:blipFill>
        <p:spPr>
          <a:xfrm>
            <a:off x="347400" y="281900"/>
            <a:ext cx="1395250" cy="690650"/>
          </a:xfrm>
          <a:prstGeom prst="rect">
            <a:avLst/>
          </a:prstGeom>
          <a:noFill/>
          <a:ln>
            <a:noFill/>
          </a:ln>
        </p:spPr>
      </p:pic>
    </p:spTree>
    <p:extLst>
      <p:ext uri="{BB962C8B-B14F-4D97-AF65-F5344CB8AC3E}">
        <p14:creationId xmlns:p14="http://schemas.microsoft.com/office/powerpoint/2010/main" val="2465797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1. </a:t>
            </a:r>
            <a:r>
              <a:rPr lang="en-US" sz="3200" dirty="0">
                <a:solidFill>
                  <a:srgbClr val="02B3E4"/>
                </a:solidFill>
                <a:latin typeface="Open Sans Light"/>
                <a:ea typeface="Open Sans Light"/>
                <a:cs typeface="Open Sans Light"/>
                <a:sym typeface="Open Sans Light"/>
              </a:rPr>
              <a:t>Merchandise Store Draft Dashboard</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264945" y="6700927"/>
            <a:ext cx="7242600" cy="30609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First, I went ahead and created a report by clicking on Create and then Report.</a:t>
            </a:r>
          </a:p>
          <a:p>
            <a:pPr marL="0" lvl="0" indent="0">
              <a:spcAft>
                <a:spcPts val="1600"/>
              </a:spcAft>
              <a:buNone/>
            </a:pPr>
            <a:r>
              <a:rPr lang="en-US" dirty="0"/>
              <a:t>Then, I changed its name to Merchandise Store Draft Dashboard in the title.</a:t>
            </a:r>
          </a:p>
          <a:p>
            <a:pPr marL="0" lvl="0" indent="0">
              <a:spcAft>
                <a:spcPts val="1600"/>
              </a:spcAft>
              <a:buNone/>
            </a:pPr>
            <a:endParaRPr lang="en-US" dirty="0"/>
          </a:p>
        </p:txBody>
      </p:sp>
      <p:pic>
        <p:nvPicPr>
          <p:cNvPr id="3" name="Picture 2">
            <a:extLst>
              <a:ext uri="{FF2B5EF4-FFF2-40B4-BE49-F238E27FC236}">
                <a16:creationId xmlns:a16="http://schemas.microsoft.com/office/drawing/2014/main" id="{B6E08D21-4900-4B5C-9511-0CA09AF26D6F}"/>
              </a:ext>
            </a:extLst>
          </p:cNvPr>
          <p:cNvPicPr>
            <a:picLocks noChangeAspect="1"/>
          </p:cNvPicPr>
          <p:nvPr/>
        </p:nvPicPr>
        <p:blipFill>
          <a:blip r:embed="rId3"/>
          <a:stretch>
            <a:fillRect/>
          </a:stretch>
        </p:blipFill>
        <p:spPr>
          <a:xfrm>
            <a:off x="339525" y="2508173"/>
            <a:ext cx="7096259" cy="2040079"/>
          </a:xfrm>
          <a:prstGeom prst="rect">
            <a:avLst/>
          </a:prstGeom>
          <a:ln>
            <a:solidFill>
              <a:schemeClr val="tx1"/>
            </a:solidFill>
          </a:ln>
        </p:spPr>
      </p:pic>
      <p:pic>
        <p:nvPicPr>
          <p:cNvPr id="4" name="Picture 3">
            <a:extLst>
              <a:ext uri="{FF2B5EF4-FFF2-40B4-BE49-F238E27FC236}">
                <a16:creationId xmlns:a16="http://schemas.microsoft.com/office/drawing/2014/main" id="{D087E54F-8DAA-45A8-800F-A7EDC3F27528}"/>
              </a:ext>
            </a:extLst>
          </p:cNvPr>
          <p:cNvPicPr>
            <a:picLocks noChangeAspect="1"/>
          </p:cNvPicPr>
          <p:nvPr/>
        </p:nvPicPr>
        <p:blipFill>
          <a:blip r:embed="rId4"/>
          <a:stretch>
            <a:fillRect/>
          </a:stretch>
        </p:blipFill>
        <p:spPr>
          <a:xfrm>
            <a:off x="339524" y="4819969"/>
            <a:ext cx="7096259" cy="492570"/>
          </a:xfrm>
          <a:prstGeom prst="rect">
            <a:avLst/>
          </a:prstGeom>
          <a:ln>
            <a:solidFill>
              <a:schemeClr val="tx1"/>
            </a:solidFill>
          </a:ln>
        </p:spPr>
      </p:pic>
    </p:spTree>
    <p:extLst>
      <p:ext uri="{BB962C8B-B14F-4D97-AF65-F5344CB8AC3E}">
        <p14:creationId xmlns:p14="http://schemas.microsoft.com/office/powerpoint/2010/main" val="3306122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1. </a:t>
            </a:r>
            <a:r>
              <a:rPr lang="en-US" sz="3200" dirty="0">
                <a:solidFill>
                  <a:srgbClr val="02B3E4"/>
                </a:solidFill>
                <a:latin typeface="Open Sans Light"/>
                <a:ea typeface="Open Sans Light"/>
                <a:cs typeface="Open Sans Light"/>
                <a:sym typeface="Open Sans Light"/>
              </a:rPr>
              <a:t>Merchandise Store Draft Dashboard</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264945" y="6327435"/>
            <a:ext cx="7242600" cy="30609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First, I went ahead and created a report by clicking on Create and then Report.</a:t>
            </a:r>
          </a:p>
          <a:p>
            <a:pPr marL="0" lvl="0" indent="0">
              <a:spcAft>
                <a:spcPts val="1600"/>
              </a:spcAft>
              <a:buNone/>
            </a:pPr>
            <a:r>
              <a:rPr lang="en-US" dirty="0"/>
              <a:t>Then, I changed its name to Merchandise Store Draft Dashboard in the title.</a:t>
            </a:r>
          </a:p>
          <a:p>
            <a:pPr marL="0" lvl="0" indent="0">
              <a:spcAft>
                <a:spcPts val="1600"/>
              </a:spcAft>
              <a:buNone/>
            </a:pPr>
            <a:r>
              <a:rPr lang="en-US" dirty="0"/>
              <a:t>After doing so, I went over to Resource </a:t>
            </a:r>
            <a:r>
              <a:rPr lang="en-US" dirty="0">
                <a:sym typeface="Wingdings" panose="05000000000000000000" pitchFamily="2" charset="2"/>
              </a:rPr>
              <a:t> Manage Added Data Sources  Add a Data Source  Selected Google Analytics  Selected the Demo Account, Google Merchandise Store  Master View.</a:t>
            </a:r>
            <a:endParaRPr lang="en-US" dirty="0"/>
          </a:p>
          <a:p>
            <a:pPr marL="0" lvl="0" indent="0">
              <a:spcAft>
                <a:spcPts val="1600"/>
              </a:spcAft>
              <a:buNone/>
            </a:pPr>
            <a:r>
              <a:rPr lang="en-US" dirty="0"/>
              <a:t> </a:t>
            </a:r>
          </a:p>
        </p:txBody>
      </p:sp>
      <p:pic>
        <p:nvPicPr>
          <p:cNvPr id="3" name="Picture 2">
            <a:extLst>
              <a:ext uri="{FF2B5EF4-FFF2-40B4-BE49-F238E27FC236}">
                <a16:creationId xmlns:a16="http://schemas.microsoft.com/office/drawing/2014/main" id="{B6E08D21-4900-4B5C-9511-0CA09AF26D6F}"/>
              </a:ext>
            </a:extLst>
          </p:cNvPr>
          <p:cNvPicPr>
            <a:picLocks noChangeAspect="1"/>
          </p:cNvPicPr>
          <p:nvPr/>
        </p:nvPicPr>
        <p:blipFill>
          <a:blip r:embed="rId3"/>
          <a:stretch>
            <a:fillRect/>
          </a:stretch>
        </p:blipFill>
        <p:spPr>
          <a:xfrm>
            <a:off x="339525" y="1877108"/>
            <a:ext cx="7096259" cy="2040079"/>
          </a:xfrm>
          <a:prstGeom prst="rect">
            <a:avLst/>
          </a:prstGeom>
          <a:ln>
            <a:solidFill>
              <a:schemeClr val="tx1"/>
            </a:solidFill>
          </a:ln>
        </p:spPr>
      </p:pic>
      <p:pic>
        <p:nvPicPr>
          <p:cNvPr id="2" name="Picture 1">
            <a:extLst>
              <a:ext uri="{FF2B5EF4-FFF2-40B4-BE49-F238E27FC236}">
                <a16:creationId xmlns:a16="http://schemas.microsoft.com/office/drawing/2014/main" id="{F1603FBA-5208-4866-9250-1AB2F57E3D24}"/>
              </a:ext>
            </a:extLst>
          </p:cNvPr>
          <p:cNvPicPr>
            <a:picLocks noChangeAspect="1"/>
          </p:cNvPicPr>
          <p:nvPr/>
        </p:nvPicPr>
        <p:blipFill>
          <a:blip r:embed="rId4"/>
          <a:stretch>
            <a:fillRect/>
          </a:stretch>
        </p:blipFill>
        <p:spPr>
          <a:xfrm>
            <a:off x="339524" y="4215194"/>
            <a:ext cx="7096259" cy="1696210"/>
          </a:xfrm>
          <a:prstGeom prst="rect">
            <a:avLst/>
          </a:prstGeom>
          <a:ln>
            <a:solidFill>
              <a:schemeClr val="tx1"/>
            </a:solidFill>
          </a:ln>
        </p:spPr>
      </p:pic>
    </p:spTree>
    <p:extLst>
      <p:ext uri="{BB962C8B-B14F-4D97-AF65-F5344CB8AC3E}">
        <p14:creationId xmlns:p14="http://schemas.microsoft.com/office/powerpoint/2010/main" val="156190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2. </a:t>
            </a:r>
            <a:r>
              <a:rPr lang="en-US" sz="3200" dirty="0">
                <a:solidFill>
                  <a:srgbClr val="02B3E4"/>
                </a:solidFill>
                <a:latin typeface="Open Sans Light"/>
                <a:ea typeface="Open Sans Light"/>
                <a:cs typeface="Open Sans Light"/>
                <a:sym typeface="Open Sans Light"/>
              </a:rPr>
              <a:t>Merchandise Store Draft Dashboard: Time Series chart</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264945" y="6700927"/>
            <a:ext cx="7242600" cy="3060900"/>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I created a Time Series chart, to analyze the trends of Sessions, Unique Pageviews and Users for the selected time period from 1 August 2018 until 5 September 2018.</a:t>
            </a:r>
          </a:p>
          <a:p>
            <a:pPr marL="0" lvl="0" indent="0">
              <a:spcAft>
                <a:spcPts val="1600"/>
              </a:spcAft>
              <a:buNone/>
            </a:pPr>
            <a:r>
              <a:rPr lang="en-US" dirty="0"/>
              <a:t>Using this chart, it’s possible to draw some insights, such as the ups and downs, based on the end of the week and recovering at the start of the next week.</a:t>
            </a:r>
          </a:p>
          <a:p>
            <a:pPr marL="0" lvl="0" indent="0">
              <a:spcAft>
                <a:spcPts val="1600"/>
              </a:spcAft>
              <a:buNone/>
            </a:pPr>
            <a:r>
              <a:rPr lang="en-US" dirty="0"/>
              <a:t>Sessions and users are very close together and display the same pattern throughout.</a:t>
            </a:r>
          </a:p>
          <a:p>
            <a:pPr marL="0" lvl="0" indent="0">
              <a:spcAft>
                <a:spcPts val="1600"/>
              </a:spcAft>
              <a:buNone/>
            </a:pPr>
            <a:endParaRPr lang="en-US" dirty="0"/>
          </a:p>
        </p:txBody>
      </p:sp>
      <p:pic>
        <p:nvPicPr>
          <p:cNvPr id="2" name="Picture 1">
            <a:extLst>
              <a:ext uri="{FF2B5EF4-FFF2-40B4-BE49-F238E27FC236}">
                <a16:creationId xmlns:a16="http://schemas.microsoft.com/office/drawing/2014/main" id="{14B44F7E-D140-4F0B-8F10-5348C99DFBA6}"/>
              </a:ext>
            </a:extLst>
          </p:cNvPr>
          <p:cNvPicPr>
            <a:picLocks noChangeAspect="1"/>
          </p:cNvPicPr>
          <p:nvPr/>
        </p:nvPicPr>
        <p:blipFill>
          <a:blip r:embed="rId3"/>
          <a:stretch>
            <a:fillRect/>
          </a:stretch>
        </p:blipFill>
        <p:spPr>
          <a:xfrm>
            <a:off x="1043190" y="2379604"/>
            <a:ext cx="5269462" cy="3815133"/>
          </a:xfrm>
          <a:prstGeom prst="rect">
            <a:avLst/>
          </a:prstGeom>
          <a:ln>
            <a:solidFill>
              <a:schemeClr val="tx1"/>
            </a:solidFill>
          </a:ln>
        </p:spPr>
      </p:pic>
      <p:pic>
        <p:nvPicPr>
          <p:cNvPr id="5" name="Picture 4">
            <a:extLst>
              <a:ext uri="{FF2B5EF4-FFF2-40B4-BE49-F238E27FC236}">
                <a16:creationId xmlns:a16="http://schemas.microsoft.com/office/drawing/2014/main" id="{168D788A-C4C6-474B-99D0-6ED4E041FAC9}"/>
              </a:ext>
            </a:extLst>
          </p:cNvPr>
          <p:cNvPicPr>
            <a:picLocks noChangeAspect="1"/>
          </p:cNvPicPr>
          <p:nvPr/>
        </p:nvPicPr>
        <p:blipFill>
          <a:blip r:embed="rId4"/>
          <a:stretch>
            <a:fillRect/>
          </a:stretch>
        </p:blipFill>
        <p:spPr>
          <a:xfrm>
            <a:off x="6312652" y="2392484"/>
            <a:ext cx="1342941" cy="3802254"/>
          </a:xfrm>
          <a:prstGeom prst="rect">
            <a:avLst/>
          </a:prstGeom>
          <a:ln>
            <a:solidFill>
              <a:schemeClr val="tx1"/>
            </a:solidFill>
          </a:ln>
        </p:spPr>
      </p:pic>
    </p:spTree>
    <p:extLst>
      <p:ext uri="{BB962C8B-B14F-4D97-AF65-F5344CB8AC3E}">
        <p14:creationId xmlns:p14="http://schemas.microsoft.com/office/powerpoint/2010/main" val="4183398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3. </a:t>
            </a:r>
            <a:r>
              <a:rPr lang="en-US" sz="3200" dirty="0">
                <a:solidFill>
                  <a:srgbClr val="02B3E4"/>
                </a:solidFill>
                <a:latin typeface="Open Sans Light"/>
                <a:ea typeface="Open Sans Light"/>
                <a:cs typeface="Open Sans Light"/>
                <a:sym typeface="Open Sans Light"/>
              </a:rPr>
              <a:t>Merchandise Store Draft Dashboard: Pie chart, 7 slices</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1424043" y="5988751"/>
            <a:ext cx="5839642" cy="3567088"/>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In the image above, it’s possible to see the requested pie chart, sliced in 7 parts by Product Categories.</a:t>
            </a:r>
          </a:p>
          <a:p>
            <a:pPr marL="0" lvl="0" indent="0">
              <a:spcAft>
                <a:spcPts val="1600"/>
              </a:spcAft>
              <a:buNone/>
            </a:pPr>
            <a:r>
              <a:rPr lang="en-US" dirty="0"/>
              <a:t>I used the same date range filter with the same date as before.</a:t>
            </a:r>
          </a:p>
          <a:p>
            <a:pPr marL="0" lvl="0" indent="0">
              <a:spcAft>
                <a:spcPts val="1600"/>
              </a:spcAft>
              <a:buNone/>
            </a:pPr>
            <a:r>
              <a:rPr lang="en-US" dirty="0"/>
              <a:t>I’ve also added a header to the report and created an example logo for the company X.</a:t>
            </a:r>
          </a:p>
          <a:p>
            <a:pPr marL="0" lvl="0" indent="0">
              <a:spcAft>
                <a:spcPts val="1600"/>
              </a:spcAft>
              <a:buNone/>
            </a:pPr>
            <a:r>
              <a:rPr lang="en-US" dirty="0"/>
              <a:t>Apparel, Office and Accessories were the top 3 contributors to Revenue in this time period.</a:t>
            </a:r>
          </a:p>
        </p:txBody>
      </p:sp>
      <p:pic>
        <p:nvPicPr>
          <p:cNvPr id="3" name="Picture 2">
            <a:extLst>
              <a:ext uri="{FF2B5EF4-FFF2-40B4-BE49-F238E27FC236}">
                <a16:creationId xmlns:a16="http://schemas.microsoft.com/office/drawing/2014/main" id="{DCDC5E78-86E2-4041-9876-CC674B9D2725}"/>
              </a:ext>
            </a:extLst>
          </p:cNvPr>
          <p:cNvPicPr>
            <a:picLocks noChangeAspect="1"/>
          </p:cNvPicPr>
          <p:nvPr/>
        </p:nvPicPr>
        <p:blipFill>
          <a:blip r:embed="rId3"/>
          <a:stretch>
            <a:fillRect/>
          </a:stretch>
        </p:blipFill>
        <p:spPr>
          <a:xfrm>
            <a:off x="169994" y="2089365"/>
            <a:ext cx="7432412" cy="3567089"/>
          </a:xfrm>
          <a:prstGeom prst="rect">
            <a:avLst/>
          </a:prstGeom>
        </p:spPr>
      </p:pic>
      <p:pic>
        <p:nvPicPr>
          <p:cNvPr id="4" name="Picture 3">
            <a:extLst>
              <a:ext uri="{FF2B5EF4-FFF2-40B4-BE49-F238E27FC236}">
                <a16:creationId xmlns:a16="http://schemas.microsoft.com/office/drawing/2014/main" id="{2E5656B3-AC25-4355-A623-1DA9D7970AF4}"/>
              </a:ext>
            </a:extLst>
          </p:cNvPr>
          <p:cNvPicPr>
            <a:picLocks noChangeAspect="1"/>
          </p:cNvPicPr>
          <p:nvPr/>
        </p:nvPicPr>
        <p:blipFill>
          <a:blip r:embed="rId4"/>
          <a:stretch>
            <a:fillRect/>
          </a:stretch>
        </p:blipFill>
        <p:spPr>
          <a:xfrm>
            <a:off x="264855" y="5988751"/>
            <a:ext cx="823516" cy="3631407"/>
          </a:xfrm>
          <a:prstGeom prst="rect">
            <a:avLst/>
          </a:prstGeom>
          <a:ln>
            <a:solidFill>
              <a:schemeClr val="tx1"/>
            </a:solidFill>
          </a:ln>
        </p:spPr>
      </p:pic>
    </p:spTree>
    <p:extLst>
      <p:ext uri="{BB962C8B-B14F-4D97-AF65-F5344CB8AC3E}">
        <p14:creationId xmlns:p14="http://schemas.microsoft.com/office/powerpoint/2010/main" val="4250248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4. </a:t>
            </a:r>
            <a:r>
              <a:rPr lang="en-US" sz="3200" dirty="0">
                <a:solidFill>
                  <a:srgbClr val="02B3E4"/>
                </a:solidFill>
                <a:latin typeface="Open Sans Light"/>
                <a:ea typeface="Open Sans Light"/>
                <a:cs typeface="Open Sans Light"/>
                <a:sym typeface="Open Sans Light"/>
              </a:rPr>
              <a:t>Merchandise Store Draft Dashboard: Pie chart, 5 slices</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502276" y="5988751"/>
            <a:ext cx="6761409" cy="3567088"/>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In the image above, it’s possible to see the requested pie chart, sliced in 5 parts by Source.</a:t>
            </a:r>
          </a:p>
          <a:p>
            <a:pPr marL="0" lvl="0" indent="0">
              <a:spcAft>
                <a:spcPts val="1600"/>
              </a:spcAft>
              <a:buNone/>
            </a:pPr>
            <a:r>
              <a:rPr lang="en-US" dirty="0"/>
              <a:t>Source was added as a Dimension and New Users as a metric.</a:t>
            </a:r>
          </a:p>
          <a:p>
            <a:pPr marL="0" lvl="0" indent="0">
              <a:spcAft>
                <a:spcPts val="1600"/>
              </a:spcAft>
              <a:buNone/>
            </a:pPr>
            <a:r>
              <a:rPr lang="en-US" dirty="0"/>
              <a:t>The 5 sources are google, (direct), mall.Googleplex.com, youtube.com and others.</a:t>
            </a:r>
          </a:p>
        </p:txBody>
      </p:sp>
      <p:pic>
        <p:nvPicPr>
          <p:cNvPr id="2" name="Picture 1">
            <a:extLst>
              <a:ext uri="{FF2B5EF4-FFF2-40B4-BE49-F238E27FC236}">
                <a16:creationId xmlns:a16="http://schemas.microsoft.com/office/drawing/2014/main" id="{30FF25A2-BFAA-4F4B-80A9-3F671A940E70}"/>
              </a:ext>
            </a:extLst>
          </p:cNvPr>
          <p:cNvPicPr>
            <a:picLocks noChangeAspect="1"/>
          </p:cNvPicPr>
          <p:nvPr/>
        </p:nvPicPr>
        <p:blipFill>
          <a:blip r:embed="rId3"/>
          <a:stretch>
            <a:fillRect/>
          </a:stretch>
        </p:blipFill>
        <p:spPr>
          <a:xfrm>
            <a:off x="1687132" y="2468010"/>
            <a:ext cx="3423500" cy="3295916"/>
          </a:xfrm>
          <a:prstGeom prst="rect">
            <a:avLst/>
          </a:prstGeom>
          <a:ln>
            <a:solidFill>
              <a:schemeClr val="tx1"/>
            </a:solidFill>
          </a:ln>
        </p:spPr>
      </p:pic>
      <p:pic>
        <p:nvPicPr>
          <p:cNvPr id="5" name="Picture 4">
            <a:extLst>
              <a:ext uri="{FF2B5EF4-FFF2-40B4-BE49-F238E27FC236}">
                <a16:creationId xmlns:a16="http://schemas.microsoft.com/office/drawing/2014/main" id="{19A7CA3C-092E-4524-9CE5-F50F3E99FBC8}"/>
              </a:ext>
            </a:extLst>
          </p:cNvPr>
          <p:cNvPicPr>
            <a:picLocks noChangeAspect="1"/>
          </p:cNvPicPr>
          <p:nvPr/>
        </p:nvPicPr>
        <p:blipFill>
          <a:blip r:embed="rId4"/>
          <a:stretch>
            <a:fillRect/>
          </a:stretch>
        </p:blipFill>
        <p:spPr>
          <a:xfrm>
            <a:off x="5110632" y="2468011"/>
            <a:ext cx="1206165" cy="3295916"/>
          </a:xfrm>
          <a:prstGeom prst="rect">
            <a:avLst/>
          </a:prstGeom>
          <a:ln>
            <a:solidFill>
              <a:schemeClr val="tx1"/>
            </a:solidFill>
          </a:ln>
        </p:spPr>
      </p:pic>
    </p:spTree>
    <p:extLst>
      <p:ext uri="{BB962C8B-B14F-4D97-AF65-F5344CB8AC3E}">
        <p14:creationId xmlns:p14="http://schemas.microsoft.com/office/powerpoint/2010/main" val="3274544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5. </a:t>
            </a:r>
            <a:r>
              <a:rPr lang="en-US" sz="3200" dirty="0">
                <a:solidFill>
                  <a:srgbClr val="02B3E4"/>
                </a:solidFill>
                <a:latin typeface="Open Sans Light"/>
                <a:ea typeface="Open Sans Light"/>
                <a:cs typeface="Open Sans Light"/>
                <a:sym typeface="Open Sans Light"/>
              </a:rPr>
              <a:t>Merchandise Store Draft Dashboard: Scorecard</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502276" y="5988751"/>
            <a:ext cx="6761409" cy="3567088"/>
          </a:xfrm>
          <a:prstGeom prst="rect">
            <a:avLst/>
          </a:prstGeom>
        </p:spPr>
        <p:txBody>
          <a:bodyPr spcFirstLastPara="1" wrap="square" lIns="91425" tIns="91425" rIns="91425" bIns="91425" anchor="t" anchorCtr="0">
            <a:noAutofit/>
          </a:bodyPr>
          <a:lstStyle/>
          <a:p>
            <a:pPr marL="0" lvl="0" indent="0">
              <a:spcAft>
                <a:spcPts val="1600"/>
              </a:spcAft>
              <a:buNone/>
            </a:pPr>
            <a:r>
              <a:rPr lang="pt-PT" dirty="0"/>
              <a:t>A </a:t>
            </a:r>
            <a:r>
              <a:rPr lang="pt-PT" dirty="0" err="1"/>
              <a:t>scorecard</a:t>
            </a:r>
            <a:r>
              <a:rPr lang="pt-PT" dirty="0"/>
              <a:t> </a:t>
            </a:r>
            <a:r>
              <a:rPr lang="pt-PT" dirty="0" err="1"/>
              <a:t>with</a:t>
            </a:r>
            <a:r>
              <a:rPr lang="pt-PT" dirty="0"/>
              <a:t> </a:t>
            </a:r>
            <a:r>
              <a:rPr lang="pt-PT" dirty="0" err="1"/>
              <a:t>Average</a:t>
            </a:r>
            <a:r>
              <a:rPr lang="pt-PT" dirty="0"/>
              <a:t> </a:t>
            </a:r>
            <a:r>
              <a:rPr lang="pt-PT" dirty="0" err="1"/>
              <a:t>Order</a:t>
            </a:r>
            <a:r>
              <a:rPr lang="pt-PT" dirty="0"/>
              <a:t> </a:t>
            </a:r>
            <a:r>
              <a:rPr lang="pt-PT" dirty="0" err="1"/>
              <a:t>Value</a:t>
            </a:r>
            <a:r>
              <a:rPr lang="pt-PT" dirty="0"/>
              <a:t> </a:t>
            </a:r>
            <a:r>
              <a:rPr lang="pt-PT" dirty="0" err="1"/>
              <a:t>was</a:t>
            </a:r>
            <a:r>
              <a:rPr lang="pt-PT" dirty="0"/>
              <a:t> </a:t>
            </a:r>
            <a:r>
              <a:rPr lang="pt-PT" dirty="0" err="1"/>
              <a:t>also</a:t>
            </a:r>
            <a:r>
              <a:rPr lang="pt-PT" dirty="0"/>
              <a:t> </a:t>
            </a:r>
            <a:r>
              <a:rPr lang="pt-PT" dirty="0" err="1"/>
              <a:t>added</a:t>
            </a:r>
            <a:r>
              <a:rPr lang="pt-PT" dirty="0"/>
              <a:t> </a:t>
            </a:r>
            <a:r>
              <a:rPr lang="pt-PT" dirty="0" err="1"/>
              <a:t>on</a:t>
            </a:r>
            <a:r>
              <a:rPr lang="pt-PT" dirty="0"/>
              <a:t> </a:t>
            </a:r>
            <a:r>
              <a:rPr lang="pt-PT" dirty="0" err="1"/>
              <a:t>the</a:t>
            </a:r>
            <a:r>
              <a:rPr lang="pt-PT" dirty="0"/>
              <a:t> </a:t>
            </a:r>
            <a:r>
              <a:rPr lang="pt-PT" dirty="0" err="1"/>
              <a:t>same</a:t>
            </a:r>
            <a:r>
              <a:rPr lang="pt-PT" dirty="0"/>
              <a:t> time </a:t>
            </a:r>
            <a:r>
              <a:rPr lang="pt-PT" dirty="0" err="1"/>
              <a:t>frame</a:t>
            </a:r>
            <a:r>
              <a:rPr lang="pt-PT" dirty="0"/>
              <a:t> </a:t>
            </a:r>
            <a:r>
              <a:rPr lang="pt-PT" dirty="0" err="1"/>
              <a:t>from</a:t>
            </a:r>
            <a:r>
              <a:rPr lang="pt-PT" dirty="0"/>
              <a:t> 1 </a:t>
            </a:r>
            <a:r>
              <a:rPr lang="pt-PT" dirty="0" err="1"/>
              <a:t>August</a:t>
            </a:r>
            <a:r>
              <a:rPr lang="pt-PT" dirty="0"/>
              <a:t> 2018 </a:t>
            </a:r>
            <a:r>
              <a:rPr lang="pt-PT" dirty="0" err="1"/>
              <a:t>until</a:t>
            </a:r>
            <a:r>
              <a:rPr lang="pt-PT" dirty="0"/>
              <a:t> 5 </a:t>
            </a:r>
            <a:r>
              <a:rPr lang="pt-PT" dirty="0" err="1"/>
              <a:t>September</a:t>
            </a:r>
            <a:r>
              <a:rPr lang="pt-PT" dirty="0"/>
              <a:t> 2018.</a:t>
            </a:r>
          </a:p>
          <a:p>
            <a:pPr marL="0" lvl="0" indent="0">
              <a:spcAft>
                <a:spcPts val="1600"/>
              </a:spcAft>
              <a:buNone/>
            </a:pPr>
            <a:r>
              <a:rPr lang="pt-PT" dirty="0" err="1"/>
              <a:t>The</a:t>
            </a:r>
            <a:r>
              <a:rPr lang="pt-PT" dirty="0"/>
              <a:t> </a:t>
            </a:r>
            <a:r>
              <a:rPr lang="pt-PT" dirty="0" err="1"/>
              <a:t>Datasource</a:t>
            </a:r>
            <a:r>
              <a:rPr lang="pt-PT" dirty="0"/>
              <a:t> </a:t>
            </a:r>
            <a:r>
              <a:rPr lang="pt-PT" dirty="0" err="1"/>
              <a:t>is</a:t>
            </a:r>
            <a:r>
              <a:rPr lang="pt-PT" dirty="0"/>
              <a:t> </a:t>
            </a:r>
            <a:r>
              <a:rPr lang="pt-PT" dirty="0" err="1"/>
              <a:t>the</a:t>
            </a:r>
            <a:r>
              <a:rPr lang="pt-PT" dirty="0"/>
              <a:t> master </a:t>
            </a:r>
            <a:r>
              <a:rPr lang="pt-PT" dirty="0" err="1"/>
              <a:t>view</a:t>
            </a:r>
            <a:r>
              <a:rPr lang="pt-PT" dirty="0"/>
              <a:t>, as </a:t>
            </a:r>
            <a:r>
              <a:rPr lang="pt-PT" dirty="0" err="1"/>
              <a:t>all</a:t>
            </a:r>
            <a:r>
              <a:rPr lang="pt-PT" dirty="0"/>
              <a:t> </a:t>
            </a:r>
            <a:r>
              <a:rPr lang="pt-PT" dirty="0" err="1"/>
              <a:t>others</a:t>
            </a:r>
            <a:r>
              <a:rPr lang="pt-PT" dirty="0"/>
              <a:t> </a:t>
            </a:r>
            <a:r>
              <a:rPr lang="pt-PT" dirty="0" err="1"/>
              <a:t>and</a:t>
            </a:r>
            <a:r>
              <a:rPr lang="pt-PT" dirty="0"/>
              <a:t> </a:t>
            </a:r>
            <a:r>
              <a:rPr lang="pt-PT" dirty="0" err="1"/>
              <a:t>the</a:t>
            </a:r>
            <a:r>
              <a:rPr lang="pt-PT" dirty="0"/>
              <a:t> </a:t>
            </a:r>
            <a:r>
              <a:rPr lang="pt-PT" dirty="0" err="1"/>
              <a:t>average</a:t>
            </a:r>
            <a:r>
              <a:rPr lang="pt-PT" dirty="0"/>
              <a:t> </a:t>
            </a:r>
            <a:r>
              <a:rPr lang="pt-PT" dirty="0" err="1"/>
              <a:t>order</a:t>
            </a:r>
            <a:r>
              <a:rPr lang="pt-PT" dirty="0"/>
              <a:t> </a:t>
            </a:r>
            <a:r>
              <a:rPr lang="pt-PT" dirty="0" err="1"/>
              <a:t>value</a:t>
            </a:r>
            <a:r>
              <a:rPr lang="pt-PT" dirty="0"/>
              <a:t> </a:t>
            </a:r>
            <a:r>
              <a:rPr lang="pt-PT" dirty="0" err="1"/>
              <a:t>is</a:t>
            </a:r>
            <a:r>
              <a:rPr lang="pt-PT" dirty="0"/>
              <a:t> 101.31$.</a:t>
            </a:r>
            <a:endParaRPr lang="en-US" dirty="0"/>
          </a:p>
        </p:txBody>
      </p:sp>
      <p:pic>
        <p:nvPicPr>
          <p:cNvPr id="3" name="Picture 2">
            <a:extLst>
              <a:ext uri="{FF2B5EF4-FFF2-40B4-BE49-F238E27FC236}">
                <a16:creationId xmlns:a16="http://schemas.microsoft.com/office/drawing/2014/main" id="{E185525C-4920-427D-B286-979F7338F53D}"/>
              </a:ext>
            </a:extLst>
          </p:cNvPr>
          <p:cNvPicPr>
            <a:picLocks noChangeAspect="1"/>
          </p:cNvPicPr>
          <p:nvPr/>
        </p:nvPicPr>
        <p:blipFill>
          <a:blip r:embed="rId3"/>
          <a:stretch>
            <a:fillRect/>
          </a:stretch>
        </p:blipFill>
        <p:spPr>
          <a:xfrm>
            <a:off x="1313508" y="2727398"/>
            <a:ext cx="1885950" cy="990600"/>
          </a:xfrm>
          <a:prstGeom prst="rect">
            <a:avLst/>
          </a:prstGeom>
          <a:ln>
            <a:solidFill>
              <a:schemeClr val="tx1"/>
            </a:solidFill>
          </a:ln>
        </p:spPr>
      </p:pic>
      <p:pic>
        <p:nvPicPr>
          <p:cNvPr id="4" name="Picture 3">
            <a:extLst>
              <a:ext uri="{FF2B5EF4-FFF2-40B4-BE49-F238E27FC236}">
                <a16:creationId xmlns:a16="http://schemas.microsoft.com/office/drawing/2014/main" id="{605B4BBA-053A-4F24-8C50-7A069113639F}"/>
              </a:ext>
            </a:extLst>
          </p:cNvPr>
          <p:cNvPicPr>
            <a:picLocks noChangeAspect="1"/>
          </p:cNvPicPr>
          <p:nvPr/>
        </p:nvPicPr>
        <p:blipFill>
          <a:blip r:embed="rId4"/>
          <a:stretch>
            <a:fillRect/>
          </a:stretch>
        </p:blipFill>
        <p:spPr>
          <a:xfrm>
            <a:off x="3199458" y="2727398"/>
            <a:ext cx="3124200" cy="2524125"/>
          </a:xfrm>
          <a:prstGeom prst="rect">
            <a:avLst/>
          </a:prstGeom>
          <a:ln>
            <a:solidFill>
              <a:schemeClr val="tx1"/>
            </a:solidFill>
          </a:ln>
        </p:spPr>
      </p:pic>
    </p:spTree>
    <p:extLst>
      <p:ext uri="{BB962C8B-B14F-4D97-AF65-F5344CB8AC3E}">
        <p14:creationId xmlns:p14="http://schemas.microsoft.com/office/powerpoint/2010/main" val="2288973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6. </a:t>
            </a:r>
            <a:r>
              <a:rPr lang="en-US" sz="3200" dirty="0">
                <a:solidFill>
                  <a:srgbClr val="02B3E4"/>
                </a:solidFill>
                <a:latin typeface="Open Sans Light"/>
                <a:ea typeface="Open Sans Light"/>
                <a:cs typeface="Open Sans Light"/>
                <a:sym typeface="Open Sans Light"/>
              </a:rPr>
              <a:t>Merchandise Store Draft Dashboard: Date Range Control</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502276" y="5349327"/>
            <a:ext cx="6761409" cy="2532259"/>
          </a:xfrm>
          <a:prstGeom prst="rect">
            <a:avLst/>
          </a:prstGeom>
        </p:spPr>
        <p:txBody>
          <a:bodyPr spcFirstLastPara="1" wrap="square" lIns="91425" tIns="91425" rIns="91425" bIns="91425" anchor="t" anchorCtr="0">
            <a:noAutofit/>
          </a:bodyPr>
          <a:lstStyle/>
          <a:p>
            <a:pPr marL="0" lvl="0" indent="0">
              <a:spcAft>
                <a:spcPts val="1600"/>
              </a:spcAft>
              <a:buNone/>
            </a:pPr>
            <a:r>
              <a:rPr lang="pt-PT" dirty="0" err="1"/>
              <a:t>The</a:t>
            </a:r>
            <a:r>
              <a:rPr lang="pt-PT" dirty="0"/>
              <a:t> </a:t>
            </a:r>
            <a:r>
              <a:rPr lang="pt-PT" dirty="0" err="1"/>
              <a:t>page</a:t>
            </a:r>
            <a:r>
              <a:rPr lang="pt-PT" dirty="0"/>
              <a:t> </a:t>
            </a:r>
            <a:r>
              <a:rPr lang="pt-PT" dirty="0" err="1"/>
              <a:t>has</a:t>
            </a:r>
            <a:r>
              <a:rPr lang="pt-PT" dirty="0"/>
              <a:t> a </a:t>
            </a:r>
            <a:r>
              <a:rPr lang="pt-PT" dirty="0" err="1"/>
              <a:t>a</a:t>
            </a:r>
            <a:r>
              <a:rPr lang="pt-PT" dirty="0"/>
              <a:t> Date Range </a:t>
            </a:r>
            <a:r>
              <a:rPr lang="pt-PT" dirty="0" err="1"/>
              <a:t>Control</a:t>
            </a:r>
            <a:r>
              <a:rPr lang="pt-PT" dirty="0"/>
              <a:t>, </a:t>
            </a:r>
            <a:r>
              <a:rPr lang="pt-PT" dirty="0" err="1"/>
              <a:t>which</a:t>
            </a:r>
            <a:r>
              <a:rPr lang="pt-PT" dirty="0"/>
              <a:t> </a:t>
            </a:r>
            <a:r>
              <a:rPr lang="pt-PT" dirty="0" err="1"/>
              <a:t>is</a:t>
            </a:r>
            <a:r>
              <a:rPr lang="pt-PT" dirty="0"/>
              <a:t> </a:t>
            </a:r>
            <a:r>
              <a:rPr lang="pt-PT" dirty="0" err="1"/>
              <a:t>applied</a:t>
            </a:r>
            <a:r>
              <a:rPr lang="pt-PT" dirty="0"/>
              <a:t> to </a:t>
            </a:r>
            <a:r>
              <a:rPr lang="pt-PT" dirty="0" err="1"/>
              <a:t>all</a:t>
            </a:r>
            <a:r>
              <a:rPr lang="pt-PT" dirty="0"/>
              <a:t> </a:t>
            </a:r>
            <a:r>
              <a:rPr lang="pt-PT" dirty="0" err="1"/>
              <a:t>the</a:t>
            </a:r>
            <a:r>
              <a:rPr lang="pt-PT" dirty="0"/>
              <a:t> </a:t>
            </a:r>
            <a:r>
              <a:rPr lang="pt-PT" dirty="0" err="1"/>
              <a:t>charts</a:t>
            </a:r>
            <a:r>
              <a:rPr lang="pt-PT" dirty="0"/>
              <a:t> in </a:t>
            </a:r>
            <a:r>
              <a:rPr lang="pt-PT" dirty="0" err="1"/>
              <a:t>the</a:t>
            </a:r>
            <a:r>
              <a:rPr lang="pt-PT" dirty="0"/>
              <a:t> </a:t>
            </a:r>
            <a:r>
              <a:rPr lang="pt-PT" dirty="0" err="1"/>
              <a:t>page</a:t>
            </a:r>
            <a:r>
              <a:rPr lang="pt-PT" dirty="0"/>
              <a:t>, </a:t>
            </a:r>
            <a:r>
              <a:rPr lang="pt-PT" dirty="0" err="1"/>
              <a:t>which</a:t>
            </a:r>
            <a:r>
              <a:rPr lang="pt-PT" dirty="0"/>
              <a:t> </a:t>
            </a:r>
            <a:r>
              <a:rPr lang="pt-PT" dirty="0" err="1"/>
              <a:t>is</a:t>
            </a:r>
            <a:r>
              <a:rPr lang="pt-PT" dirty="0"/>
              <a:t> set to </a:t>
            </a:r>
            <a:r>
              <a:rPr lang="pt-PT" dirty="0" err="1"/>
              <a:t>the</a:t>
            </a:r>
            <a:r>
              <a:rPr lang="pt-PT" dirty="0"/>
              <a:t> time </a:t>
            </a:r>
            <a:r>
              <a:rPr lang="pt-PT" dirty="0" err="1"/>
              <a:t>frame</a:t>
            </a:r>
            <a:r>
              <a:rPr lang="pt-PT" dirty="0"/>
              <a:t> </a:t>
            </a:r>
            <a:r>
              <a:rPr lang="pt-PT" dirty="0" err="1"/>
              <a:t>from</a:t>
            </a:r>
            <a:r>
              <a:rPr lang="pt-PT" dirty="0"/>
              <a:t> 1 </a:t>
            </a:r>
            <a:r>
              <a:rPr lang="pt-PT" dirty="0" err="1"/>
              <a:t>August</a:t>
            </a:r>
            <a:r>
              <a:rPr lang="pt-PT" dirty="0"/>
              <a:t> 2018 </a:t>
            </a:r>
            <a:r>
              <a:rPr lang="pt-PT" dirty="0" err="1"/>
              <a:t>until</a:t>
            </a:r>
            <a:r>
              <a:rPr lang="pt-PT" dirty="0"/>
              <a:t> 5 </a:t>
            </a:r>
            <a:r>
              <a:rPr lang="pt-PT" dirty="0" err="1"/>
              <a:t>September</a:t>
            </a:r>
            <a:r>
              <a:rPr lang="pt-PT" dirty="0"/>
              <a:t> 2018.</a:t>
            </a:r>
          </a:p>
          <a:p>
            <a:pPr marL="0" lvl="0" indent="0">
              <a:spcAft>
                <a:spcPts val="1600"/>
              </a:spcAft>
              <a:buNone/>
            </a:pPr>
            <a:r>
              <a:rPr lang="pt-PT" dirty="0" err="1"/>
              <a:t>On</a:t>
            </a:r>
            <a:r>
              <a:rPr lang="pt-PT" dirty="0"/>
              <a:t> </a:t>
            </a:r>
            <a:r>
              <a:rPr lang="pt-PT" dirty="0" err="1"/>
              <a:t>the</a:t>
            </a:r>
            <a:r>
              <a:rPr lang="pt-PT" dirty="0"/>
              <a:t> </a:t>
            </a:r>
            <a:r>
              <a:rPr lang="pt-PT" dirty="0" err="1"/>
              <a:t>page</a:t>
            </a:r>
            <a:r>
              <a:rPr lang="pt-PT" dirty="0"/>
              <a:t> </a:t>
            </a:r>
            <a:r>
              <a:rPr lang="pt-PT" dirty="0" err="1"/>
              <a:t>settings</a:t>
            </a:r>
            <a:r>
              <a:rPr lang="pt-PT" dirty="0"/>
              <a:t>, </a:t>
            </a:r>
            <a:r>
              <a:rPr lang="pt-PT" dirty="0" err="1"/>
              <a:t>we</a:t>
            </a:r>
            <a:r>
              <a:rPr lang="pt-PT" dirty="0"/>
              <a:t> can </a:t>
            </a:r>
            <a:r>
              <a:rPr lang="pt-PT" dirty="0" err="1"/>
              <a:t>see</a:t>
            </a:r>
            <a:r>
              <a:rPr lang="pt-PT" dirty="0"/>
              <a:t> </a:t>
            </a:r>
            <a:r>
              <a:rPr lang="pt-PT" dirty="0" err="1"/>
              <a:t>that</a:t>
            </a:r>
            <a:r>
              <a:rPr lang="pt-PT" dirty="0"/>
              <a:t> </a:t>
            </a:r>
            <a:r>
              <a:rPr lang="pt-PT" dirty="0" err="1"/>
              <a:t>the</a:t>
            </a:r>
            <a:r>
              <a:rPr lang="pt-PT" dirty="0"/>
              <a:t> </a:t>
            </a:r>
            <a:r>
              <a:rPr lang="pt-PT" dirty="0" err="1"/>
              <a:t>the</a:t>
            </a:r>
            <a:r>
              <a:rPr lang="pt-PT" dirty="0"/>
              <a:t> data </a:t>
            </a:r>
            <a:r>
              <a:rPr lang="pt-PT" dirty="0" err="1"/>
              <a:t>source</a:t>
            </a:r>
            <a:r>
              <a:rPr lang="pt-PT" dirty="0"/>
              <a:t> </a:t>
            </a:r>
            <a:r>
              <a:rPr lang="pt-PT" dirty="0" err="1"/>
              <a:t>is</a:t>
            </a:r>
            <a:r>
              <a:rPr lang="pt-PT" dirty="0"/>
              <a:t> </a:t>
            </a:r>
            <a:r>
              <a:rPr lang="pt-PT" dirty="0" err="1"/>
              <a:t>connected</a:t>
            </a:r>
            <a:r>
              <a:rPr lang="pt-PT" dirty="0"/>
              <a:t> to </a:t>
            </a:r>
            <a:r>
              <a:rPr lang="pt-PT" dirty="0" err="1"/>
              <a:t>the</a:t>
            </a:r>
            <a:r>
              <a:rPr lang="pt-PT" dirty="0"/>
              <a:t> 1. Master </a:t>
            </a:r>
            <a:r>
              <a:rPr lang="pt-PT" dirty="0" err="1"/>
              <a:t>View</a:t>
            </a:r>
            <a:r>
              <a:rPr lang="pt-PT" dirty="0"/>
              <a:t>, </a:t>
            </a:r>
            <a:r>
              <a:rPr lang="pt-PT" dirty="0" err="1"/>
              <a:t>with</a:t>
            </a:r>
            <a:r>
              <a:rPr lang="pt-PT" dirty="0"/>
              <a:t> </a:t>
            </a:r>
            <a:r>
              <a:rPr lang="pt-PT" dirty="0" err="1"/>
              <a:t>the</a:t>
            </a:r>
            <a:r>
              <a:rPr lang="pt-PT" dirty="0"/>
              <a:t> </a:t>
            </a:r>
            <a:r>
              <a:rPr lang="pt-PT" dirty="0" err="1"/>
              <a:t>Default</a:t>
            </a:r>
            <a:r>
              <a:rPr lang="pt-PT" dirty="0"/>
              <a:t> date range as </a:t>
            </a:r>
            <a:r>
              <a:rPr lang="pt-PT" dirty="0" err="1"/>
              <a:t>custom</a:t>
            </a:r>
            <a:r>
              <a:rPr lang="pt-PT" dirty="0"/>
              <a:t>.</a:t>
            </a:r>
          </a:p>
          <a:p>
            <a:pPr marL="0" lvl="0" indent="0">
              <a:spcAft>
                <a:spcPts val="1600"/>
              </a:spcAft>
              <a:buNone/>
            </a:pPr>
            <a:endParaRPr lang="en-US" dirty="0"/>
          </a:p>
        </p:txBody>
      </p:sp>
      <p:pic>
        <p:nvPicPr>
          <p:cNvPr id="2" name="Picture 1">
            <a:extLst>
              <a:ext uri="{FF2B5EF4-FFF2-40B4-BE49-F238E27FC236}">
                <a16:creationId xmlns:a16="http://schemas.microsoft.com/office/drawing/2014/main" id="{F6A6215E-F15A-4901-8892-0F5A9FF4E8F0}"/>
              </a:ext>
            </a:extLst>
          </p:cNvPr>
          <p:cNvPicPr>
            <a:picLocks noChangeAspect="1"/>
          </p:cNvPicPr>
          <p:nvPr/>
        </p:nvPicPr>
        <p:blipFill>
          <a:blip r:embed="rId3"/>
          <a:stretch>
            <a:fillRect/>
          </a:stretch>
        </p:blipFill>
        <p:spPr>
          <a:xfrm>
            <a:off x="502276" y="2460980"/>
            <a:ext cx="2823137" cy="2000818"/>
          </a:xfrm>
          <a:prstGeom prst="rect">
            <a:avLst/>
          </a:prstGeom>
          <a:ln>
            <a:solidFill>
              <a:schemeClr val="tx1"/>
            </a:solidFill>
          </a:ln>
        </p:spPr>
      </p:pic>
      <p:pic>
        <p:nvPicPr>
          <p:cNvPr id="5" name="Picture 4">
            <a:extLst>
              <a:ext uri="{FF2B5EF4-FFF2-40B4-BE49-F238E27FC236}">
                <a16:creationId xmlns:a16="http://schemas.microsoft.com/office/drawing/2014/main" id="{BBA6DEC3-21B8-4563-8058-A606906945D5}"/>
              </a:ext>
            </a:extLst>
          </p:cNvPr>
          <p:cNvPicPr>
            <a:picLocks noChangeAspect="1"/>
          </p:cNvPicPr>
          <p:nvPr/>
        </p:nvPicPr>
        <p:blipFill>
          <a:blip r:embed="rId4"/>
          <a:stretch>
            <a:fillRect/>
          </a:stretch>
        </p:blipFill>
        <p:spPr>
          <a:xfrm>
            <a:off x="3325413" y="2460980"/>
            <a:ext cx="1891612" cy="2000818"/>
          </a:xfrm>
          <a:prstGeom prst="rect">
            <a:avLst/>
          </a:prstGeom>
          <a:ln>
            <a:solidFill>
              <a:schemeClr val="tx1"/>
            </a:solidFill>
          </a:ln>
        </p:spPr>
      </p:pic>
      <p:pic>
        <p:nvPicPr>
          <p:cNvPr id="6" name="Picture 5">
            <a:extLst>
              <a:ext uri="{FF2B5EF4-FFF2-40B4-BE49-F238E27FC236}">
                <a16:creationId xmlns:a16="http://schemas.microsoft.com/office/drawing/2014/main" id="{E87843E3-AD82-4D6F-8DBB-8F4F2EC2CF65}"/>
              </a:ext>
            </a:extLst>
          </p:cNvPr>
          <p:cNvPicPr>
            <a:picLocks noChangeAspect="1"/>
          </p:cNvPicPr>
          <p:nvPr/>
        </p:nvPicPr>
        <p:blipFill>
          <a:blip r:embed="rId5"/>
          <a:stretch>
            <a:fillRect/>
          </a:stretch>
        </p:blipFill>
        <p:spPr>
          <a:xfrm>
            <a:off x="5217025" y="2460980"/>
            <a:ext cx="1830160" cy="2000818"/>
          </a:xfrm>
          <a:prstGeom prst="rect">
            <a:avLst/>
          </a:prstGeom>
          <a:ln>
            <a:solidFill>
              <a:schemeClr val="tx1"/>
            </a:solidFill>
          </a:ln>
        </p:spPr>
      </p:pic>
    </p:spTree>
    <p:extLst>
      <p:ext uri="{BB962C8B-B14F-4D97-AF65-F5344CB8AC3E}">
        <p14:creationId xmlns:p14="http://schemas.microsoft.com/office/powerpoint/2010/main" val="1434343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9"/>
          <p:cNvSpPr txBox="1">
            <a:spLocks noGrp="1"/>
          </p:cNvSpPr>
          <p:nvPr>
            <p:ph type="title"/>
          </p:nvPr>
        </p:nvSpPr>
        <p:spPr>
          <a:xfrm>
            <a:off x="264945" y="1539972"/>
            <a:ext cx="7242600" cy="11199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3200" dirty="0">
                <a:solidFill>
                  <a:srgbClr val="02B3E4"/>
                </a:solidFill>
                <a:latin typeface="Open Sans Light"/>
                <a:ea typeface="Open Sans Light"/>
                <a:cs typeface="Open Sans Light"/>
                <a:sym typeface="Open Sans Light"/>
              </a:rPr>
              <a:t>7. </a:t>
            </a:r>
            <a:r>
              <a:rPr lang="en-US" sz="3200" dirty="0">
                <a:solidFill>
                  <a:srgbClr val="02B3E4"/>
                </a:solidFill>
                <a:latin typeface="Open Sans Light"/>
                <a:ea typeface="Open Sans Light"/>
                <a:cs typeface="Open Sans Light"/>
                <a:sym typeface="Open Sans Light"/>
              </a:rPr>
              <a:t>Merchandise Store Draft Dashboard: Date Range Control – Usage Demonstration</a:t>
            </a:r>
            <a:endParaRPr sz="3200" dirty="0">
              <a:solidFill>
                <a:srgbClr val="02B3E4"/>
              </a:solidFill>
              <a:latin typeface="Open Sans Light"/>
              <a:ea typeface="Open Sans Light"/>
              <a:cs typeface="Open Sans Light"/>
              <a:sym typeface="Open Sans Light"/>
            </a:endParaRPr>
          </a:p>
        </p:txBody>
      </p:sp>
      <p:sp>
        <p:nvSpPr>
          <p:cNvPr id="306" name="Google Shape;306;p59"/>
          <p:cNvSpPr txBox="1">
            <a:spLocks noGrp="1"/>
          </p:cNvSpPr>
          <p:nvPr>
            <p:ph type="body" idx="1"/>
          </p:nvPr>
        </p:nvSpPr>
        <p:spPr>
          <a:xfrm>
            <a:off x="502276" y="6413680"/>
            <a:ext cx="6761409" cy="3270950"/>
          </a:xfrm>
          <a:prstGeom prst="rect">
            <a:avLst/>
          </a:prstGeom>
        </p:spPr>
        <p:txBody>
          <a:bodyPr spcFirstLastPara="1" wrap="square" lIns="91425" tIns="91425" rIns="91425" bIns="91425" anchor="t" anchorCtr="0">
            <a:noAutofit/>
          </a:bodyPr>
          <a:lstStyle/>
          <a:p>
            <a:pPr marL="0" lvl="0" indent="0">
              <a:spcAft>
                <a:spcPts val="1600"/>
              </a:spcAft>
              <a:buNone/>
            </a:pPr>
            <a:r>
              <a:rPr lang="pt-PT" sz="1400" dirty="0"/>
              <a:t>In </a:t>
            </a:r>
            <a:r>
              <a:rPr lang="pt-PT" sz="1400" dirty="0" err="1"/>
              <a:t>this</a:t>
            </a:r>
            <a:r>
              <a:rPr lang="pt-PT" sz="1400" dirty="0"/>
              <a:t> </a:t>
            </a:r>
            <a:r>
              <a:rPr lang="pt-PT" sz="1400" dirty="0" err="1"/>
              <a:t>demonstration</a:t>
            </a:r>
            <a:r>
              <a:rPr lang="pt-PT" sz="1400" dirty="0"/>
              <a:t>, </a:t>
            </a:r>
            <a:r>
              <a:rPr lang="pt-PT" sz="1400" dirty="0" err="1"/>
              <a:t>I’ve</a:t>
            </a:r>
            <a:r>
              <a:rPr lang="pt-PT" sz="1400" dirty="0"/>
              <a:t> </a:t>
            </a:r>
            <a:r>
              <a:rPr lang="pt-PT" sz="1400" dirty="0" err="1"/>
              <a:t>changed</a:t>
            </a:r>
            <a:r>
              <a:rPr lang="pt-PT" sz="1400" dirty="0"/>
              <a:t> </a:t>
            </a:r>
            <a:r>
              <a:rPr lang="pt-PT" sz="1400" dirty="0" err="1"/>
              <a:t>the</a:t>
            </a:r>
            <a:r>
              <a:rPr lang="pt-PT" sz="1400" dirty="0"/>
              <a:t> date range </a:t>
            </a:r>
            <a:r>
              <a:rPr lang="pt-PT" sz="1400" dirty="0" err="1"/>
              <a:t>control</a:t>
            </a:r>
            <a:r>
              <a:rPr lang="pt-PT" sz="1400" dirty="0"/>
              <a:t> to </a:t>
            </a:r>
            <a:r>
              <a:rPr lang="pt-PT" sz="1400" dirty="0" err="1"/>
              <a:t>Last</a:t>
            </a:r>
            <a:r>
              <a:rPr lang="pt-PT" sz="1400" dirty="0"/>
              <a:t> </a:t>
            </a:r>
            <a:r>
              <a:rPr lang="pt-PT" sz="1400" dirty="0" err="1"/>
              <a:t>month</a:t>
            </a:r>
            <a:r>
              <a:rPr lang="pt-PT" sz="1400" dirty="0"/>
              <a:t>, </a:t>
            </a:r>
            <a:r>
              <a:rPr lang="pt-PT" sz="1400" dirty="0" err="1"/>
              <a:t>which</a:t>
            </a:r>
            <a:r>
              <a:rPr lang="pt-PT" sz="1400" dirty="0"/>
              <a:t> </a:t>
            </a:r>
            <a:r>
              <a:rPr lang="pt-PT" sz="1400" dirty="0" err="1"/>
              <a:t>updated</a:t>
            </a:r>
            <a:r>
              <a:rPr lang="pt-PT" sz="1400" dirty="0"/>
              <a:t> </a:t>
            </a:r>
            <a:r>
              <a:rPr lang="pt-PT" sz="1400" dirty="0" err="1"/>
              <a:t>it</a:t>
            </a:r>
            <a:r>
              <a:rPr lang="pt-PT" sz="1400" dirty="0"/>
              <a:t> </a:t>
            </a:r>
            <a:r>
              <a:rPr lang="pt-PT" sz="1400" dirty="0" err="1"/>
              <a:t>automatically</a:t>
            </a:r>
            <a:r>
              <a:rPr lang="pt-PT" sz="1400" dirty="0"/>
              <a:t> to display </a:t>
            </a:r>
            <a:r>
              <a:rPr lang="pt-PT" sz="1400" dirty="0" err="1"/>
              <a:t>from</a:t>
            </a:r>
            <a:r>
              <a:rPr lang="pt-PT" sz="1400" dirty="0"/>
              <a:t> 1 </a:t>
            </a:r>
            <a:r>
              <a:rPr lang="pt-PT" sz="1400" dirty="0" err="1"/>
              <a:t>March</a:t>
            </a:r>
            <a:r>
              <a:rPr lang="pt-PT" sz="1400" dirty="0"/>
              <a:t> 2020 to 31 </a:t>
            </a:r>
            <a:r>
              <a:rPr lang="pt-PT" sz="1400" dirty="0" err="1"/>
              <a:t>March</a:t>
            </a:r>
            <a:r>
              <a:rPr lang="pt-PT" sz="1400" dirty="0"/>
              <a:t> 2020.</a:t>
            </a:r>
          </a:p>
          <a:p>
            <a:pPr marL="0" lvl="0" indent="0">
              <a:spcAft>
                <a:spcPts val="1600"/>
              </a:spcAft>
              <a:buNone/>
            </a:pPr>
            <a:r>
              <a:rPr lang="pt-PT" sz="1400" dirty="0" err="1"/>
              <a:t>With</a:t>
            </a:r>
            <a:r>
              <a:rPr lang="pt-PT" sz="1400" dirty="0"/>
              <a:t> </a:t>
            </a:r>
            <a:r>
              <a:rPr lang="pt-PT" sz="1400" dirty="0" err="1"/>
              <a:t>this</a:t>
            </a:r>
            <a:r>
              <a:rPr lang="pt-PT" sz="1400" dirty="0"/>
              <a:t> </a:t>
            </a:r>
            <a:r>
              <a:rPr lang="pt-PT" sz="1400" dirty="0" err="1"/>
              <a:t>change</a:t>
            </a:r>
            <a:r>
              <a:rPr lang="pt-PT" sz="1400" dirty="0"/>
              <a:t>, </a:t>
            </a:r>
            <a:r>
              <a:rPr lang="pt-PT" sz="1400" dirty="0" err="1"/>
              <a:t>we</a:t>
            </a:r>
            <a:r>
              <a:rPr lang="pt-PT" sz="1400" dirty="0"/>
              <a:t> can </a:t>
            </a:r>
            <a:r>
              <a:rPr lang="pt-PT" sz="1400" dirty="0" err="1"/>
              <a:t>see</a:t>
            </a:r>
            <a:r>
              <a:rPr lang="pt-PT" sz="1400" dirty="0"/>
              <a:t> </a:t>
            </a:r>
            <a:r>
              <a:rPr lang="pt-PT" sz="1400" dirty="0" err="1"/>
              <a:t>that</a:t>
            </a:r>
            <a:r>
              <a:rPr lang="pt-PT" sz="1400" dirty="0"/>
              <a:t> </a:t>
            </a:r>
            <a:r>
              <a:rPr lang="pt-PT" sz="1400" dirty="0" err="1"/>
              <a:t>all</a:t>
            </a:r>
            <a:r>
              <a:rPr lang="pt-PT" sz="1400" dirty="0"/>
              <a:t> </a:t>
            </a:r>
            <a:r>
              <a:rPr lang="pt-PT" sz="1400" dirty="0" err="1"/>
              <a:t>charts</a:t>
            </a:r>
            <a:r>
              <a:rPr lang="pt-PT" sz="1400" dirty="0"/>
              <a:t> </a:t>
            </a:r>
            <a:r>
              <a:rPr lang="pt-PT" sz="1400" dirty="0" err="1"/>
              <a:t>updated</a:t>
            </a:r>
            <a:r>
              <a:rPr lang="pt-PT" sz="1400" dirty="0"/>
              <a:t> </a:t>
            </a:r>
            <a:r>
              <a:rPr lang="pt-PT" sz="1400" dirty="0" err="1"/>
              <a:t>accordingly</a:t>
            </a:r>
            <a:r>
              <a:rPr lang="pt-PT" sz="1400" dirty="0"/>
              <a:t>.</a:t>
            </a:r>
          </a:p>
          <a:p>
            <a:pPr marL="0" lvl="0" indent="0">
              <a:spcAft>
                <a:spcPts val="1600"/>
              </a:spcAft>
              <a:buNone/>
            </a:pPr>
            <a:r>
              <a:rPr lang="pt-PT" sz="1400" dirty="0" err="1"/>
              <a:t>The</a:t>
            </a:r>
            <a:r>
              <a:rPr lang="pt-PT" sz="1400" dirty="0"/>
              <a:t> </a:t>
            </a:r>
            <a:r>
              <a:rPr lang="pt-PT" sz="1400" dirty="0" err="1"/>
              <a:t>new</a:t>
            </a:r>
            <a:r>
              <a:rPr lang="pt-PT" sz="1400" dirty="0"/>
              <a:t> </a:t>
            </a:r>
            <a:r>
              <a:rPr lang="pt-PT" sz="1400" dirty="0" err="1"/>
              <a:t>Average</a:t>
            </a:r>
            <a:r>
              <a:rPr lang="pt-PT" sz="1400" dirty="0"/>
              <a:t> </a:t>
            </a:r>
            <a:r>
              <a:rPr lang="pt-PT" sz="1400" dirty="0" err="1"/>
              <a:t>Order</a:t>
            </a:r>
            <a:r>
              <a:rPr lang="pt-PT" sz="1400" dirty="0"/>
              <a:t> </a:t>
            </a:r>
            <a:r>
              <a:rPr lang="pt-PT" sz="1400" dirty="0" err="1"/>
              <a:t>Value</a:t>
            </a:r>
            <a:r>
              <a:rPr lang="pt-PT" sz="1400" dirty="0"/>
              <a:t> </a:t>
            </a:r>
            <a:r>
              <a:rPr lang="pt-PT" sz="1400" dirty="0" err="1"/>
              <a:t>is</a:t>
            </a:r>
            <a:r>
              <a:rPr lang="pt-PT" sz="1400" dirty="0"/>
              <a:t> $65.87, </a:t>
            </a:r>
            <a:r>
              <a:rPr lang="pt-PT" sz="1400" dirty="0" err="1"/>
              <a:t>Apparel</a:t>
            </a:r>
            <a:r>
              <a:rPr lang="pt-PT" sz="1400" dirty="0"/>
              <a:t> </a:t>
            </a:r>
            <a:r>
              <a:rPr lang="pt-PT" sz="1400" dirty="0" err="1"/>
              <a:t>is</a:t>
            </a:r>
            <a:r>
              <a:rPr lang="pt-PT" sz="1400" dirty="0"/>
              <a:t> </a:t>
            </a:r>
            <a:r>
              <a:rPr lang="pt-PT" sz="1400" dirty="0" err="1"/>
              <a:t>the</a:t>
            </a:r>
            <a:r>
              <a:rPr lang="pt-PT" sz="1400" dirty="0"/>
              <a:t> </a:t>
            </a:r>
            <a:r>
              <a:rPr lang="pt-PT" sz="1400" dirty="0" err="1"/>
              <a:t>first</a:t>
            </a:r>
            <a:r>
              <a:rPr lang="pt-PT" sz="1400" dirty="0"/>
              <a:t> </a:t>
            </a:r>
            <a:r>
              <a:rPr lang="pt-PT" sz="1400" dirty="0" err="1"/>
              <a:t>Product</a:t>
            </a:r>
            <a:r>
              <a:rPr lang="pt-PT" sz="1400" dirty="0"/>
              <a:t> </a:t>
            </a:r>
            <a:r>
              <a:rPr lang="pt-PT" sz="1400" dirty="0" err="1"/>
              <a:t>Category</a:t>
            </a:r>
            <a:r>
              <a:rPr lang="pt-PT" sz="1400" dirty="0"/>
              <a:t>, </a:t>
            </a:r>
            <a:r>
              <a:rPr lang="pt-PT" sz="1400" dirty="0" err="1"/>
              <a:t>while</a:t>
            </a:r>
            <a:r>
              <a:rPr lang="pt-PT" sz="1400" dirty="0"/>
              <a:t> google </a:t>
            </a:r>
            <a:r>
              <a:rPr lang="pt-PT" sz="1400" dirty="0" err="1"/>
              <a:t>is</a:t>
            </a:r>
            <a:r>
              <a:rPr lang="pt-PT" sz="1400" dirty="0"/>
              <a:t> </a:t>
            </a:r>
            <a:r>
              <a:rPr lang="pt-PT" sz="1400" dirty="0" err="1"/>
              <a:t>still</a:t>
            </a:r>
            <a:r>
              <a:rPr lang="pt-PT" sz="1400" dirty="0"/>
              <a:t> </a:t>
            </a:r>
            <a:r>
              <a:rPr lang="pt-PT" sz="1400" dirty="0" err="1"/>
              <a:t>the</a:t>
            </a:r>
            <a:r>
              <a:rPr lang="pt-PT" sz="1400" dirty="0"/>
              <a:t> </a:t>
            </a:r>
            <a:r>
              <a:rPr lang="pt-PT" sz="1400" dirty="0" err="1"/>
              <a:t>source</a:t>
            </a:r>
            <a:r>
              <a:rPr lang="pt-PT" sz="1400" dirty="0"/>
              <a:t> </a:t>
            </a:r>
            <a:r>
              <a:rPr lang="pt-PT" sz="1400" dirty="0" err="1"/>
              <a:t>driving</a:t>
            </a:r>
            <a:r>
              <a:rPr lang="pt-PT" sz="1400" dirty="0"/>
              <a:t> </a:t>
            </a:r>
            <a:r>
              <a:rPr lang="pt-PT" sz="1400" dirty="0" err="1"/>
              <a:t>most</a:t>
            </a:r>
            <a:r>
              <a:rPr lang="pt-PT" sz="1400" dirty="0"/>
              <a:t> </a:t>
            </a:r>
            <a:r>
              <a:rPr lang="pt-PT" sz="1400" dirty="0" err="1"/>
              <a:t>users</a:t>
            </a:r>
            <a:r>
              <a:rPr lang="pt-PT" sz="1400" dirty="0"/>
              <a:t>.</a:t>
            </a:r>
          </a:p>
          <a:p>
            <a:pPr marL="0" lvl="0" indent="0">
              <a:spcAft>
                <a:spcPts val="1600"/>
              </a:spcAft>
              <a:buNone/>
            </a:pPr>
            <a:r>
              <a:rPr lang="pt-PT" sz="1400" dirty="0" err="1"/>
              <a:t>We</a:t>
            </a:r>
            <a:r>
              <a:rPr lang="pt-PT" sz="1400" dirty="0"/>
              <a:t> can </a:t>
            </a:r>
            <a:r>
              <a:rPr lang="pt-PT" sz="1400" dirty="0" err="1"/>
              <a:t>see</a:t>
            </a:r>
            <a:r>
              <a:rPr lang="pt-PT" sz="1400" dirty="0"/>
              <a:t> </a:t>
            </a:r>
            <a:r>
              <a:rPr lang="pt-PT" sz="1400" dirty="0" err="1"/>
              <a:t>large</a:t>
            </a:r>
            <a:r>
              <a:rPr lang="pt-PT" sz="1400" dirty="0"/>
              <a:t> </a:t>
            </a:r>
            <a:r>
              <a:rPr lang="pt-PT" sz="1400" dirty="0" err="1"/>
              <a:t>fluctuations</a:t>
            </a:r>
            <a:r>
              <a:rPr lang="pt-PT" sz="1400" dirty="0"/>
              <a:t> in </a:t>
            </a:r>
            <a:r>
              <a:rPr lang="pt-PT" sz="1400" dirty="0" err="1"/>
              <a:t>Unique</a:t>
            </a:r>
            <a:r>
              <a:rPr lang="pt-PT" sz="1400" dirty="0"/>
              <a:t> </a:t>
            </a:r>
            <a:r>
              <a:rPr lang="pt-PT" sz="1400" dirty="0" err="1"/>
              <a:t>page</a:t>
            </a:r>
            <a:r>
              <a:rPr lang="pt-PT" sz="1400" dirty="0"/>
              <a:t> </a:t>
            </a:r>
            <a:r>
              <a:rPr lang="pt-PT" sz="1400" dirty="0" err="1"/>
              <a:t>views</a:t>
            </a:r>
            <a:r>
              <a:rPr lang="pt-PT" sz="1400" dirty="0"/>
              <a:t> </a:t>
            </a:r>
            <a:r>
              <a:rPr lang="pt-PT" sz="1400" dirty="0" err="1"/>
              <a:t>from</a:t>
            </a:r>
            <a:r>
              <a:rPr lang="pt-PT" sz="1400" dirty="0"/>
              <a:t> </a:t>
            </a:r>
            <a:r>
              <a:rPr lang="pt-PT" sz="1400" dirty="0" err="1"/>
              <a:t>the</a:t>
            </a:r>
            <a:r>
              <a:rPr lang="pt-PT" sz="1400" dirty="0"/>
              <a:t> </a:t>
            </a:r>
            <a:r>
              <a:rPr lang="pt-PT" sz="1400" dirty="0" err="1"/>
              <a:t>first</a:t>
            </a:r>
            <a:r>
              <a:rPr lang="pt-PT" sz="1400" dirty="0"/>
              <a:t> </a:t>
            </a:r>
            <a:r>
              <a:rPr lang="pt-PT" sz="1400" dirty="0" err="1"/>
              <a:t>of</a:t>
            </a:r>
            <a:r>
              <a:rPr lang="pt-PT" sz="1400" dirty="0"/>
              <a:t> </a:t>
            </a:r>
            <a:r>
              <a:rPr lang="pt-PT" sz="1400" dirty="0" err="1"/>
              <a:t>March</a:t>
            </a:r>
            <a:r>
              <a:rPr lang="pt-PT" sz="1400" dirty="0"/>
              <a:t> </a:t>
            </a:r>
            <a:r>
              <a:rPr lang="pt-PT" sz="1400" dirty="0" err="1"/>
              <a:t>until</a:t>
            </a:r>
            <a:r>
              <a:rPr lang="pt-PT" sz="1400" dirty="0"/>
              <a:t> </a:t>
            </a:r>
            <a:r>
              <a:rPr lang="pt-PT" sz="1400" dirty="0" err="1"/>
              <a:t>the</a:t>
            </a:r>
            <a:r>
              <a:rPr lang="pt-PT" sz="1400" dirty="0"/>
              <a:t> </a:t>
            </a:r>
            <a:r>
              <a:rPr lang="pt-PT" sz="1400" dirty="0" err="1"/>
              <a:t>third</a:t>
            </a:r>
            <a:r>
              <a:rPr lang="pt-PT" sz="1400" dirty="0"/>
              <a:t> </a:t>
            </a:r>
            <a:r>
              <a:rPr lang="pt-PT" sz="1400" dirty="0" err="1"/>
              <a:t>of</a:t>
            </a:r>
            <a:r>
              <a:rPr lang="pt-PT" sz="1400" dirty="0"/>
              <a:t> </a:t>
            </a:r>
            <a:r>
              <a:rPr lang="pt-PT" sz="1400" dirty="0" err="1"/>
              <a:t>March</a:t>
            </a:r>
            <a:r>
              <a:rPr lang="pt-PT" sz="1400" dirty="0"/>
              <a:t>, </a:t>
            </a:r>
            <a:r>
              <a:rPr lang="pt-PT" sz="1400" dirty="0" err="1"/>
              <a:t>then</a:t>
            </a:r>
            <a:r>
              <a:rPr lang="pt-PT" sz="1400" dirty="0"/>
              <a:t> </a:t>
            </a:r>
            <a:r>
              <a:rPr lang="pt-PT" sz="1400" dirty="0" err="1"/>
              <a:t>it</a:t>
            </a:r>
            <a:r>
              <a:rPr lang="pt-PT" sz="1400" dirty="0"/>
              <a:t> </a:t>
            </a:r>
            <a:r>
              <a:rPr lang="pt-PT" sz="1400" dirty="0" err="1"/>
              <a:t>becomes</a:t>
            </a:r>
            <a:r>
              <a:rPr lang="pt-PT" sz="1400" dirty="0"/>
              <a:t> a </a:t>
            </a:r>
            <a:r>
              <a:rPr lang="pt-PT" sz="1400" dirty="0" err="1"/>
              <a:t>little</a:t>
            </a:r>
            <a:r>
              <a:rPr lang="pt-PT" sz="1400" dirty="0"/>
              <a:t> more </a:t>
            </a:r>
            <a:r>
              <a:rPr lang="pt-PT" sz="1400" dirty="0" err="1"/>
              <a:t>constant</a:t>
            </a:r>
            <a:r>
              <a:rPr lang="pt-PT" sz="1400" dirty="0"/>
              <a:t>.</a:t>
            </a:r>
          </a:p>
          <a:p>
            <a:pPr marL="0" lvl="0" indent="0">
              <a:spcAft>
                <a:spcPts val="1600"/>
              </a:spcAft>
              <a:buNone/>
            </a:pPr>
            <a:r>
              <a:rPr lang="pt-PT" sz="1400" dirty="0" err="1"/>
              <a:t>Sessins</a:t>
            </a:r>
            <a:r>
              <a:rPr lang="pt-PT" sz="1400" dirty="0"/>
              <a:t> </a:t>
            </a:r>
            <a:r>
              <a:rPr lang="pt-PT" sz="1400" dirty="0" err="1"/>
              <a:t>and</a:t>
            </a:r>
            <a:r>
              <a:rPr lang="pt-PT" sz="1400" dirty="0"/>
              <a:t> </a:t>
            </a:r>
            <a:r>
              <a:rPr lang="pt-PT" sz="1400" dirty="0" err="1"/>
              <a:t>User</a:t>
            </a:r>
            <a:r>
              <a:rPr lang="pt-PT" sz="1400" dirty="0"/>
              <a:t> </a:t>
            </a:r>
            <a:r>
              <a:rPr lang="pt-PT" sz="1400" dirty="0" err="1"/>
              <a:t>trends</a:t>
            </a:r>
            <a:r>
              <a:rPr lang="pt-PT" sz="1400" dirty="0"/>
              <a:t> </a:t>
            </a:r>
            <a:r>
              <a:rPr lang="pt-PT" sz="1400" dirty="0" err="1"/>
              <a:t>remain</a:t>
            </a:r>
            <a:r>
              <a:rPr lang="pt-PT" sz="1400" dirty="0"/>
              <a:t> </a:t>
            </a:r>
            <a:r>
              <a:rPr lang="pt-PT" sz="1400" dirty="0" err="1"/>
              <a:t>closely</a:t>
            </a:r>
            <a:r>
              <a:rPr lang="pt-PT" sz="1400" dirty="0"/>
              <a:t> </a:t>
            </a:r>
            <a:r>
              <a:rPr lang="pt-PT" sz="1400" dirty="0" err="1"/>
              <a:t>tied</a:t>
            </a:r>
            <a:r>
              <a:rPr lang="pt-PT" sz="1400" dirty="0"/>
              <a:t> </a:t>
            </a:r>
            <a:r>
              <a:rPr lang="pt-PT" sz="1400" dirty="0" err="1"/>
              <a:t>together</a:t>
            </a:r>
            <a:r>
              <a:rPr lang="pt-PT" sz="1400" dirty="0"/>
              <a:t>, as </a:t>
            </a:r>
            <a:r>
              <a:rPr lang="pt-PT" sz="1400" dirty="0" err="1"/>
              <a:t>expected</a:t>
            </a:r>
            <a:r>
              <a:rPr lang="pt-PT" sz="1400" dirty="0"/>
              <a:t>.</a:t>
            </a:r>
            <a:endParaRPr lang="en-US" sz="1400" dirty="0"/>
          </a:p>
        </p:txBody>
      </p:sp>
      <p:pic>
        <p:nvPicPr>
          <p:cNvPr id="3" name="Picture 2">
            <a:extLst>
              <a:ext uri="{FF2B5EF4-FFF2-40B4-BE49-F238E27FC236}">
                <a16:creationId xmlns:a16="http://schemas.microsoft.com/office/drawing/2014/main" id="{BF4C8B71-4989-4C11-8CE3-4CD9B5D7D21B}"/>
              </a:ext>
            </a:extLst>
          </p:cNvPr>
          <p:cNvPicPr>
            <a:picLocks noChangeAspect="1"/>
          </p:cNvPicPr>
          <p:nvPr/>
        </p:nvPicPr>
        <p:blipFill>
          <a:blip r:embed="rId3"/>
          <a:stretch>
            <a:fillRect/>
          </a:stretch>
        </p:blipFill>
        <p:spPr>
          <a:xfrm>
            <a:off x="4238757" y="3391523"/>
            <a:ext cx="3268788" cy="2532259"/>
          </a:xfrm>
          <a:prstGeom prst="rect">
            <a:avLst/>
          </a:prstGeom>
          <a:ln>
            <a:solidFill>
              <a:schemeClr val="tx1"/>
            </a:solidFill>
          </a:ln>
        </p:spPr>
      </p:pic>
      <p:pic>
        <p:nvPicPr>
          <p:cNvPr id="4" name="Picture 3">
            <a:extLst>
              <a:ext uri="{FF2B5EF4-FFF2-40B4-BE49-F238E27FC236}">
                <a16:creationId xmlns:a16="http://schemas.microsoft.com/office/drawing/2014/main" id="{352B8163-70C0-4AA0-9565-BAF0008D3821}"/>
              </a:ext>
            </a:extLst>
          </p:cNvPr>
          <p:cNvPicPr>
            <a:picLocks noChangeAspect="1"/>
          </p:cNvPicPr>
          <p:nvPr/>
        </p:nvPicPr>
        <p:blipFill>
          <a:blip r:embed="rId4"/>
          <a:stretch>
            <a:fillRect/>
          </a:stretch>
        </p:blipFill>
        <p:spPr>
          <a:xfrm>
            <a:off x="620466" y="3391523"/>
            <a:ext cx="3265734" cy="2540350"/>
          </a:xfrm>
          <a:prstGeom prst="rect">
            <a:avLst/>
          </a:prstGeom>
          <a:ln>
            <a:solidFill>
              <a:schemeClr val="tx1"/>
            </a:solidFill>
          </a:ln>
        </p:spPr>
      </p:pic>
    </p:spTree>
    <p:extLst>
      <p:ext uri="{BB962C8B-B14F-4D97-AF65-F5344CB8AC3E}">
        <p14:creationId xmlns:p14="http://schemas.microsoft.com/office/powerpoint/2010/main" val="2838285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p55"/>
          <p:cNvSpPr txBox="1">
            <a:spLocks noGrp="1"/>
          </p:cNvSpPr>
          <p:nvPr>
            <p:ph type="ctrTitle"/>
          </p:nvPr>
        </p:nvSpPr>
        <p:spPr>
          <a:xfrm>
            <a:off x="347400" y="981760"/>
            <a:ext cx="7077600" cy="29154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pt-PT" sz="4800" dirty="0">
                <a:solidFill>
                  <a:srgbClr val="FAFBFC"/>
                </a:solidFill>
                <a:latin typeface="Open Sans Light"/>
                <a:ea typeface="Open Sans Light"/>
                <a:cs typeface="Open Sans Light"/>
                <a:sym typeface="Open Sans Light"/>
              </a:rPr>
              <a:t>Marketing </a:t>
            </a:r>
            <a:r>
              <a:rPr lang="pt-PT" sz="4800" dirty="0" err="1">
                <a:solidFill>
                  <a:srgbClr val="FAFBFC"/>
                </a:solidFill>
                <a:latin typeface="Open Sans Light"/>
                <a:ea typeface="Open Sans Light"/>
                <a:cs typeface="Open Sans Light"/>
                <a:sym typeface="Open Sans Light"/>
              </a:rPr>
              <a:t>Analytics</a:t>
            </a:r>
            <a:r>
              <a:rPr lang="pt-PT" sz="4800" dirty="0">
                <a:solidFill>
                  <a:srgbClr val="FAFBFC"/>
                </a:solidFill>
                <a:latin typeface="Open Sans Light"/>
                <a:ea typeface="Open Sans Light"/>
                <a:cs typeface="Open Sans Light"/>
                <a:sym typeface="Open Sans Light"/>
              </a:rPr>
              <a:t> </a:t>
            </a:r>
            <a:r>
              <a:rPr lang="pt-PT" sz="4800" dirty="0" err="1">
                <a:solidFill>
                  <a:srgbClr val="FAFBFC"/>
                </a:solidFill>
                <a:latin typeface="Open Sans Light"/>
                <a:ea typeface="Open Sans Light"/>
                <a:cs typeface="Open Sans Light"/>
                <a:sym typeface="Open Sans Light"/>
              </a:rPr>
              <a:t>Nanodegree</a:t>
            </a:r>
            <a:r>
              <a:rPr lang="pt-PT" sz="4800" dirty="0">
                <a:solidFill>
                  <a:srgbClr val="FAFBFC"/>
                </a:solidFill>
                <a:latin typeface="Open Sans Light"/>
                <a:ea typeface="Open Sans Light"/>
                <a:cs typeface="Open Sans Light"/>
                <a:sym typeface="Open Sans Light"/>
              </a:rPr>
              <a:t> </a:t>
            </a:r>
            <a:r>
              <a:rPr lang="pt-PT" sz="4800" dirty="0" err="1">
                <a:solidFill>
                  <a:srgbClr val="FAFBFC"/>
                </a:solidFill>
                <a:latin typeface="Open Sans Light"/>
                <a:ea typeface="Open Sans Light"/>
                <a:cs typeface="Open Sans Light"/>
                <a:sym typeface="Open Sans Light"/>
              </a:rPr>
              <a:t>Program</a:t>
            </a:r>
            <a:endParaRPr sz="3600" dirty="0">
              <a:solidFill>
                <a:srgbClr val="FAFBFC"/>
              </a:solidFill>
              <a:latin typeface="Open Sans"/>
              <a:ea typeface="Open Sans"/>
              <a:cs typeface="Open Sans"/>
              <a:sym typeface="Open Sans"/>
            </a:endParaRPr>
          </a:p>
        </p:txBody>
      </p:sp>
      <p:sp>
        <p:nvSpPr>
          <p:cNvPr id="275" name="Google Shape;275;p55"/>
          <p:cNvSpPr/>
          <p:nvPr/>
        </p:nvSpPr>
        <p:spPr>
          <a:xfrm>
            <a:off x="3215864" y="3548130"/>
            <a:ext cx="1340671" cy="78576"/>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2" name="Google Shape;332;p62">
            <a:extLst>
              <a:ext uri="{FF2B5EF4-FFF2-40B4-BE49-F238E27FC236}">
                <a16:creationId xmlns:a16="http://schemas.microsoft.com/office/drawing/2014/main" id="{F6CF9CFC-A3EB-4720-8976-411367E90A29}"/>
              </a:ext>
            </a:extLst>
          </p:cNvPr>
          <p:cNvPicPr preferRelativeResize="0"/>
          <p:nvPr/>
        </p:nvPicPr>
        <p:blipFill>
          <a:blip r:embed="rId4">
            <a:alphaModFix/>
          </a:blip>
          <a:stretch>
            <a:fillRect/>
          </a:stretch>
        </p:blipFill>
        <p:spPr>
          <a:xfrm>
            <a:off x="347400" y="281900"/>
            <a:ext cx="1395250" cy="690650"/>
          </a:xfrm>
          <a:prstGeom prst="rect">
            <a:avLst/>
          </a:prstGeom>
          <a:noFill/>
          <a:ln>
            <a:noFill/>
          </a:ln>
        </p:spPr>
      </p:pic>
    </p:spTree>
    <p:extLst>
      <p:ext uri="{BB962C8B-B14F-4D97-AF65-F5344CB8AC3E}">
        <p14:creationId xmlns:p14="http://schemas.microsoft.com/office/powerpoint/2010/main" val="50188908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1924</Words>
  <Application>Microsoft Office PowerPoint</Application>
  <PresentationFormat>Custom</PresentationFormat>
  <Paragraphs>136</Paragraphs>
  <Slides>30</Slides>
  <Notes>30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30</vt:i4>
      </vt:variant>
    </vt:vector>
  </HeadingPairs>
  <TitlesOfParts>
    <vt:vector size="38" baseType="lpstr">
      <vt:lpstr>Helvetica Neue</vt:lpstr>
      <vt:lpstr>Open Sans SemiBold</vt:lpstr>
      <vt:lpstr>Open Sans</vt:lpstr>
      <vt:lpstr>Open Sans Light</vt:lpstr>
      <vt:lpstr>Arial</vt:lpstr>
      <vt:lpstr>Simple Light</vt:lpstr>
      <vt:lpstr>Simple Light</vt:lpstr>
      <vt:lpstr>Simple Light</vt:lpstr>
      <vt:lpstr>PowerPoint Presentation</vt:lpstr>
      <vt:lpstr>Part One:  Primary Views &amp; Filters </vt:lpstr>
      <vt:lpstr>Best Practice Check:      Three Primary Views</vt:lpstr>
      <vt:lpstr>2. Best Practice Check:      Filtering Internal Traffic</vt:lpstr>
      <vt:lpstr>Part Two:  Data Exploration</vt:lpstr>
      <vt:lpstr>Standard Display - Audience </vt:lpstr>
      <vt:lpstr>Standard Display - Audience </vt:lpstr>
      <vt:lpstr>Standard Display: Acquisition</vt:lpstr>
      <vt:lpstr>Standard Display: Acquisition</vt:lpstr>
      <vt:lpstr>Percentage Display: Conversion</vt:lpstr>
      <vt:lpstr>Comparison Display:  Behavior</vt:lpstr>
      <vt:lpstr>Percentage Display:  Audience</vt:lpstr>
      <vt:lpstr>Part Three:  Segmentation</vt:lpstr>
      <vt:lpstr>Segmentation: Instructions</vt:lpstr>
      <vt:lpstr>Audience Segment: Characteristic</vt:lpstr>
      <vt:lpstr>Audience Segment: Characteristic</vt:lpstr>
      <vt:lpstr>Audience Segment: Geography</vt:lpstr>
      <vt:lpstr>Audience Segment: Geography</vt:lpstr>
      <vt:lpstr>Audience Segment: User Behavior</vt:lpstr>
      <vt:lpstr>Audience Segment: User Behavior</vt:lpstr>
      <vt:lpstr>Part Two: Connecting a Data Source and Creating a Custom Dashboard</vt:lpstr>
      <vt:lpstr>1. Merchandise Store Draft Dashboard</vt:lpstr>
      <vt:lpstr>1. Merchandise Store Draft Dashboard</vt:lpstr>
      <vt:lpstr>2. Merchandise Store Draft Dashboard: Time Series chart</vt:lpstr>
      <vt:lpstr>3. Merchandise Store Draft Dashboard: Pie chart, 7 slices</vt:lpstr>
      <vt:lpstr>4. Merchandise Store Draft Dashboard: Pie chart, 5 slices</vt:lpstr>
      <vt:lpstr>5. Merchandise Store Draft Dashboard: Scorecard</vt:lpstr>
      <vt:lpstr>6. Merchandise Store Draft Dashboard: Date Range Control</vt:lpstr>
      <vt:lpstr>7. Merchandise Store Draft Dashboard: Date Range Control – Usage Demonstration</vt:lpstr>
      <vt:lpstr>Marketing Analytics Nanodegree Program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Gustavo Pacheco</cp:lastModifiedBy>
  <cp:revision>59</cp:revision>
  <dcterms:modified xsi:type="dcterms:W3CDTF">2020-04-28T20:12:04Z</dcterms:modified>
</cp:coreProperties>
</file>