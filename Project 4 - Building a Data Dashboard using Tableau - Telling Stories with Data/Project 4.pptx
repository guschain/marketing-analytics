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2" r:id="rId3"/>
    <p:sldId id="273" r:id="rId4"/>
    <p:sldId id="267" r:id="rId5"/>
    <p:sldId id="274" r:id="rId6"/>
    <p:sldId id="262" r:id="rId7"/>
    <p:sldId id="276" r:id="rId8"/>
    <p:sldId id="277" r:id="rId9"/>
    <p:sldId id="278" r:id="rId10"/>
    <p:sldId id="259" r:id="rId11"/>
    <p:sldId id="279" r:id="rId12"/>
    <p:sldId id="280" r:id="rId13"/>
    <p:sldId id="281" r:id="rId14"/>
    <p:sldId id="282" r:id="rId15"/>
    <p:sldId id="269" r:id="rId16"/>
    <p:sldId id="28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4/27/2020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4699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72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928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65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6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334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3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4/27/2020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659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05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863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862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5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ty.tableau.com/thread/147188" TargetMode="External"/><Relationship Id="rId2" Type="http://schemas.openxmlformats.org/officeDocument/2006/relationships/hyperlink" Target="https://community.tableau.com/thread/204537%20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elp.tableau.com/current/pro/desktop/en-us/joining_tables.htm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profile/gustavo.pacheco#!/vizhome/DataVizProjectDAFFinal/MyStory?publish=y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7B352FC-1F44-4AB9-A2BD-FBF231C6B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54082E-50DB-4824-8CEC-3C447E7B50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449"/>
          <a:stretch/>
        </p:blipFill>
        <p:spPr>
          <a:xfrm>
            <a:off x="-2" y="-1"/>
            <a:ext cx="12192001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524114"/>
            <a:ext cx="6288261" cy="1573149"/>
          </a:xfrm>
          <a:prstGeom prst="rect">
            <a:avLst/>
          </a:prstGeom>
          <a:solidFill>
            <a:schemeClr val="tx1">
              <a:alpha val="30000"/>
            </a:schemeClr>
          </a:solidFill>
          <a:ln w="12700">
            <a:noFill/>
          </a:ln>
          <a:effectLst>
            <a:outerShdw blurRad="508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0D02D-6DFF-4E7B-A4E4-25D1A225D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6210" y="718010"/>
            <a:ext cx="3212386" cy="1185353"/>
          </a:xfrm>
        </p:spPr>
        <p:txBody>
          <a:bodyPr anchor="ctr">
            <a:normAutofit/>
          </a:bodyPr>
          <a:lstStyle/>
          <a:p>
            <a:r>
              <a:rPr lang="pt-PT" sz="2600" dirty="0">
                <a:solidFill>
                  <a:schemeClr val="bg1"/>
                </a:solidFill>
              </a:rPr>
              <a:t>Project 4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34EF4-67EF-483A-A1EF-BC5D25C327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0734" y="718009"/>
            <a:ext cx="2228641" cy="1185353"/>
          </a:xfrm>
        </p:spPr>
        <p:txBody>
          <a:bodyPr anchor="ctr">
            <a:normAutofit/>
          </a:bodyPr>
          <a:lstStyle/>
          <a:p>
            <a:r>
              <a:rPr lang="pt-PT" sz="1700" dirty="0" err="1">
                <a:solidFill>
                  <a:schemeClr val="bg1"/>
                </a:solidFill>
              </a:rPr>
              <a:t>Building</a:t>
            </a:r>
            <a:r>
              <a:rPr lang="pt-PT" sz="1700" dirty="0">
                <a:solidFill>
                  <a:schemeClr val="bg1"/>
                </a:solidFill>
              </a:rPr>
              <a:t> a Data </a:t>
            </a:r>
            <a:r>
              <a:rPr lang="pt-PT" sz="1700" dirty="0" err="1">
                <a:solidFill>
                  <a:schemeClr val="bg1"/>
                </a:solidFill>
              </a:rPr>
              <a:t>Dashboard</a:t>
            </a:r>
            <a:r>
              <a:rPr lang="pt-PT" sz="1700" dirty="0">
                <a:solidFill>
                  <a:schemeClr val="bg1"/>
                </a:solidFill>
              </a:rPr>
              <a:t> </a:t>
            </a:r>
            <a:r>
              <a:rPr lang="pt-PT" sz="1700" dirty="0" err="1">
                <a:solidFill>
                  <a:schemeClr val="bg1"/>
                </a:solidFill>
              </a:rPr>
              <a:t>using</a:t>
            </a:r>
            <a:r>
              <a:rPr lang="pt-PT" sz="1700" dirty="0">
                <a:solidFill>
                  <a:schemeClr val="bg1"/>
                </a:solidFill>
              </a:rPr>
              <a:t> </a:t>
            </a:r>
            <a:r>
              <a:rPr lang="pt-PT" sz="1700" dirty="0" err="1">
                <a:solidFill>
                  <a:schemeClr val="bg1"/>
                </a:solidFill>
              </a:rPr>
              <a:t>Tableau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983736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28936" y="1306113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1794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C758A-E9D7-452B-9DFB-6A6ED298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B85D8-B67D-4ED1-AEA4-06544463C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 err="1"/>
              <a:t>This</a:t>
            </a:r>
            <a:r>
              <a:rPr lang="pt-PT" dirty="0"/>
              <a:t> </a:t>
            </a:r>
            <a:r>
              <a:rPr lang="pt-PT" dirty="0" err="1"/>
              <a:t>visualization</a:t>
            </a:r>
            <a:r>
              <a:rPr lang="pt-PT" dirty="0"/>
              <a:t> </a:t>
            </a:r>
            <a:r>
              <a:rPr lang="pt-PT" dirty="0" err="1"/>
              <a:t>pertains</a:t>
            </a:r>
            <a:r>
              <a:rPr lang="pt-PT" dirty="0"/>
              <a:t> to US </a:t>
            </a:r>
            <a:r>
              <a:rPr lang="pt-PT" dirty="0" err="1"/>
              <a:t>domestic</a:t>
            </a:r>
            <a:r>
              <a:rPr lang="pt-PT" dirty="0"/>
              <a:t> </a:t>
            </a:r>
            <a:r>
              <a:rPr lang="pt-PT" dirty="0" err="1"/>
              <a:t>flights</a:t>
            </a:r>
            <a:r>
              <a:rPr lang="pt-PT" dirty="0"/>
              <a:t> </a:t>
            </a:r>
            <a:r>
              <a:rPr lang="pt-PT" dirty="0" err="1"/>
              <a:t>dataset</a:t>
            </a:r>
            <a:r>
              <a:rPr lang="pt-PT" dirty="0"/>
              <a:t>, </a:t>
            </a:r>
            <a:r>
              <a:rPr lang="pt-PT" dirty="0" err="1"/>
              <a:t>with</a:t>
            </a:r>
            <a:r>
              <a:rPr lang="pt-PT" dirty="0"/>
              <a:t> data for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year</a:t>
            </a:r>
            <a:r>
              <a:rPr lang="pt-PT" dirty="0"/>
              <a:t> 2015, </a:t>
            </a:r>
            <a:r>
              <a:rPr lang="pt-PT" dirty="0" err="1"/>
              <a:t>displaying</a:t>
            </a:r>
            <a:r>
              <a:rPr lang="pt-PT" dirty="0"/>
              <a:t> </a:t>
            </a:r>
            <a:r>
              <a:rPr lang="pt-PT" dirty="0" err="1"/>
              <a:t>trends</a:t>
            </a:r>
            <a:r>
              <a:rPr lang="pt-PT" dirty="0"/>
              <a:t> in </a:t>
            </a:r>
            <a:r>
              <a:rPr lang="pt-PT" dirty="0" err="1"/>
              <a:t>Cancelation</a:t>
            </a:r>
            <a:r>
              <a:rPr lang="pt-PT" dirty="0"/>
              <a:t> Ratios in </a:t>
            </a:r>
            <a:r>
              <a:rPr lang="pt-PT" dirty="0" err="1"/>
              <a:t>different</a:t>
            </a:r>
            <a:r>
              <a:rPr lang="pt-PT" dirty="0"/>
              <a:t> </a:t>
            </a:r>
            <a:r>
              <a:rPr lang="pt-PT" dirty="0" err="1"/>
              <a:t>months</a:t>
            </a:r>
            <a:r>
              <a:rPr lang="pt-PT" dirty="0"/>
              <a:t>, </a:t>
            </a:r>
            <a:r>
              <a:rPr lang="pt-PT" dirty="0" err="1"/>
              <a:t>states</a:t>
            </a:r>
            <a:r>
              <a:rPr lang="pt-PT" dirty="0"/>
              <a:t>, </a:t>
            </a:r>
            <a:r>
              <a:rPr lang="pt-PT" dirty="0" err="1"/>
              <a:t>airports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airlines</a:t>
            </a:r>
            <a:r>
              <a:rPr lang="pt-PT" dirty="0"/>
              <a:t>.</a:t>
            </a:r>
          </a:p>
          <a:p>
            <a:pPr marL="0" indent="0">
              <a:buNone/>
            </a:pPr>
            <a:endParaRPr lang="pt-PT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407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C758A-E9D7-452B-9DFB-6A6ED298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Notes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B85D8-B67D-4ED1-AEA4-06544463C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PT" dirty="0" err="1"/>
              <a:t>Joined</a:t>
            </a:r>
            <a:r>
              <a:rPr lang="pt-PT" dirty="0"/>
              <a:t> flights.csv to airports.csv, </a:t>
            </a:r>
            <a:r>
              <a:rPr lang="pt-PT" dirty="0" err="1"/>
              <a:t>using</a:t>
            </a:r>
            <a:r>
              <a:rPr lang="pt-PT" dirty="0"/>
              <a:t> </a:t>
            </a:r>
            <a:r>
              <a:rPr lang="pt-PT" dirty="0" err="1"/>
              <a:t>Destination</a:t>
            </a:r>
            <a:r>
              <a:rPr lang="pt-PT" dirty="0"/>
              <a:t> </a:t>
            </a:r>
            <a:r>
              <a:rPr lang="pt-PT" dirty="0" err="1"/>
              <a:t>Airport</a:t>
            </a:r>
            <a:r>
              <a:rPr lang="pt-PT" dirty="0"/>
              <a:t> as a </a:t>
            </a:r>
            <a:r>
              <a:rPr lang="pt-PT" dirty="0" err="1"/>
              <a:t>foreign</a:t>
            </a:r>
            <a:r>
              <a:rPr lang="pt-PT" dirty="0"/>
              <a:t> </a:t>
            </a:r>
            <a:r>
              <a:rPr lang="pt-PT" dirty="0" err="1"/>
              <a:t>key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IATA CODE as a </a:t>
            </a:r>
            <a:r>
              <a:rPr lang="pt-PT" dirty="0" err="1"/>
              <a:t>primary</a:t>
            </a:r>
            <a:r>
              <a:rPr lang="pt-PT" dirty="0"/>
              <a:t> </a:t>
            </a:r>
            <a:r>
              <a:rPr lang="pt-PT" dirty="0" err="1"/>
              <a:t>key</a:t>
            </a:r>
            <a:r>
              <a:rPr lang="pt-PT" dirty="0"/>
              <a:t>, in </a:t>
            </a:r>
            <a:r>
              <a:rPr lang="pt-PT" dirty="0" err="1"/>
              <a:t>order</a:t>
            </a:r>
            <a:r>
              <a:rPr lang="pt-PT" dirty="0"/>
              <a:t> to </a:t>
            </a:r>
            <a:r>
              <a:rPr lang="pt-PT" dirty="0" err="1"/>
              <a:t>include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airport</a:t>
            </a:r>
            <a:r>
              <a:rPr lang="pt-PT" dirty="0"/>
              <a:t> </a:t>
            </a:r>
            <a:r>
              <a:rPr lang="pt-PT" dirty="0" err="1"/>
              <a:t>name</a:t>
            </a:r>
            <a:r>
              <a:rPr lang="pt-PT" dirty="0"/>
              <a:t>. </a:t>
            </a:r>
            <a:r>
              <a:rPr lang="pt-PT" dirty="0" err="1"/>
              <a:t>This</a:t>
            </a:r>
            <a:r>
              <a:rPr lang="pt-PT" dirty="0"/>
              <a:t> </a:t>
            </a:r>
            <a:r>
              <a:rPr lang="pt-PT" dirty="0" err="1"/>
              <a:t>was</a:t>
            </a:r>
            <a:r>
              <a:rPr lang="pt-PT" dirty="0"/>
              <a:t> </a:t>
            </a:r>
            <a:r>
              <a:rPr lang="pt-PT" dirty="0" err="1"/>
              <a:t>achieved</a:t>
            </a:r>
            <a:r>
              <a:rPr lang="pt-PT" dirty="0"/>
              <a:t> </a:t>
            </a:r>
            <a:r>
              <a:rPr lang="pt-PT" dirty="0" err="1"/>
              <a:t>using</a:t>
            </a:r>
            <a:r>
              <a:rPr lang="pt-PT" dirty="0"/>
              <a:t> na </a:t>
            </a:r>
            <a:r>
              <a:rPr lang="pt-PT" dirty="0" err="1"/>
              <a:t>inner</a:t>
            </a:r>
            <a:r>
              <a:rPr lang="pt-PT" dirty="0"/>
              <a:t> </a:t>
            </a:r>
            <a:r>
              <a:rPr lang="pt-PT" dirty="0" err="1"/>
              <a:t>join</a:t>
            </a:r>
            <a:r>
              <a:rPr lang="pt-PT" dirty="0"/>
              <a:t>, </a:t>
            </a:r>
            <a:r>
              <a:rPr lang="pt-PT" dirty="0" err="1"/>
              <a:t>thus</a:t>
            </a:r>
            <a:r>
              <a:rPr lang="pt-PT" dirty="0"/>
              <a:t> </a:t>
            </a:r>
            <a:r>
              <a:rPr lang="pt-PT" dirty="0" err="1"/>
              <a:t>combining</a:t>
            </a:r>
            <a:r>
              <a:rPr lang="pt-PT" dirty="0"/>
              <a:t> </a:t>
            </a:r>
            <a:r>
              <a:rPr lang="pt-PT" dirty="0" err="1"/>
              <a:t>tables</a:t>
            </a:r>
            <a:r>
              <a:rPr lang="pt-PT" dirty="0"/>
              <a:t> </a:t>
            </a:r>
            <a:r>
              <a:rPr lang="pt-PT" dirty="0" err="1"/>
              <a:t>on</a:t>
            </a:r>
            <a:r>
              <a:rPr lang="pt-PT" dirty="0"/>
              <a:t> </a:t>
            </a:r>
            <a:r>
              <a:rPr lang="pt-PT" dirty="0" err="1"/>
              <a:t>values</a:t>
            </a:r>
            <a:r>
              <a:rPr lang="pt-PT" dirty="0"/>
              <a:t> </a:t>
            </a:r>
            <a:r>
              <a:rPr lang="pt-PT" dirty="0" err="1"/>
              <a:t>matching</a:t>
            </a:r>
            <a:r>
              <a:rPr lang="pt-PT" dirty="0"/>
              <a:t> </a:t>
            </a:r>
            <a:r>
              <a:rPr lang="pt-PT" dirty="0" err="1"/>
              <a:t>both</a:t>
            </a:r>
            <a:r>
              <a:rPr lang="pt-PT" dirty="0"/>
              <a:t> </a:t>
            </a:r>
            <a:r>
              <a:rPr lang="pt-PT" dirty="0" err="1"/>
              <a:t>tables</a:t>
            </a:r>
            <a:r>
              <a:rPr lang="pt-PT" dirty="0"/>
              <a:t>.</a:t>
            </a:r>
          </a:p>
          <a:p>
            <a:r>
              <a:rPr lang="pt-PT" dirty="0"/>
              <a:t>A </a:t>
            </a:r>
            <a:r>
              <a:rPr lang="pt-PT" dirty="0" err="1"/>
              <a:t>map</a:t>
            </a:r>
            <a:r>
              <a:rPr lang="pt-PT" dirty="0"/>
              <a:t> </a:t>
            </a:r>
            <a:r>
              <a:rPr lang="pt-PT" dirty="0" err="1"/>
              <a:t>wasn’t</a:t>
            </a:r>
            <a:r>
              <a:rPr lang="pt-PT" dirty="0"/>
              <a:t> </a:t>
            </a:r>
            <a:r>
              <a:rPr lang="pt-PT" dirty="0" err="1"/>
              <a:t>used</a:t>
            </a:r>
            <a:r>
              <a:rPr lang="pt-PT" dirty="0"/>
              <a:t>, as </a:t>
            </a:r>
            <a:r>
              <a:rPr lang="pt-PT" dirty="0" err="1"/>
              <a:t>it</a:t>
            </a:r>
            <a:r>
              <a:rPr lang="pt-PT" dirty="0"/>
              <a:t> </a:t>
            </a:r>
            <a:r>
              <a:rPr lang="pt-PT" dirty="0" err="1"/>
              <a:t>was</a:t>
            </a:r>
            <a:r>
              <a:rPr lang="pt-PT" dirty="0"/>
              <a:t> </a:t>
            </a:r>
            <a:r>
              <a:rPr lang="pt-PT" dirty="0" err="1"/>
              <a:t>considered</a:t>
            </a:r>
            <a:r>
              <a:rPr lang="pt-PT" dirty="0"/>
              <a:t> </a:t>
            </a:r>
            <a:r>
              <a:rPr lang="pt-PT" dirty="0" err="1"/>
              <a:t>that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results</a:t>
            </a:r>
            <a:r>
              <a:rPr lang="pt-PT" dirty="0"/>
              <a:t> </a:t>
            </a:r>
            <a:r>
              <a:rPr lang="pt-PT" dirty="0" err="1"/>
              <a:t>could</a:t>
            </a:r>
            <a:r>
              <a:rPr lang="pt-PT" dirty="0"/>
              <a:t> more </a:t>
            </a:r>
            <a:r>
              <a:rPr lang="pt-PT" dirty="0" err="1"/>
              <a:t>easily</a:t>
            </a:r>
            <a:r>
              <a:rPr lang="pt-PT" dirty="0"/>
              <a:t> </a:t>
            </a:r>
            <a:r>
              <a:rPr lang="pt-PT" dirty="0" err="1"/>
              <a:t>be</a:t>
            </a:r>
            <a:r>
              <a:rPr lang="pt-PT" dirty="0"/>
              <a:t> </a:t>
            </a:r>
            <a:r>
              <a:rPr lang="pt-PT" dirty="0" err="1"/>
              <a:t>seen</a:t>
            </a:r>
            <a:r>
              <a:rPr lang="pt-PT" dirty="0"/>
              <a:t> </a:t>
            </a:r>
            <a:r>
              <a:rPr lang="pt-PT" dirty="0" err="1"/>
              <a:t>using</a:t>
            </a:r>
            <a:r>
              <a:rPr lang="pt-PT" dirty="0"/>
              <a:t> a </a:t>
            </a:r>
            <a:r>
              <a:rPr lang="pt-PT" dirty="0" err="1"/>
              <a:t>treemap</a:t>
            </a:r>
            <a:r>
              <a:rPr lang="pt-PT" dirty="0"/>
              <a:t>.</a:t>
            </a:r>
          </a:p>
          <a:p>
            <a:r>
              <a:rPr lang="pt-PT" dirty="0"/>
              <a:t>Negative </a:t>
            </a:r>
            <a:r>
              <a:rPr lang="pt-PT" dirty="0" err="1"/>
              <a:t>values</a:t>
            </a:r>
            <a:r>
              <a:rPr lang="pt-PT" dirty="0"/>
              <a:t> </a:t>
            </a:r>
            <a:r>
              <a:rPr lang="pt-PT" dirty="0" err="1"/>
              <a:t>were</a:t>
            </a:r>
            <a:r>
              <a:rPr lang="pt-PT" dirty="0"/>
              <a:t> </a:t>
            </a:r>
            <a:r>
              <a:rPr lang="pt-PT" dirty="0" err="1"/>
              <a:t>included</a:t>
            </a:r>
            <a:r>
              <a:rPr lang="pt-PT" dirty="0"/>
              <a:t> in Orange, </a:t>
            </a:r>
            <a:r>
              <a:rPr lang="pt-PT" dirty="0" err="1"/>
              <a:t>while</a:t>
            </a:r>
            <a:r>
              <a:rPr lang="pt-PT" dirty="0"/>
              <a:t> positive </a:t>
            </a:r>
            <a:r>
              <a:rPr lang="pt-PT" dirty="0" err="1"/>
              <a:t>values</a:t>
            </a:r>
            <a:r>
              <a:rPr lang="pt-PT" dirty="0"/>
              <a:t> are </a:t>
            </a:r>
            <a:r>
              <a:rPr lang="pt-PT" dirty="0" err="1"/>
              <a:t>encoded</a:t>
            </a:r>
            <a:r>
              <a:rPr lang="pt-PT" dirty="0"/>
              <a:t> as </a:t>
            </a:r>
            <a:r>
              <a:rPr lang="pt-PT" dirty="0" err="1"/>
              <a:t>Blue</a:t>
            </a:r>
            <a:r>
              <a:rPr lang="pt-PT" dirty="0"/>
              <a:t>, </a:t>
            </a:r>
            <a:r>
              <a:rPr lang="pt-PT" dirty="0" err="1"/>
              <a:t>working</a:t>
            </a:r>
            <a:r>
              <a:rPr lang="pt-PT" dirty="0"/>
              <a:t> for </a:t>
            </a:r>
            <a:r>
              <a:rPr lang="pt-PT" dirty="0" err="1"/>
              <a:t>colorblindness</a:t>
            </a:r>
            <a:r>
              <a:rPr lang="pt-PT" dirty="0"/>
              <a:t>.</a:t>
            </a:r>
          </a:p>
          <a:p>
            <a:r>
              <a:rPr lang="pt-PT" dirty="0"/>
              <a:t>A </a:t>
            </a:r>
            <a:r>
              <a:rPr lang="pt-PT" dirty="0" err="1"/>
              <a:t>story</a:t>
            </a:r>
            <a:r>
              <a:rPr lang="pt-PT" dirty="0"/>
              <a:t> </a:t>
            </a:r>
            <a:r>
              <a:rPr lang="pt-PT" dirty="0" err="1"/>
              <a:t>was</a:t>
            </a:r>
            <a:r>
              <a:rPr lang="pt-PT" dirty="0"/>
              <a:t> </a:t>
            </a:r>
            <a:r>
              <a:rPr lang="pt-PT" dirty="0" err="1"/>
              <a:t>created</a:t>
            </a:r>
            <a:r>
              <a:rPr lang="pt-PT" dirty="0"/>
              <a:t> to </a:t>
            </a:r>
            <a:r>
              <a:rPr lang="pt-PT" dirty="0" err="1"/>
              <a:t>better</a:t>
            </a:r>
            <a:r>
              <a:rPr lang="pt-PT" dirty="0"/>
              <a:t> </a:t>
            </a:r>
            <a:r>
              <a:rPr lang="pt-PT" dirty="0" err="1"/>
              <a:t>communicate</a:t>
            </a:r>
            <a:r>
              <a:rPr lang="pt-PT" dirty="0"/>
              <a:t> insights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narrative</a:t>
            </a:r>
            <a:r>
              <a:rPr lang="pt-PT" dirty="0"/>
              <a:t>.</a:t>
            </a:r>
          </a:p>
          <a:p>
            <a:r>
              <a:rPr lang="pt-PT" dirty="0" err="1"/>
              <a:t>Cancel</a:t>
            </a:r>
            <a:r>
              <a:rPr lang="pt-PT" dirty="0"/>
              <a:t> ratio </a:t>
            </a:r>
            <a:r>
              <a:rPr lang="pt-PT" dirty="0" err="1"/>
              <a:t>is</a:t>
            </a:r>
            <a:r>
              <a:rPr lang="pt-PT" dirty="0"/>
              <a:t> a </a:t>
            </a:r>
            <a:r>
              <a:rPr lang="pt-PT" dirty="0" err="1"/>
              <a:t>calculated</a:t>
            </a:r>
            <a:r>
              <a:rPr lang="pt-PT" dirty="0"/>
              <a:t> </a:t>
            </a:r>
            <a:r>
              <a:rPr lang="pt-PT" dirty="0" err="1"/>
              <a:t>field</a:t>
            </a:r>
            <a:r>
              <a:rPr lang="pt-PT" dirty="0"/>
              <a:t>: </a:t>
            </a:r>
            <a:r>
              <a:rPr lang="en-US" dirty="0"/>
              <a:t>sum([Cancelled])/COUNT([Cancelled]).</a:t>
            </a:r>
          </a:p>
          <a:p>
            <a:r>
              <a:rPr lang="en-US" dirty="0"/>
              <a:t>Date is a calculated field: DATE(STR([Month]) +'/'+ STR([DAY])+'/' + STR([Year])).</a:t>
            </a:r>
          </a:p>
          <a:p>
            <a:r>
              <a:rPr lang="en-US" dirty="0"/>
              <a:t>A hierarchy was created with Airport and AIRLINE, making use of the join.</a:t>
            </a:r>
          </a:p>
          <a:p>
            <a:endParaRPr lang="pt-PT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186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C758A-E9D7-452B-9DFB-6A6ED298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Research </a:t>
            </a:r>
            <a:r>
              <a:rPr lang="pt-PT" dirty="0" err="1"/>
              <a:t>questions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B85D8-B67D-4ED1-AEA4-06544463C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dirty="0"/>
              <a:t>Are </a:t>
            </a:r>
            <a:r>
              <a:rPr lang="pt-PT" dirty="0" err="1"/>
              <a:t>there</a:t>
            </a:r>
            <a:r>
              <a:rPr lang="pt-PT" dirty="0"/>
              <a:t> </a:t>
            </a:r>
            <a:r>
              <a:rPr lang="pt-PT" dirty="0" err="1"/>
              <a:t>specific</a:t>
            </a:r>
            <a:r>
              <a:rPr lang="pt-PT" dirty="0"/>
              <a:t> </a:t>
            </a:r>
            <a:r>
              <a:rPr lang="pt-PT" dirty="0" err="1"/>
              <a:t>months</a:t>
            </a:r>
            <a:r>
              <a:rPr lang="pt-PT" dirty="0"/>
              <a:t> for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year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2015 </a:t>
            </a:r>
            <a:r>
              <a:rPr lang="pt-PT" dirty="0" err="1"/>
              <a:t>that</a:t>
            </a:r>
            <a:r>
              <a:rPr lang="pt-PT" dirty="0"/>
              <a:t> stand out in </a:t>
            </a:r>
            <a:r>
              <a:rPr lang="pt-PT" dirty="0" err="1"/>
              <a:t>terms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cancelations</a:t>
            </a:r>
            <a:r>
              <a:rPr lang="pt-PT" dirty="0"/>
              <a:t>?</a:t>
            </a:r>
          </a:p>
          <a:p>
            <a:r>
              <a:rPr lang="pt-PT" dirty="0"/>
              <a:t>Does </a:t>
            </a:r>
            <a:r>
              <a:rPr lang="pt-PT" dirty="0" err="1"/>
              <a:t>geographic</a:t>
            </a:r>
            <a:r>
              <a:rPr lang="pt-PT" dirty="0"/>
              <a:t> </a:t>
            </a:r>
            <a:r>
              <a:rPr lang="pt-PT" dirty="0" err="1"/>
              <a:t>dispersion</a:t>
            </a:r>
            <a:r>
              <a:rPr lang="pt-PT" dirty="0"/>
              <a:t> </a:t>
            </a:r>
            <a:r>
              <a:rPr lang="pt-PT" dirty="0" err="1"/>
              <a:t>influence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cancelation</a:t>
            </a:r>
            <a:r>
              <a:rPr lang="pt-PT" dirty="0"/>
              <a:t> ratio?</a:t>
            </a:r>
          </a:p>
          <a:p>
            <a:r>
              <a:rPr lang="pt-PT" dirty="0"/>
              <a:t>Is </a:t>
            </a:r>
            <a:r>
              <a:rPr lang="pt-PT" dirty="0" err="1"/>
              <a:t>there</a:t>
            </a:r>
            <a:r>
              <a:rPr lang="pt-PT" dirty="0"/>
              <a:t> a </a:t>
            </a:r>
            <a:r>
              <a:rPr lang="pt-PT" dirty="0" err="1"/>
              <a:t>correlation</a:t>
            </a:r>
            <a:r>
              <a:rPr lang="pt-PT" dirty="0"/>
              <a:t> </a:t>
            </a:r>
            <a:r>
              <a:rPr lang="pt-PT" dirty="0" err="1"/>
              <a:t>between</a:t>
            </a:r>
            <a:r>
              <a:rPr lang="pt-PT" dirty="0"/>
              <a:t> Arrival </a:t>
            </a:r>
            <a:r>
              <a:rPr lang="pt-PT" dirty="0" err="1"/>
              <a:t>Delays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cancelations</a:t>
            </a:r>
            <a:r>
              <a:rPr lang="pt-PT" dirty="0"/>
              <a:t>?</a:t>
            </a:r>
          </a:p>
          <a:p>
            <a:r>
              <a:rPr lang="pt-PT" dirty="0" err="1"/>
              <a:t>How</a:t>
            </a:r>
            <a:r>
              <a:rPr lang="pt-PT" dirty="0"/>
              <a:t> do </a:t>
            </a:r>
            <a:r>
              <a:rPr lang="pt-PT" dirty="0" err="1"/>
              <a:t>airports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Airlines </a:t>
            </a:r>
            <a:r>
              <a:rPr lang="pt-PT" dirty="0" err="1"/>
              <a:t>contribute</a:t>
            </a:r>
            <a:r>
              <a:rPr lang="pt-PT" dirty="0"/>
              <a:t> to </a:t>
            </a:r>
            <a:r>
              <a:rPr lang="pt-PT" dirty="0" err="1"/>
              <a:t>cancelations</a:t>
            </a:r>
            <a:r>
              <a:rPr lang="pt-PT" dirty="0"/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29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D19ED-6E7F-4A75-B6EA-14F632762B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B47CA0-6473-482A-812D-D98AF3934A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81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9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11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8" name="Freeform: Shape 13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C00695-28FC-4C88-A62F-78C9FAC95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pt-PT" sz="2800" dirty="0" err="1"/>
              <a:t>Cancelation</a:t>
            </a:r>
            <a:r>
              <a:rPr lang="pt-PT" sz="2800" dirty="0"/>
              <a:t> ratios </a:t>
            </a:r>
            <a:r>
              <a:rPr lang="pt-PT" sz="2800" dirty="0" err="1"/>
              <a:t>were</a:t>
            </a:r>
            <a:r>
              <a:rPr lang="pt-PT" sz="2800" dirty="0"/>
              <a:t> </a:t>
            </a:r>
            <a:r>
              <a:rPr lang="pt-PT" sz="2800" dirty="0" err="1"/>
              <a:t>significantly</a:t>
            </a:r>
            <a:r>
              <a:rPr lang="pt-PT" sz="2800" dirty="0"/>
              <a:t> </a:t>
            </a:r>
            <a:r>
              <a:rPr lang="pt-PT" sz="2800" dirty="0" err="1"/>
              <a:t>higher</a:t>
            </a:r>
            <a:r>
              <a:rPr lang="pt-PT" sz="2800" dirty="0"/>
              <a:t> in </a:t>
            </a:r>
            <a:r>
              <a:rPr lang="pt-PT" sz="2800" dirty="0" err="1"/>
              <a:t>February</a:t>
            </a:r>
            <a:r>
              <a:rPr lang="pt-PT" sz="2800" dirty="0"/>
              <a:t> </a:t>
            </a:r>
            <a:r>
              <a:rPr lang="pt-PT" sz="2800" dirty="0" err="1"/>
              <a:t>than</a:t>
            </a:r>
            <a:r>
              <a:rPr lang="pt-PT" sz="2800" dirty="0"/>
              <a:t> </a:t>
            </a:r>
            <a:r>
              <a:rPr lang="pt-PT" sz="2800" dirty="0" err="1"/>
              <a:t>the</a:t>
            </a:r>
            <a:r>
              <a:rPr lang="pt-PT" sz="2800" dirty="0"/>
              <a:t> </a:t>
            </a:r>
            <a:r>
              <a:rPr lang="pt-PT" sz="2800" dirty="0" err="1"/>
              <a:t>rest</a:t>
            </a:r>
            <a:r>
              <a:rPr lang="pt-PT" sz="2800" dirty="0"/>
              <a:t> </a:t>
            </a:r>
            <a:r>
              <a:rPr lang="pt-PT" sz="2800" dirty="0" err="1"/>
              <a:t>of</a:t>
            </a:r>
            <a:r>
              <a:rPr lang="pt-PT" sz="2800" dirty="0"/>
              <a:t> </a:t>
            </a:r>
            <a:r>
              <a:rPr lang="pt-PT" sz="2800" dirty="0" err="1"/>
              <a:t>the</a:t>
            </a:r>
            <a:r>
              <a:rPr lang="pt-PT" sz="2800" dirty="0"/>
              <a:t> </a:t>
            </a:r>
            <a:r>
              <a:rPr lang="pt-PT" sz="2800" dirty="0" err="1"/>
              <a:t>months</a:t>
            </a:r>
            <a:r>
              <a:rPr lang="pt-PT" sz="2800" dirty="0"/>
              <a:t>.</a:t>
            </a:r>
            <a:br>
              <a:rPr lang="pt-PT" sz="2800" dirty="0"/>
            </a:br>
            <a:r>
              <a:rPr lang="pt-PT" sz="2800" dirty="0" err="1"/>
              <a:t>It</a:t>
            </a:r>
            <a:r>
              <a:rPr lang="pt-PT" sz="2800" dirty="0"/>
              <a:t> hits </a:t>
            </a:r>
            <a:r>
              <a:rPr lang="pt-PT" sz="2800" dirty="0" err="1"/>
              <a:t>its</a:t>
            </a:r>
            <a:r>
              <a:rPr lang="pt-PT" sz="2800" dirty="0"/>
              <a:t> </a:t>
            </a:r>
            <a:r>
              <a:rPr lang="pt-PT" sz="2800" dirty="0" err="1"/>
              <a:t>lowest</a:t>
            </a:r>
            <a:r>
              <a:rPr lang="pt-PT" sz="2800" dirty="0"/>
              <a:t> </a:t>
            </a:r>
            <a:r>
              <a:rPr lang="pt-PT" sz="2800" dirty="0" err="1"/>
              <a:t>point</a:t>
            </a:r>
            <a:r>
              <a:rPr lang="pt-PT" sz="2800" dirty="0"/>
              <a:t> </a:t>
            </a:r>
            <a:r>
              <a:rPr lang="pt-PT" sz="2800" dirty="0" err="1"/>
              <a:t>on</a:t>
            </a:r>
            <a:r>
              <a:rPr lang="pt-PT" sz="2800" dirty="0"/>
              <a:t> </a:t>
            </a:r>
            <a:r>
              <a:rPr lang="pt-PT" sz="2800" dirty="0" err="1"/>
              <a:t>September</a:t>
            </a:r>
            <a:r>
              <a:rPr lang="pt-PT" sz="2800" dirty="0"/>
              <a:t>.</a:t>
            </a:r>
            <a:endParaRPr lang="en-US" sz="2800" dirty="0"/>
          </a:p>
        </p:txBody>
      </p:sp>
      <p:sp>
        <p:nvSpPr>
          <p:cNvPr id="29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E6D7B6-D11B-47CC-93A7-1A640BA3B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403" y="1161288"/>
            <a:ext cx="5592822" cy="490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501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9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11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8" name="Freeform: Shape 13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C00695-28FC-4C88-A62F-78C9FAC95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371" y="1228400"/>
            <a:ext cx="3602736" cy="4526280"/>
          </a:xfrm>
        </p:spPr>
        <p:txBody>
          <a:bodyPr>
            <a:normAutofit fontScale="90000"/>
          </a:bodyPr>
          <a:lstStyle/>
          <a:p>
            <a:r>
              <a:rPr lang="pt-PT" sz="2800" dirty="0"/>
              <a:t>Vermont </a:t>
            </a:r>
            <a:r>
              <a:rPr lang="pt-PT" sz="2800" dirty="0" err="1"/>
              <a:t>was</a:t>
            </a:r>
            <a:r>
              <a:rPr lang="pt-PT" sz="2800" dirty="0"/>
              <a:t> </a:t>
            </a:r>
            <a:r>
              <a:rPr lang="pt-PT" sz="2800" dirty="0" err="1"/>
              <a:t>the</a:t>
            </a:r>
            <a:r>
              <a:rPr lang="pt-PT" sz="2800" dirty="0"/>
              <a:t> single </a:t>
            </a:r>
            <a:r>
              <a:rPr lang="pt-PT" sz="2800" dirty="0" err="1"/>
              <a:t>most</a:t>
            </a:r>
            <a:r>
              <a:rPr lang="pt-PT" sz="2800" dirty="0"/>
              <a:t> </a:t>
            </a:r>
            <a:r>
              <a:rPr lang="pt-PT" sz="2800" dirty="0" err="1"/>
              <a:t>contributing</a:t>
            </a:r>
            <a:r>
              <a:rPr lang="pt-PT" sz="2800" dirty="0"/>
              <a:t> </a:t>
            </a:r>
            <a:r>
              <a:rPr lang="pt-PT" sz="2800" dirty="0" err="1"/>
              <a:t>state</a:t>
            </a:r>
            <a:r>
              <a:rPr lang="pt-PT" sz="2800" dirty="0"/>
              <a:t> to </a:t>
            </a:r>
            <a:r>
              <a:rPr lang="pt-PT" sz="2800" dirty="0" err="1"/>
              <a:t>cancelation</a:t>
            </a:r>
            <a:r>
              <a:rPr lang="pt-PT" sz="2800" dirty="0"/>
              <a:t> ratio (4.47%).</a:t>
            </a:r>
            <a:br>
              <a:rPr lang="pt-PT" sz="2800" dirty="0"/>
            </a:br>
            <a:br>
              <a:rPr lang="pt-PT" sz="2800" dirty="0"/>
            </a:br>
            <a:r>
              <a:rPr lang="pt-PT" sz="2800" dirty="0"/>
              <a:t>In </a:t>
            </a:r>
            <a:r>
              <a:rPr lang="pt-PT" sz="2800" dirty="0" err="1"/>
              <a:t>February</a:t>
            </a:r>
            <a:r>
              <a:rPr lang="pt-PT" sz="2800" dirty="0"/>
              <a:t> (</a:t>
            </a:r>
            <a:r>
              <a:rPr lang="pt-PT" sz="2800" dirty="0" err="1"/>
              <a:t>the</a:t>
            </a:r>
            <a:r>
              <a:rPr lang="pt-PT" sz="2800" dirty="0"/>
              <a:t> </a:t>
            </a:r>
            <a:r>
              <a:rPr lang="pt-PT" sz="2800" dirty="0" err="1"/>
              <a:t>highest</a:t>
            </a:r>
            <a:r>
              <a:rPr lang="pt-PT" sz="2800" dirty="0"/>
              <a:t> </a:t>
            </a:r>
            <a:r>
              <a:rPr lang="pt-PT" sz="2800" dirty="0" err="1"/>
              <a:t>point</a:t>
            </a:r>
            <a:r>
              <a:rPr lang="pt-PT" sz="2800" dirty="0"/>
              <a:t>), New Hampshire </a:t>
            </a:r>
            <a:r>
              <a:rPr lang="pt-PT" sz="2800" dirty="0" err="1"/>
              <a:t>was</a:t>
            </a:r>
            <a:r>
              <a:rPr lang="pt-PT" sz="2800" dirty="0"/>
              <a:t> </a:t>
            </a:r>
            <a:r>
              <a:rPr lang="pt-PT" sz="2800" dirty="0" err="1"/>
              <a:t>the</a:t>
            </a:r>
            <a:r>
              <a:rPr lang="pt-PT" sz="2800" dirty="0"/>
              <a:t> </a:t>
            </a:r>
            <a:r>
              <a:rPr lang="pt-PT" sz="2800" dirty="0" err="1"/>
              <a:t>biggest</a:t>
            </a:r>
            <a:r>
              <a:rPr lang="pt-PT" sz="2800" dirty="0"/>
              <a:t> </a:t>
            </a:r>
            <a:r>
              <a:rPr lang="pt-PT" sz="2800" dirty="0" err="1"/>
              <a:t>contributor</a:t>
            </a:r>
            <a:r>
              <a:rPr lang="pt-PT" sz="2800" dirty="0"/>
              <a:t> (23.53%).</a:t>
            </a:r>
            <a:br>
              <a:rPr lang="pt-PT" sz="2800" dirty="0"/>
            </a:br>
            <a:br>
              <a:rPr lang="pt-PT" sz="2800" dirty="0"/>
            </a:br>
            <a:r>
              <a:rPr lang="pt-PT" sz="2800" dirty="0" err="1"/>
              <a:t>Over</a:t>
            </a:r>
            <a:r>
              <a:rPr lang="pt-PT" sz="2800" dirty="0"/>
              <a:t> </a:t>
            </a:r>
            <a:r>
              <a:rPr lang="pt-PT" sz="2800" dirty="0" err="1"/>
              <a:t>the</a:t>
            </a:r>
            <a:r>
              <a:rPr lang="pt-PT" sz="2800" dirty="0"/>
              <a:t> </a:t>
            </a:r>
            <a:r>
              <a:rPr lang="pt-PT" sz="2800" dirty="0" err="1"/>
              <a:t>year</a:t>
            </a:r>
            <a:r>
              <a:rPr lang="pt-PT" sz="2800" dirty="0"/>
              <a:t> </a:t>
            </a:r>
            <a:r>
              <a:rPr lang="pt-PT" sz="2800" dirty="0" err="1"/>
              <a:t>of</a:t>
            </a:r>
            <a:r>
              <a:rPr lang="pt-PT" sz="2800" dirty="0"/>
              <a:t> 2015, </a:t>
            </a:r>
            <a:r>
              <a:rPr lang="pt-PT" sz="2800" dirty="0" err="1"/>
              <a:t>Hawaii</a:t>
            </a:r>
            <a:r>
              <a:rPr lang="pt-PT" sz="2800" dirty="0"/>
              <a:t> </a:t>
            </a:r>
            <a:r>
              <a:rPr lang="pt-PT" sz="2800" dirty="0" err="1"/>
              <a:t>had</a:t>
            </a:r>
            <a:r>
              <a:rPr lang="pt-PT" sz="2800" dirty="0"/>
              <a:t> </a:t>
            </a:r>
            <a:r>
              <a:rPr lang="pt-PT" sz="2800" dirty="0" err="1"/>
              <a:t>the</a:t>
            </a:r>
            <a:r>
              <a:rPr lang="pt-PT" sz="2800" dirty="0"/>
              <a:t> </a:t>
            </a:r>
            <a:r>
              <a:rPr lang="pt-PT" sz="2800" dirty="0" err="1"/>
              <a:t>lowest</a:t>
            </a:r>
            <a:r>
              <a:rPr lang="pt-PT" sz="2800" dirty="0"/>
              <a:t> ratio (0.30%).</a:t>
            </a:r>
            <a:endParaRPr lang="en-US" sz="2800" b="1" dirty="0"/>
          </a:p>
        </p:txBody>
      </p:sp>
      <p:sp>
        <p:nvSpPr>
          <p:cNvPr id="29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977339-7E9F-4CA6-9C3B-76366B9B0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981" y="1843446"/>
            <a:ext cx="6778952" cy="363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972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9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11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8" name="Freeform: Shape 13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C00695-28FC-4C88-A62F-78C9FAC95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371" y="1228400"/>
            <a:ext cx="3602736" cy="4526280"/>
          </a:xfrm>
        </p:spPr>
        <p:txBody>
          <a:bodyPr>
            <a:normAutofit/>
          </a:bodyPr>
          <a:lstStyle/>
          <a:p>
            <a:r>
              <a:rPr lang="en-US" sz="2800" dirty="0"/>
              <a:t>There can be identified a positive correlation between Cancelation Ratio and Average Arrival Detail, comparing airlines.</a:t>
            </a:r>
            <a:endParaRPr lang="en-US" sz="2800" b="1" dirty="0"/>
          </a:p>
        </p:txBody>
      </p:sp>
      <p:sp>
        <p:nvSpPr>
          <p:cNvPr id="29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839F6D-E17E-44ED-AE7A-5F1DA7548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3258" y="1079992"/>
            <a:ext cx="5619850" cy="535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261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9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7" name="Freeform: Shape 11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8" name="Freeform: Shape 13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C00695-28FC-4C88-A62F-78C9FAC95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371" y="1228400"/>
            <a:ext cx="3602736" cy="4526280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We may see that Barnstable Municipal is the biggest contributor.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We can then filter by a count of canceled flights (to exclude flights airports with low counts), where we can find different airports that are more significant.</a:t>
            </a:r>
            <a:endParaRPr lang="en-US" sz="2800" b="1" dirty="0"/>
          </a:p>
        </p:txBody>
      </p:sp>
      <p:sp>
        <p:nvSpPr>
          <p:cNvPr id="29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46AF57-4AD9-4B28-A9EF-12862D0D5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645" y="852511"/>
            <a:ext cx="6081984" cy="5806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769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D75DB-E263-446B-A1A8-28BA3C6D2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Design </a:t>
            </a:r>
            <a:r>
              <a:rPr lang="pt-PT" dirty="0" err="1"/>
              <a:t>Choices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62D2-62BA-4E77-B191-892F24B49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608257"/>
            <a:ext cx="4937760" cy="3694176"/>
          </a:xfrm>
        </p:spPr>
        <p:txBody>
          <a:bodyPr>
            <a:normAutofit/>
          </a:bodyPr>
          <a:lstStyle/>
          <a:p>
            <a:r>
              <a:rPr lang="pt-PT" dirty="0" err="1"/>
              <a:t>Built</a:t>
            </a:r>
            <a:r>
              <a:rPr lang="pt-PT" dirty="0"/>
              <a:t> a </a:t>
            </a:r>
            <a:r>
              <a:rPr lang="pt-PT" dirty="0" err="1"/>
              <a:t>line</a:t>
            </a:r>
            <a:r>
              <a:rPr lang="pt-PT" dirty="0"/>
              <a:t> </a:t>
            </a:r>
            <a:r>
              <a:rPr lang="pt-PT" dirty="0" err="1"/>
              <a:t>chart</a:t>
            </a:r>
            <a:r>
              <a:rPr lang="pt-PT" dirty="0"/>
              <a:t> in </a:t>
            </a:r>
            <a:r>
              <a:rPr lang="pt-PT" dirty="0" err="1"/>
              <a:t>blue</a:t>
            </a:r>
            <a:r>
              <a:rPr lang="pt-PT" dirty="0"/>
              <a:t> color, </a:t>
            </a:r>
            <a:r>
              <a:rPr lang="pt-PT" dirty="0" err="1"/>
              <a:t>which</a:t>
            </a:r>
            <a:r>
              <a:rPr lang="pt-PT" dirty="0"/>
              <a:t> shows </a:t>
            </a:r>
            <a:r>
              <a:rPr lang="pt-PT" dirty="0" err="1"/>
              <a:t>trends</a:t>
            </a:r>
            <a:r>
              <a:rPr lang="pt-PT" dirty="0"/>
              <a:t> </a:t>
            </a:r>
            <a:r>
              <a:rPr lang="pt-PT" dirty="0" err="1"/>
              <a:t>over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months</a:t>
            </a:r>
            <a:r>
              <a:rPr lang="pt-PT" dirty="0"/>
              <a:t>, </a:t>
            </a:r>
            <a:r>
              <a:rPr lang="pt-PT" dirty="0" err="1"/>
              <a:t>while</a:t>
            </a:r>
            <a:r>
              <a:rPr lang="pt-PT" dirty="0"/>
              <a:t> </a:t>
            </a:r>
            <a:r>
              <a:rPr lang="pt-PT" dirty="0" err="1"/>
              <a:t>adding</a:t>
            </a:r>
            <a:r>
              <a:rPr lang="pt-PT" dirty="0"/>
              <a:t> data </a:t>
            </a:r>
            <a:r>
              <a:rPr lang="pt-PT" dirty="0" err="1"/>
              <a:t>labels</a:t>
            </a:r>
            <a:r>
              <a:rPr lang="pt-PT" dirty="0"/>
              <a:t> to </a:t>
            </a:r>
            <a:r>
              <a:rPr lang="pt-PT" dirty="0" err="1"/>
              <a:t>facilitate</a:t>
            </a:r>
            <a:r>
              <a:rPr lang="pt-PT" dirty="0"/>
              <a:t> </a:t>
            </a:r>
            <a:r>
              <a:rPr lang="pt-PT" dirty="0" err="1"/>
              <a:t>reading</a:t>
            </a:r>
            <a:r>
              <a:rPr lang="pt-PT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717ECA-ACCB-4412-926E-B134BE77B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119" y="2421006"/>
            <a:ext cx="4636478" cy="406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935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D75DB-E263-446B-A1A8-28BA3C6D2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Design </a:t>
            </a:r>
            <a:r>
              <a:rPr lang="pt-PT" dirty="0" err="1"/>
              <a:t>Choices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62D2-62BA-4E77-B191-892F24B49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608257"/>
            <a:ext cx="4937760" cy="3694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dirty="0" err="1"/>
              <a:t>Opted</a:t>
            </a:r>
            <a:r>
              <a:rPr lang="pt-PT" dirty="0"/>
              <a:t> for a </a:t>
            </a:r>
            <a:r>
              <a:rPr lang="pt-PT" dirty="0" err="1"/>
              <a:t>treemap</a:t>
            </a:r>
            <a:r>
              <a:rPr lang="pt-PT" dirty="0"/>
              <a:t> </a:t>
            </a:r>
            <a:r>
              <a:rPr lang="pt-PT" dirty="0" err="1"/>
              <a:t>instead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a bar </a:t>
            </a:r>
            <a:r>
              <a:rPr lang="pt-PT" dirty="0" err="1"/>
              <a:t>chart</a:t>
            </a:r>
            <a:r>
              <a:rPr lang="pt-PT" dirty="0"/>
              <a:t> </a:t>
            </a:r>
            <a:r>
              <a:rPr lang="pt-PT" dirty="0" err="1"/>
              <a:t>or</a:t>
            </a:r>
            <a:r>
              <a:rPr lang="pt-PT" dirty="0"/>
              <a:t> a </a:t>
            </a:r>
            <a:r>
              <a:rPr lang="pt-PT" dirty="0" err="1"/>
              <a:t>map</a:t>
            </a:r>
            <a:r>
              <a:rPr lang="pt-PT" dirty="0"/>
              <a:t> to display </a:t>
            </a:r>
            <a:r>
              <a:rPr lang="pt-PT" dirty="0" err="1"/>
              <a:t>this</a:t>
            </a:r>
            <a:r>
              <a:rPr lang="pt-PT" dirty="0"/>
              <a:t> </a:t>
            </a:r>
            <a:r>
              <a:rPr lang="pt-PT" dirty="0" err="1"/>
              <a:t>information</a:t>
            </a:r>
            <a:r>
              <a:rPr lang="pt-PT" dirty="0"/>
              <a:t>, as </a:t>
            </a:r>
            <a:r>
              <a:rPr lang="pt-PT" dirty="0" err="1"/>
              <a:t>we</a:t>
            </a:r>
            <a:r>
              <a:rPr lang="pt-PT" dirty="0"/>
              <a:t> can </a:t>
            </a:r>
            <a:r>
              <a:rPr lang="pt-PT" dirty="0" err="1"/>
              <a:t>very</a:t>
            </a:r>
            <a:r>
              <a:rPr lang="pt-PT" dirty="0"/>
              <a:t> </a:t>
            </a:r>
            <a:r>
              <a:rPr lang="pt-PT" dirty="0" err="1"/>
              <a:t>easily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quickly</a:t>
            </a:r>
            <a:r>
              <a:rPr lang="pt-PT" dirty="0"/>
              <a:t> </a:t>
            </a:r>
            <a:r>
              <a:rPr lang="pt-PT" dirty="0" err="1"/>
              <a:t>identify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most</a:t>
            </a:r>
            <a:r>
              <a:rPr lang="pt-PT" dirty="0"/>
              <a:t> </a:t>
            </a:r>
            <a:r>
              <a:rPr lang="pt-PT" dirty="0" err="1"/>
              <a:t>or</a:t>
            </a:r>
            <a:r>
              <a:rPr lang="pt-PT" dirty="0"/>
              <a:t> </a:t>
            </a:r>
            <a:r>
              <a:rPr lang="pt-PT" dirty="0" err="1"/>
              <a:t>less</a:t>
            </a:r>
            <a:r>
              <a:rPr lang="pt-PT" dirty="0"/>
              <a:t> </a:t>
            </a:r>
            <a:r>
              <a:rPr lang="pt-PT" dirty="0" err="1"/>
              <a:t>contributing</a:t>
            </a:r>
            <a:r>
              <a:rPr lang="pt-PT" dirty="0"/>
              <a:t> </a:t>
            </a:r>
            <a:r>
              <a:rPr lang="pt-PT" dirty="0" err="1"/>
              <a:t>states</a:t>
            </a:r>
            <a:r>
              <a:rPr lang="pt-PT" dirty="0"/>
              <a:t> </a:t>
            </a:r>
            <a:r>
              <a:rPr lang="pt-PT" dirty="0" err="1"/>
              <a:t>at</a:t>
            </a:r>
            <a:r>
              <a:rPr lang="pt-PT" dirty="0"/>
              <a:t> a </a:t>
            </a:r>
            <a:r>
              <a:rPr lang="pt-PT" dirty="0" err="1"/>
              <a:t>glance</a:t>
            </a:r>
            <a:r>
              <a:rPr lang="pt-PT" dirty="0"/>
              <a:t>, </a:t>
            </a:r>
            <a:r>
              <a:rPr lang="pt-PT" dirty="0" err="1"/>
              <a:t>with</a:t>
            </a:r>
            <a:r>
              <a:rPr lang="pt-PT" dirty="0"/>
              <a:t> no </a:t>
            </a:r>
            <a:r>
              <a:rPr lang="pt-PT" dirty="0" err="1"/>
              <a:t>chart</a:t>
            </a:r>
            <a:r>
              <a:rPr lang="pt-PT" dirty="0"/>
              <a:t> </a:t>
            </a:r>
            <a:r>
              <a:rPr lang="pt-PT" dirty="0" err="1"/>
              <a:t>junk</a:t>
            </a:r>
            <a:r>
              <a:rPr lang="pt-PT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8FBEC6-77EB-4FE9-8530-E34F8E2D1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8674" y="2724550"/>
            <a:ext cx="5814035" cy="311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49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D75DB-E263-446B-A1A8-28BA3C6D2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Design </a:t>
            </a:r>
            <a:r>
              <a:rPr lang="pt-PT" dirty="0" err="1"/>
              <a:t>Choices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62D2-62BA-4E77-B191-892F24B49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608257"/>
            <a:ext cx="4937760" cy="3694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dirty="0" err="1"/>
              <a:t>Used</a:t>
            </a:r>
            <a:r>
              <a:rPr lang="pt-PT" dirty="0"/>
              <a:t> a </a:t>
            </a:r>
            <a:r>
              <a:rPr lang="pt-PT" dirty="0" err="1"/>
              <a:t>scatter</a:t>
            </a:r>
            <a:r>
              <a:rPr lang="pt-PT" dirty="0"/>
              <a:t> </a:t>
            </a:r>
            <a:r>
              <a:rPr lang="pt-PT" dirty="0" err="1"/>
              <a:t>plot</a:t>
            </a:r>
            <a:r>
              <a:rPr lang="pt-PT" dirty="0"/>
              <a:t> to </a:t>
            </a:r>
            <a:r>
              <a:rPr lang="pt-PT" dirty="0" err="1"/>
              <a:t>plot</a:t>
            </a:r>
            <a:r>
              <a:rPr lang="pt-PT" dirty="0"/>
              <a:t> </a:t>
            </a:r>
            <a:r>
              <a:rPr lang="pt-PT" dirty="0" err="1"/>
              <a:t>Average</a:t>
            </a:r>
            <a:r>
              <a:rPr lang="pt-PT" dirty="0"/>
              <a:t> Arrival </a:t>
            </a:r>
            <a:r>
              <a:rPr lang="pt-PT" dirty="0" err="1"/>
              <a:t>Delay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</a:t>
            </a:r>
            <a:r>
              <a:rPr lang="pt-PT" dirty="0" err="1"/>
              <a:t>Cancel</a:t>
            </a:r>
            <a:r>
              <a:rPr lang="pt-PT" dirty="0"/>
              <a:t> Ratio </a:t>
            </a:r>
            <a:r>
              <a:rPr lang="pt-PT" dirty="0" err="1"/>
              <a:t>based</a:t>
            </a:r>
            <a:r>
              <a:rPr lang="pt-PT" dirty="0"/>
              <a:t> </a:t>
            </a:r>
            <a:r>
              <a:rPr lang="pt-PT" dirty="0" err="1"/>
              <a:t>on</a:t>
            </a:r>
            <a:r>
              <a:rPr lang="pt-PT" dirty="0"/>
              <a:t> </a:t>
            </a:r>
            <a:r>
              <a:rPr lang="pt-PT" dirty="0" err="1"/>
              <a:t>Airports</a:t>
            </a:r>
            <a:r>
              <a:rPr lang="pt-PT" dirty="0"/>
              <a:t>.</a:t>
            </a:r>
          </a:p>
          <a:p>
            <a:pPr marL="0" indent="0">
              <a:buNone/>
            </a:pPr>
            <a:r>
              <a:rPr lang="pt-PT" dirty="0" err="1"/>
              <a:t>Used</a:t>
            </a:r>
            <a:r>
              <a:rPr lang="pt-PT" dirty="0"/>
              <a:t> a </a:t>
            </a:r>
            <a:r>
              <a:rPr lang="pt-PT" dirty="0" err="1"/>
              <a:t>Blue</a:t>
            </a:r>
            <a:r>
              <a:rPr lang="pt-PT" dirty="0"/>
              <a:t> color for positive </a:t>
            </a:r>
            <a:r>
              <a:rPr lang="pt-PT" dirty="0" err="1"/>
              <a:t>values</a:t>
            </a:r>
            <a:r>
              <a:rPr lang="pt-PT" dirty="0"/>
              <a:t> </a:t>
            </a:r>
            <a:r>
              <a:rPr lang="pt-PT" dirty="0" err="1"/>
              <a:t>and</a:t>
            </a:r>
            <a:r>
              <a:rPr lang="pt-PT" dirty="0"/>
              <a:t> Orange for negative </a:t>
            </a:r>
            <a:r>
              <a:rPr lang="pt-PT" dirty="0" err="1"/>
              <a:t>values</a:t>
            </a:r>
            <a:r>
              <a:rPr lang="pt-PT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0A46C1-0B45-4699-9170-3517EE8DD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806" y="2464329"/>
            <a:ext cx="4222626" cy="402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129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D75DB-E263-446B-A1A8-28BA3C6D2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Design </a:t>
            </a:r>
            <a:r>
              <a:rPr lang="pt-PT" dirty="0" err="1"/>
              <a:t>Choices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62D2-62BA-4E77-B191-892F24B49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608257"/>
            <a:ext cx="4937760" cy="369417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PT" dirty="0" err="1"/>
              <a:t>The</a:t>
            </a:r>
            <a:r>
              <a:rPr lang="pt-PT" dirty="0"/>
              <a:t> bar </a:t>
            </a:r>
            <a:r>
              <a:rPr lang="pt-PT" dirty="0" err="1"/>
              <a:t>chart</a:t>
            </a:r>
            <a:r>
              <a:rPr lang="pt-PT" dirty="0"/>
              <a:t> can display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information</a:t>
            </a:r>
            <a:r>
              <a:rPr lang="pt-PT" dirty="0"/>
              <a:t> in a </a:t>
            </a:r>
            <a:r>
              <a:rPr lang="pt-PT" dirty="0" err="1"/>
              <a:t>very</a:t>
            </a:r>
            <a:r>
              <a:rPr lang="pt-PT" dirty="0"/>
              <a:t> visual </a:t>
            </a:r>
            <a:r>
              <a:rPr lang="pt-PT" dirty="0" err="1"/>
              <a:t>way</a:t>
            </a:r>
            <a:r>
              <a:rPr lang="pt-PT" dirty="0"/>
              <a:t> </a:t>
            </a:r>
            <a:r>
              <a:rPr lang="pt-PT" dirty="0" err="1"/>
              <a:t>that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helpful</a:t>
            </a:r>
            <a:r>
              <a:rPr lang="pt-PT" dirty="0"/>
              <a:t> for </a:t>
            </a:r>
            <a:r>
              <a:rPr lang="pt-PT" dirty="0" err="1"/>
              <a:t>making</a:t>
            </a:r>
            <a:r>
              <a:rPr lang="pt-PT" dirty="0"/>
              <a:t> </a:t>
            </a:r>
            <a:r>
              <a:rPr lang="pt-PT" dirty="0" err="1"/>
              <a:t>comparisons</a:t>
            </a:r>
            <a:r>
              <a:rPr lang="pt-PT" dirty="0"/>
              <a:t>. Data </a:t>
            </a:r>
            <a:r>
              <a:rPr lang="pt-PT" dirty="0" err="1"/>
              <a:t>labels</a:t>
            </a:r>
            <a:r>
              <a:rPr lang="pt-PT" dirty="0"/>
              <a:t> </a:t>
            </a:r>
            <a:r>
              <a:rPr lang="pt-PT" dirty="0" err="1"/>
              <a:t>were</a:t>
            </a:r>
            <a:r>
              <a:rPr lang="pt-PT" dirty="0"/>
              <a:t> </a:t>
            </a:r>
            <a:r>
              <a:rPr lang="pt-PT" dirty="0" err="1"/>
              <a:t>added</a:t>
            </a:r>
            <a:r>
              <a:rPr lang="pt-PT" dirty="0"/>
              <a:t> to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visualization</a:t>
            </a:r>
            <a:r>
              <a:rPr lang="pt-PT" dirty="0"/>
              <a:t> to more </a:t>
            </a:r>
            <a:r>
              <a:rPr lang="pt-PT" dirty="0" err="1"/>
              <a:t>easily</a:t>
            </a:r>
            <a:r>
              <a:rPr lang="pt-PT" dirty="0"/>
              <a:t> compare.</a:t>
            </a:r>
          </a:p>
          <a:p>
            <a:pPr marL="0" indent="0">
              <a:buNone/>
            </a:pPr>
            <a:r>
              <a:rPr lang="pt-PT" dirty="0" err="1"/>
              <a:t>By</a:t>
            </a:r>
            <a:r>
              <a:rPr lang="pt-PT" dirty="0"/>
              <a:t> </a:t>
            </a:r>
            <a:r>
              <a:rPr lang="pt-PT" dirty="0" err="1"/>
              <a:t>using</a:t>
            </a:r>
            <a:r>
              <a:rPr lang="pt-PT" dirty="0"/>
              <a:t> a </a:t>
            </a:r>
            <a:r>
              <a:rPr lang="pt-PT" dirty="0" err="1"/>
              <a:t>hierarchy</a:t>
            </a:r>
            <a:r>
              <a:rPr lang="pt-PT" dirty="0"/>
              <a:t>,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user</a:t>
            </a:r>
            <a:r>
              <a:rPr lang="pt-PT" dirty="0"/>
              <a:t> </a:t>
            </a:r>
            <a:r>
              <a:rPr lang="pt-PT" dirty="0" err="1"/>
              <a:t>is</a:t>
            </a:r>
            <a:r>
              <a:rPr lang="pt-PT" dirty="0"/>
              <a:t> </a:t>
            </a:r>
            <a:r>
              <a:rPr lang="pt-PT" dirty="0" err="1"/>
              <a:t>able</a:t>
            </a:r>
            <a:r>
              <a:rPr lang="pt-PT" dirty="0"/>
              <a:t> to </a:t>
            </a:r>
            <a:r>
              <a:rPr lang="pt-PT" dirty="0" err="1"/>
              <a:t>toggle</a:t>
            </a:r>
            <a:r>
              <a:rPr lang="pt-PT" dirty="0"/>
              <a:t> to </a:t>
            </a:r>
            <a:r>
              <a:rPr lang="pt-PT" dirty="0" err="1"/>
              <a:t>airline</a:t>
            </a:r>
            <a:r>
              <a:rPr lang="pt-PT" dirty="0"/>
              <a:t> to </a:t>
            </a:r>
            <a:r>
              <a:rPr lang="pt-PT" dirty="0" err="1"/>
              <a:t>give</a:t>
            </a:r>
            <a:r>
              <a:rPr lang="pt-PT" dirty="0"/>
              <a:t> more </a:t>
            </a:r>
            <a:r>
              <a:rPr lang="pt-PT" dirty="0" err="1"/>
              <a:t>information</a:t>
            </a:r>
            <a:r>
              <a:rPr lang="pt-PT" dirty="0"/>
              <a:t> for a particular </a:t>
            </a:r>
            <a:r>
              <a:rPr lang="pt-PT" dirty="0" err="1"/>
              <a:t>airport</a:t>
            </a:r>
            <a:r>
              <a:rPr lang="pt-PT" dirty="0"/>
              <a:t>.</a:t>
            </a:r>
          </a:p>
          <a:p>
            <a:pPr marL="0" indent="0">
              <a:buNone/>
            </a:pPr>
            <a:endParaRPr lang="pt-PT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F5E352-50AC-4953-8823-F6707366C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629" y="2268415"/>
            <a:ext cx="4599000" cy="439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891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D75DB-E263-446B-A1A8-28BA3C6D2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Design </a:t>
            </a:r>
            <a:r>
              <a:rPr lang="pt-PT" dirty="0" err="1"/>
              <a:t>Choices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62D2-62BA-4E77-B191-892F24B49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608257"/>
            <a:ext cx="4937760" cy="36941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PT" dirty="0" err="1"/>
              <a:t>On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dashboard</a:t>
            </a:r>
            <a:r>
              <a:rPr lang="pt-PT" dirty="0"/>
              <a:t>, </a:t>
            </a:r>
            <a:r>
              <a:rPr lang="pt-PT" dirty="0" err="1"/>
              <a:t>by</a:t>
            </a:r>
            <a:r>
              <a:rPr lang="pt-PT" dirty="0"/>
              <a:t> </a:t>
            </a:r>
            <a:r>
              <a:rPr lang="pt-PT" dirty="0" err="1"/>
              <a:t>clicking</a:t>
            </a:r>
            <a:r>
              <a:rPr lang="pt-PT" dirty="0"/>
              <a:t> </a:t>
            </a:r>
            <a:r>
              <a:rPr lang="pt-PT" dirty="0" err="1"/>
              <a:t>any</a:t>
            </a:r>
            <a:r>
              <a:rPr lang="pt-PT" dirty="0"/>
              <a:t>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charts</a:t>
            </a:r>
            <a:r>
              <a:rPr lang="pt-PT" dirty="0"/>
              <a:t>, </a:t>
            </a:r>
            <a:r>
              <a:rPr lang="pt-PT" dirty="0" err="1"/>
              <a:t>it</a:t>
            </a:r>
            <a:r>
              <a:rPr lang="pt-PT" dirty="0"/>
              <a:t> </a:t>
            </a:r>
            <a:r>
              <a:rPr lang="pt-PT" dirty="0" err="1"/>
              <a:t>interacts</a:t>
            </a:r>
            <a:r>
              <a:rPr lang="pt-PT" dirty="0"/>
              <a:t> </a:t>
            </a:r>
            <a:r>
              <a:rPr lang="pt-PT" dirty="0" err="1"/>
              <a:t>with</a:t>
            </a:r>
            <a:r>
              <a:rPr lang="pt-PT" dirty="0"/>
              <a:t> </a:t>
            </a:r>
            <a:r>
              <a:rPr lang="pt-PT" dirty="0" err="1"/>
              <a:t>others</a:t>
            </a:r>
            <a:r>
              <a:rPr lang="pt-PT" dirty="0"/>
              <a:t>.</a:t>
            </a:r>
          </a:p>
          <a:p>
            <a:pPr marL="0" indent="0">
              <a:buNone/>
            </a:pPr>
            <a:r>
              <a:rPr lang="pt-PT" dirty="0" err="1"/>
              <a:t>Despite</a:t>
            </a:r>
            <a:r>
              <a:rPr lang="pt-PT" dirty="0"/>
              <a:t> </a:t>
            </a:r>
            <a:r>
              <a:rPr lang="pt-PT" dirty="0" err="1"/>
              <a:t>that</a:t>
            </a:r>
            <a:r>
              <a:rPr lang="pt-PT" dirty="0"/>
              <a:t>, I </a:t>
            </a:r>
            <a:r>
              <a:rPr lang="pt-PT" dirty="0" err="1"/>
              <a:t>decided</a:t>
            </a:r>
            <a:r>
              <a:rPr lang="pt-PT" dirty="0"/>
              <a:t> to </a:t>
            </a:r>
            <a:r>
              <a:rPr lang="pt-PT" dirty="0" err="1"/>
              <a:t>include</a:t>
            </a:r>
            <a:r>
              <a:rPr lang="pt-PT" dirty="0"/>
              <a:t> </a:t>
            </a:r>
            <a:r>
              <a:rPr lang="pt-PT" dirty="0" err="1"/>
              <a:t>filter</a:t>
            </a:r>
            <a:r>
              <a:rPr lang="pt-PT" dirty="0"/>
              <a:t> as </a:t>
            </a:r>
            <a:r>
              <a:rPr lang="pt-PT" dirty="0" err="1"/>
              <a:t>they</a:t>
            </a:r>
            <a:r>
              <a:rPr lang="pt-PT" dirty="0"/>
              <a:t> </a:t>
            </a:r>
            <a:r>
              <a:rPr lang="pt-PT" dirty="0" err="1"/>
              <a:t>might</a:t>
            </a:r>
            <a:r>
              <a:rPr lang="pt-PT" dirty="0"/>
              <a:t> </a:t>
            </a:r>
            <a:r>
              <a:rPr lang="pt-PT" dirty="0" err="1"/>
              <a:t>be</a:t>
            </a:r>
            <a:r>
              <a:rPr lang="pt-PT" dirty="0"/>
              <a:t> more </a:t>
            </a:r>
            <a:r>
              <a:rPr lang="pt-PT" dirty="0" err="1"/>
              <a:t>intuitive</a:t>
            </a:r>
            <a:r>
              <a:rPr lang="pt-PT" dirty="0"/>
              <a:t> for some </a:t>
            </a:r>
            <a:r>
              <a:rPr lang="pt-PT" dirty="0" err="1"/>
              <a:t>of</a:t>
            </a:r>
            <a:r>
              <a:rPr lang="pt-PT" dirty="0"/>
              <a:t> </a:t>
            </a:r>
            <a:r>
              <a:rPr lang="pt-PT" dirty="0" err="1"/>
              <a:t>the</a:t>
            </a:r>
            <a:r>
              <a:rPr lang="pt-PT" dirty="0"/>
              <a:t> </a:t>
            </a:r>
            <a:r>
              <a:rPr lang="pt-PT" dirty="0" err="1"/>
              <a:t>users</a:t>
            </a:r>
            <a:r>
              <a:rPr lang="pt-PT" dirty="0"/>
              <a:t> </a:t>
            </a:r>
            <a:r>
              <a:rPr lang="pt-PT" dirty="0" err="1"/>
              <a:t>who</a:t>
            </a:r>
            <a:r>
              <a:rPr lang="pt-PT" dirty="0"/>
              <a:t> are </a:t>
            </a:r>
            <a:r>
              <a:rPr lang="pt-PT" dirty="0" err="1"/>
              <a:t>not</a:t>
            </a:r>
            <a:r>
              <a:rPr lang="pt-PT" dirty="0"/>
              <a:t> </a:t>
            </a:r>
            <a:r>
              <a:rPr lang="pt-PT" dirty="0" err="1"/>
              <a:t>used</a:t>
            </a:r>
            <a:r>
              <a:rPr lang="pt-PT" dirty="0"/>
              <a:t> to </a:t>
            </a:r>
            <a:r>
              <a:rPr lang="pt-PT" dirty="0" err="1"/>
              <a:t>it</a:t>
            </a:r>
            <a:r>
              <a:rPr lang="pt-PT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E06CBF-D2C8-4ED7-8DBF-4E5CC70D8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910" y="2402237"/>
            <a:ext cx="4889871" cy="3900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573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4805B-75C3-46E0-932E-91F53FAF1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Sources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63095-CDD1-417B-A10D-0ECE90983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hlinkClick r:id="rId2"/>
              </a:rPr>
              <a:t>https://community.tableau.com/thread/204537</a:t>
            </a:r>
            <a:r>
              <a:rPr lang="en-US" dirty="0"/>
              <a:t> - Create date field column</a:t>
            </a:r>
          </a:p>
          <a:p>
            <a:r>
              <a:rPr lang="en-US" u="sng" dirty="0">
                <a:hlinkClick r:id="rId3"/>
              </a:rPr>
              <a:t>https://community.tableau.com/thread/147188</a:t>
            </a:r>
            <a:r>
              <a:rPr lang="en-US" dirty="0"/>
              <a:t> - Change measures number formats</a:t>
            </a:r>
          </a:p>
          <a:p>
            <a:r>
              <a:rPr lang="en-US" u="sng" dirty="0">
                <a:hlinkClick r:id="rId4"/>
              </a:rPr>
              <a:t>https://help.tableau.com/current/pro/desktop/en-us/joining_tables.htm</a:t>
            </a:r>
            <a:r>
              <a:rPr lang="en-US" dirty="0"/>
              <a:t> - Joins</a:t>
            </a:r>
          </a:p>
        </p:txBody>
      </p:sp>
    </p:spTree>
    <p:extLst>
      <p:ext uri="{BB962C8B-B14F-4D97-AF65-F5344CB8AC3E}">
        <p14:creationId xmlns:p14="http://schemas.microsoft.com/office/powerpoint/2010/main" val="392174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4805B-75C3-46E0-932E-91F53FAF1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Link to </a:t>
            </a:r>
            <a:r>
              <a:rPr lang="pt-PT" dirty="0" err="1"/>
              <a:t>Story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63095-CDD1-417B-A10D-0ECE90983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https://public.tableau.com/profile/gustavo.pacheco#!/vizhome/DataVizProjectDAFFinal/MyStory?publish=yes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33574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LightSeedLeftStep">
      <a:dk1>
        <a:srgbClr val="000000"/>
      </a:dk1>
      <a:lt1>
        <a:srgbClr val="FFFFFF"/>
      </a:lt1>
      <a:dk2>
        <a:srgbClr val="242F41"/>
      </a:dk2>
      <a:lt2>
        <a:srgbClr val="E2E7E8"/>
      </a:lt2>
      <a:accent1>
        <a:srgbClr val="DB8F77"/>
      </a:accent1>
      <a:accent2>
        <a:srgbClr val="D66376"/>
      </a:accent2>
      <a:accent3>
        <a:srgbClr val="DD7FB7"/>
      </a:accent3>
      <a:accent4>
        <a:srgbClr val="D563D6"/>
      </a:accent4>
      <a:accent5>
        <a:srgbClr val="B67FDD"/>
      </a:accent5>
      <a:accent6>
        <a:srgbClr val="7563D6"/>
      </a:accent6>
      <a:hlink>
        <a:srgbClr val="5D8A99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650</Words>
  <Application>Microsoft Office PowerPoint</Application>
  <PresentationFormat>Widescreen</PresentationFormat>
  <Paragraphs>41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Avenir Next LT Pro</vt:lpstr>
      <vt:lpstr>Calibri</vt:lpstr>
      <vt:lpstr>AccentBoxVTI</vt:lpstr>
      <vt:lpstr>Project 4</vt:lpstr>
      <vt:lpstr>Summary</vt:lpstr>
      <vt:lpstr>Notes</vt:lpstr>
      <vt:lpstr>Research questions</vt:lpstr>
      <vt:lpstr>Insights</vt:lpstr>
      <vt:lpstr>Cancelation ratios were significantly higher in February than the rest of the months. It hits its lowest point on September.</vt:lpstr>
      <vt:lpstr>Vermont was the single most contributing state to cancelation ratio (4.47%).  In February (the highest point), New Hampshire was the biggest contributor (23.53%).  Over the year of 2015, Hawaii had the lowest ratio (0.30%).</vt:lpstr>
      <vt:lpstr>There can be identified a positive correlation between Cancelation Ratio and Average Arrival Detail, comparing airlines.</vt:lpstr>
      <vt:lpstr>We may see that Barnstable Municipal is the biggest contributor.  We can then filter by a count of canceled flights (to exclude flights airports with low counts), where we can find different airports that are more significant.</vt:lpstr>
      <vt:lpstr>Design Choices</vt:lpstr>
      <vt:lpstr>Design Choices</vt:lpstr>
      <vt:lpstr>Design Choices</vt:lpstr>
      <vt:lpstr>Design Choices</vt:lpstr>
      <vt:lpstr>Design Choices</vt:lpstr>
      <vt:lpstr>Sources</vt:lpstr>
      <vt:lpstr>Link to Story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2</dc:title>
  <dc:creator>Gustavo Pacheco</dc:creator>
  <cp:lastModifiedBy>Gustavo Pacheco</cp:lastModifiedBy>
  <cp:revision>42</cp:revision>
  <dcterms:created xsi:type="dcterms:W3CDTF">2020-04-25T21:00:32Z</dcterms:created>
  <dcterms:modified xsi:type="dcterms:W3CDTF">2020-04-27T08:46:53Z</dcterms:modified>
</cp:coreProperties>
</file>