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Open Sans Light" panose="020B0306030504020204" pitchFamily="34" charset="0"/>
      <p:regular r:id="rId15"/>
      <p:bold r:id="rId16"/>
      <p:italic r:id="rId17"/>
      <p:boldItalic r:id="rId18"/>
    </p:embeddedFont>
    <p:embeddedFont>
      <p:font typeface="Roboto Thin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f1f0843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f1f0843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f1f0843d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f1f0843d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f1f0843d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f1f0843d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f1f0843d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f1f0843d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f1f0843d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f1f0843d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f1f0843d9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f1f0843d9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f1f0843d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f1f0843d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f1f0843d9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f1f0843d9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f1f0843d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f1f0843d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f1f0843d9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f1f0843d9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f1f0843d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f1f0843d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2B3E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Thin"/>
              <a:buNone/>
              <a:defRPr sz="2800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Light"/>
              <a:buChar char="●"/>
              <a:defRPr sz="18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●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●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Light"/>
              <a:buChar char="○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 Light"/>
              <a:buChar char="■"/>
              <a:defRPr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ptopmag.com/articles/excel-2013-pivot-table-from-multipl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B3E4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Udacity 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Marketing Analytics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1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Nanodegree Program</a:t>
            </a:r>
            <a:endParaRPr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Project: </a:t>
            </a:r>
            <a:r>
              <a:rPr lang="en">
                <a:solidFill>
                  <a:schemeClr val="lt1"/>
                </a:solidFill>
              </a:rPr>
              <a:t>Craft a Report </a:t>
            </a:r>
            <a:endParaRPr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02B3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Results </a:t>
            </a:r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1654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objective</a:t>
            </a:r>
            <a:r>
              <a:rPr lang="pt-PT" sz="1600" dirty="0"/>
              <a:t> </a:t>
            </a:r>
            <a:r>
              <a:rPr lang="pt-PT" sz="1600" dirty="0" err="1"/>
              <a:t>of</a:t>
            </a:r>
            <a:r>
              <a:rPr lang="pt-PT" sz="1600" dirty="0"/>
              <a:t> </a:t>
            </a:r>
            <a:r>
              <a:rPr lang="pt-PT" sz="1600" dirty="0" err="1"/>
              <a:t>increasing</a:t>
            </a:r>
            <a:r>
              <a:rPr lang="pt-PT" sz="1600" dirty="0"/>
              <a:t> sales </a:t>
            </a:r>
            <a:r>
              <a:rPr lang="pt-PT" sz="1600" dirty="0" err="1"/>
              <a:t>by</a:t>
            </a:r>
            <a:r>
              <a:rPr lang="pt-PT" sz="1600" dirty="0"/>
              <a:t> 30% </a:t>
            </a:r>
            <a:r>
              <a:rPr lang="pt-PT" sz="1600" dirty="0" err="1"/>
              <a:t>on</a:t>
            </a:r>
            <a:r>
              <a:rPr lang="pt-PT" sz="1600" dirty="0"/>
              <a:t> </a:t>
            </a:r>
            <a:r>
              <a:rPr lang="pt-PT" sz="1600" dirty="0" err="1"/>
              <a:t>Black</a:t>
            </a:r>
            <a:r>
              <a:rPr lang="pt-PT" sz="1600" dirty="0"/>
              <a:t> </a:t>
            </a:r>
            <a:r>
              <a:rPr lang="pt-PT" sz="1600" dirty="0" err="1"/>
              <a:t>Friday</a:t>
            </a:r>
            <a:r>
              <a:rPr lang="pt-PT" sz="1600" dirty="0"/>
              <a:t> 2018 </a:t>
            </a:r>
            <a:r>
              <a:rPr lang="pt-PT" sz="1600" dirty="0" err="1"/>
              <a:t>against</a:t>
            </a:r>
            <a:r>
              <a:rPr lang="pt-PT" sz="1600" dirty="0"/>
              <a:t> 2017 </a:t>
            </a:r>
            <a:r>
              <a:rPr lang="pt-PT" sz="1600" dirty="0" err="1"/>
              <a:t>was</a:t>
            </a:r>
            <a:r>
              <a:rPr lang="pt-PT" sz="1600" dirty="0"/>
              <a:t> </a:t>
            </a:r>
            <a:r>
              <a:rPr lang="pt-PT" sz="1600" dirty="0" err="1"/>
              <a:t>met</a:t>
            </a:r>
            <a:r>
              <a:rPr lang="pt-PT" sz="1600" dirty="0"/>
              <a:t>, </a:t>
            </a:r>
            <a:r>
              <a:rPr lang="pt-PT" sz="1600" dirty="0" err="1"/>
              <a:t>since</a:t>
            </a:r>
            <a:r>
              <a:rPr lang="pt-PT" sz="1600" dirty="0"/>
              <a:t> </a:t>
            </a:r>
            <a:r>
              <a:rPr lang="pt-PT" sz="1600" dirty="0" err="1"/>
              <a:t>it</a:t>
            </a:r>
            <a:r>
              <a:rPr lang="pt-PT" sz="1600" dirty="0"/>
              <a:t> </a:t>
            </a:r>
            <a:r>
              <a:rPr lang="pt-PT" sz="1600" dirty="0" err="1"/>
              <a:t>attained</a:t>
            </a:r>
            <a:r>
              <a:rPr lang="pt-PT" sz="1600" dirty="0"/>
              <a:t> na </a:t>
            </a:r>
            <a:r>
              <a:rPr lang="pt-PT" sz="1600" dirty="0" err="1"/>
              <a:t>increase</a:t>
            </a:r>
            <a:r>
              <a:rPr lang="pt-PT" sz="1600" dirty="0"/>
              <a:t> </a:t>
            </a:r>
            <a:r>
              <a:rPr lang="pt-PT" sz="1600" dirty="0" err="1"/>
              <a:t>of</a:t>
            </a:r>
            <a:r>
              <a:rPr lang="pt-PT" sz="1600" dirty="0"/>
              <a:t> 31%.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objective</a:t>
            </a:r>
            <a:r>
              <a:rPr lang="pt-PT" sz="1600" dirty="0"/>
              <a:t> </a:t>
            </a:r>
            <a:r>
              <a:rPr lang="pt-PT" sz="1600" dirty="0" err="1"/>
              <a:t>of</a:t>
            </a:r>
            <a:r>
              <a:rPr lang="pt-PT" sz="1600" dirty="0"/>
              <a:t> </a:t>
            </a:r>
            <a:r>
              <a:rPr lang="pt-PT" sz="1600" dirty="0" err="1"/>
              <a:t>decreasing</a:t>
            </a:r>
            <a:r>
              <a:rPr lang="pt-PT" sz="1600" dirty="0"/>
              <a:t> ad </a:t>
            </a:r>
            <a:r>
              <a:rPr lang="pt-PT" sz="1600" dirty="0" err="1"/>
              <a:t>spend</a:t>
            </a:r>
            <a:r>
              <a:rPr lang="pt-PT" sz="1600" dirty="0"/>
              <a:t> </a:t>
            </a:r>
            <a:r>
              <a:rPr lang="pt-PT" sz="1600" dirty="0" err="1"/>
              <a:t>by</a:t>
            </a:r>
            <a:r>
              <a:rPr lang="pt-PT" sz="1600" dirty="0"/>
              <a:t> 30% </a:t>
            </a:r>
            <a:r>
              <a:rPr lang="pt-PT" sz="1600" dirty="0" err="1"/>
              <a:t>from</a:t>
            </a:r>
            <a:r>
              <a:rPr lang="pt-PT" sz="1600" dirty="0"/>
              <a:t> </a:t>
            </a:r>
            <a:r>
              <a:rPr lang="pt-PT" sz="1600" dirty="0" err="1"/>
              <a:t>Black</a:t>
            </a:r>
            <a:r>
              <a:rPr lang="pt-PT" sz="1600" dirty="0"/>
              <a:t> </a:t>
            </a:r>
            <a:r>
              <a:rPr lang="pt-PT" sz="1600" dirty="0" err="1"/>
              <a:t>Friday</a:t>
            </a:r>
            <a:r>
              <a:rPr lang="pt-PT" sz="1600" dirty="0"/>
              <a:t> 2017 </a:t>
            </a:r>
            <a:r>
              <a:rPr lang="pt-PT" sz="1600" dirty="0" err="1"/>
              <a:t>against</a:t>
            </a:r>
            <a:r>
              <a:rPr lang="pt-PT" sz="1600" dirty="0"/>
              <a:t> 2017 </a:t>
            </a:r>
            <a:r>
              <a:rPr lang="pt-PT" sz="1600" dirty="0" err="1"/>
              <a:t>was</a:t>
            </a:r>
            <a:r>
              <a:rPr lang="pt-PT" sz="1600" dirty="0"/>
              <a:t> </a:t>
            </a:r>
            <a:r>
              <a:rPr lang="pt-PT" sz="1600" dirty="0" err="1"/>
              <a:t>not</a:t>
            </a:r>
            <a:r>
              <a:rPr lang="pt-PT" sz="1600" dirty="0"/>
              <a:t> </a:t>
            </a:r>
            <a:r>
              <a:rPr lang="pt-PT" sz="1600" dirty="0" err="1"/>
              <a:t>met</a:t>
            </a:r>
            <a:r>
              <a:rPr lang="pt-PT" sz="1600" dirty="0"/>
              <a:t>, as a </a:t>
            </a:r>
            <a:r>
              <a:rPr lang="pt-PT" sz="1600" dirty="0" err="1"/>
              <a:t>value</a:t>
            </a:r>
            <a:r>
              <a:rPr lang="pt-PT" sz="1600" dirty="0"/>
              <a:t> </a:t>
            </a:r>
            <a:r>
              <a:rPr lang="pt-PT" sz="1600" dirty="0" err="1"/>
              <a:t>of</a:t>
            </a:r>
            <a:r>
              <a:rPr lang="pt-PT" sz="1600" dirty="0"/>
              <a:t> 38% </a:t>
            </a:r>
            <a:r>
              <a:rPr lang="pt-PT" sz="1600" dirty="0" err="1"/>
              <a:t>increase</a:t>
            </a:r>
            <a:r>
              <a:rPr lang="pt-PT" sz="1600" dirty="0"/>
              <a:t> </a:t>
            </a:r>
            <a:r>
              <a:rPr lang="pt-PT" sz="1600" dirty="0" err="1"/>
              <a:t>was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reported</a:t>
            </a:r>
            <a:r>
              <a:rPr lang="pt-PT" sz="1600" dirty="0"/>
              <a:t> </a:t>
            </a:r>
            <a:r>
              <a:rPr lang="pt-PT" sz="1600" dirty="0" err="1"/>
              <a:t>value</a:t>
            </a:r>
            <a:r>
              <a:rPr lang="pt-PT" sz="16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growth</a:t>
            </a:r>
            <a:r>
              <a:rPr lang="pt-PT" sz="1600" dirty="0"/>
              <a:t> formulas are: Cost2018/Cost2017-1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dirty="0"/>
              <a:t>Revenue2018/Revenue2017-1</a:t>
            </a:r>
            <a:br>
              <a:rPr lang="en" dirty="0"/>
            </a:b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A3A62-5F0B-4A67-B500-9FAF41723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49" y="3201929"/>
            <a:ext cx="2333625" cy="83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B8F3B-A3A2-4E64-B3F8-992FDE7A2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298" y="1341625"/>
            <a:ext cx="3368769" cy="1907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FFAE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Audience</a:t>
            </a:r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02989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b="1" dirty="0"/>
              <a:t>Question</a:t>
            </a:r>
            <a:r>
              <a:rPr lang="pt-PT" dirty="0"/>
              <a:t>: </a:t>
            </a:r>
            <a:r>
              <a:rPr lang="pt-PT" dirty="0" err="1"/>
              <a:t>Which</a:t>
            </a:r>
            <a:r>
              <a:rPr lang="pt-PT" dirty="0"/>
              <a:t> </a:t>
            </a:r>
            <a:r>
              <a:rPr lang="pt-PT" dirty="0" err="1"/>
              <a:t>gender</a:t>
            </a:r>
            <a:r>
              <a:rPr lang="pt-PT" dirty="0"/>
              <a:t> </a:t>
            </a:r>
            <a:r>
              <a:rPr lang="pt-PT" dirty="0" err="1"/>
              <a:t>generated</a:t>
            </a:r>
            <a:r>
              <a:rPr lang="pt-PT" dirty="0"/>
              <a:t> </a:t>
            </a:r>
            <a:r>
              <a:rPr lang="pt-PT" dirty="0" err="1"/>
              <a:t>most</a:t>
            </a:r>
            <a:r>
              <a:rPr lang="pt-PT" dirty="0"/>
              <a:t> sales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cost</a:t>
            </a:r>
            <a:r>
              <a:rPr lang="pt-PT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male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gender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generated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76.25%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and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76.67%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of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dirty="0" err="1"/>
              <a:t>Cost</a:t>
            </a:r>
            <a:r>
              <a:rPr lang="pt-PT" dirty="0"/>
              <a:t> (1,101,636$)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Revenue</a:t>
            </a:r>
            <a:r>
              <a:rPr lang="pt-PT" dirty="0"/>
              <a:t> (2,826,991$), </a:t>
            </a:r>
            <a:r>
              <a:rPr lang="pt-PT" dirty="0" err="1"/>
              <a:t>respectively</a:t>
            </a:r>
            <a:r>
              <a:rPr lang="pt-PT" dirty="0"/>
              <a:t>, more </a:t>
            </a:r>
            <a:r>
              <a:rPr lang="pt-PT" dirty="0" err="1"/>
              <a:t>than</a:t>
            </a:r>
            <a:r>
              <a:rPr lang="pt-PT" dirty="0"/>
              <a:t> </a:t>
            </a:r>
            <a:r>
              <a:rPr lang="pt-PT" dirty="0" err="1"/>
              <a:t>women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both</a:t>
            </a:r>
            <a:r>
              <a:rPr lang="pt-PT" dirty="0"/>
              <a:t> </a:t>
            </a:r>
            <a:r>
              <a:rPr lang="pt-PT" dirty="0" err="1"/>
              <a:t>aspects</a:t>
            </a:r>
            <a:r>
              <a:rPr lang="pt-PT" dirty="0"/>
              <a:t>.</a:t>
            </a:r>
            <a:endParaRPr dirty="0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F7388-B922-42C3-88AF-DF02B445D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635" y="3424542"/>
            <a:ext cx="3518466" cy="7176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42B4FA-0F4D-4676-9A87-F1F176326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634" y="1152475"/>
            <a:ext cx="3451129" cy="20536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FFAE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Audience</a:t>
            </a:r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9627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600" b="1" dirty="0"/>
              <a:t>Question</a:t>
            </a:r>
            <a:r>
              <a:rPr lang="pt-PT" sz="1600" dirty="0"/>
              <a:t>: </a:t>
            </a:r>
            <a:r>
              <a:rPr lang="pt-PT" sz="1600" dirty="0" err="1"/>
              <a:t>Who</a:t>
            </a:r>
            <a:r>
              <a:rPr lang="pt-PT" sz="1600" dirty="0"/>
              <a:t> </a:t>
            </a:r>
            <a:r>
              <a:rPr lang="pt-PT" sz="1600" dirty="0" err="1"/>
              <a:t>spend</a:t>
            </a:r>
            <a:r>
              <a:rPr lang="pt-PT" sz="1600" dirty="0"/>
              <a:t> </a:t>
            </a:r>
            <a:r>
              <a:rPr lang="pt-PT" sz="1600" dirty="0" err="1"/>
              <a:t>and</a:t>
            </a:r>
            <a:r>
              <a:rPr lang="pt-PT" sz="1600" dirty="0"/>
              <a:t> </a:t>
            </a:r>
            <a:r>
              <a:rPr lang="pt-PT" sz="1600" dirty="0" err="1"/>
              <a:t>contributed</a:t>
            </a:r>
            <a:r>
              <a:rPr lang="pt-PT" sz="1600" dirty="0"/>
              <a:t> more to </a:t>
            </a:r>
            <a:r>
              <a:rPr lang="pt-PT" sz="1600" dirty="0" err="1"/>
              <a:t>revenue</a:t>
            </a:r>
            <a:r>
              <a:rPr lang="pt-PT" sz="1600" dirty="0"/>
              <a:t> </a:t>
            </a:r>
            <a:r>
              <a:rPr lang="pt-PT" sz="1600" dirty="0" err="1"/>
              <a:t>by</a:t>
            </a:r>
            <a:r>
              <a:rPr lang="pt-PT" sz="1600" dirty="0"/>
              <a:t> </a:t>
            </a:r>
            <a:r>
              <a:rPr lang="pt-PT" sz="1600" dirty="0" err="1"/>
              <a:t>Gender</a:t>
            </a:r>
            <a:r>
              <a:rPr lang="pt-PT" sz="1600" dirty="0"/>
              <a:t> </a:t>
            </a:r>
            <a:r>
              <a:rPr lang="pt-PT" sz="1600" dirty="0" err="1"/>
              <a:t>and</a:t>
            </a:r>
            <a:r>
              <a:rPr lang="pt-PT" sz="1600" dirty="0"/>
              <a:t> Age </a:t>
            </a:r>
            <a:r>
              <a:rPr lang="pt-PT" sz="1600" dirty="0" err="1"/>
              <a:t>group</a:t>
            </a:r>
            <a:r>
              <a:rPr lang="pt-PT" sz="1600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600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sz="1600" dirty="0">
                <a:latin typeface="Open Sans Light"/>
                <a:ea typeface="Open Sans Light"/>
                <a:cs typeface="Open Sans Light"/>
                <a:sym typeface="Open Sans Light"/>
              </a:rPr>
              <a:t> a</a:t>
            </a:r>
            <a:r>
              <a:rPr lang="pt-PT" sz="1600" dirty="0"/>
              <a:t>ge range </a:t>
            </a:r>
            <a:r>
              <a:rPr lang="pt-PT" sz="1600" dirty="0" err="1"/>
              <a:t>from</a:t>
            </a:r>
            <a:r>
              <a:rPr lang="pt-PT" sz="1600" dirty="0"/>
              <a:t> 26 to 35 </a:t>
            </a:r>
            <a:r>
              <a:rPr lang="pt-PT" sz="1600" dirty="0" err="1"/>
              <a:t>was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biggest</a:t>
            </a:r>
            <a:r>
              <a:rPr lang="pt-PT" sz="1600" dirty="0"/>
              <a:t>, </a:t>
            </a:r>
            <a:r>
              <a:rPr lang="pt-PT" sz="1600" dirty="0" err="1"/>
              <a:t>with</a:t>
            </a:r>
            <a:r>
              <a:rPr lang="pt-PT" sz="1600" dirty="0"/>
              <a:t> </a:t>
            </a:r>
            <a:r>
              <a:rPr lang="pt-PT" sz="1600" dirty="0" err="1"/>
              <a:t>revenue</a:t>
            </a:r>
            <a:r>
              <a:rPr lang="pt-PT" sz="1600" dirty="0"/>
              <a:t> </a:t>
            </a:r>
            <a:r>
              <a:rPr lang="pt-PT" sz="1600" dirty="0" err="1"/>
              <a:t>from</a:t>
            </a:r>
            <a:r>
              <a:rPr lang="pt-PT" sz="1600" dirty="0"/>
              <a:t> </a:t>
            </a:r>
            <a:r>
              <a:rPr lang="pt-PT" sz="1600" dirty="0" err="1"/>
              <a:t>men</a:t>
            </a:r>
            <a:r>
              <a:rPr lang="pt-PT" sz="1600" dirty="0"/>
              <a:t> </a:t>
            </a:r>
            <a:r>
              <a:rPr lang="pt-PT" sz="1600" dirty="0" err="1"/>
              <a:t>of</a:t>
            </a:r>
            <a:r>
              <a:rPr lang="pt-PT" sz="1600" dirty="0"/>
              <a:t> 1,149,658$.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600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sz="1600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sz="1600" dirty="0" err="1">
                <a:latin typeface="Open Sans Light"/>
                <a:ea typeface="Open Sans Light"/>
                <a:cs typeface="Open Sans Light"/>
                <a:sym typeface="Open Sans Light"/>
              </a:rPr>
              <a:t>next</a:t>
            </a:r>
            <a:r>
              <a:rPr lang="pt-PT" sz="1600" dirty="0"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pt-PT" sz="1600" dirty="0" err="1">
                <a:latin typeface="Open Sans Light"/>
                <a:ea typeface="Open Sans Light"/>
                <a:cs typeface="Open Sans Light"/>
                <a:sym typeface="Open Sans Light"/>
              </a:rPr>
              <a:t>best</a:t>
            </a:r>
            <a:r>
              <a:rPr lang="pt-PT" sz="1600" dirty="0">
                <a:latin typeface="Open Sans Light"/>
                <a:ea typeface="Open Sans Light"/>
                <a:cs typeface="Open Sans Light"/>
                <a:sym typeface="Open Sans Light"/>
              </a:rPr>
              <a:t> performers are </a:t>
            </a:r>
            <a:r>
              <a:rPr lang="pt-PT" sz="1600" dirty="0" err="1">
                <a:latin typeface="Open Sans Light"/>
                <a:ea typeface="Open Sans Light"/>
                <a:cs typeface="Open Sans Light"/>
                <a:sym typeface="Open Sans Light"/>
              </a:rPr>
              <a:t>the</a:t>
            </a:r>
            <a:r>
              <a:rPr lang="pt-PT" sz="1600" dirty="0">
                <a:latin typeface="Open Sans Light"/>
                <a:ea typeface="Open Sans Light"/>
                <a:cs typeface="Open Sans Light"/>
                <a:sym typeface="Open Sans Light"/>
              </a:rPr>
              <a:t> 18</a:t>
            </a:r>
            <a:r>
              <a:rPr lang="pt-PT" sz="1600" dirty="0"/>
              <a:t>-25 </a:t>
            </a:r>
            <a:r>
              <a:rPr lang="pt-PT" sz="1600" dirty="0" err="1"/>
              <a:t>year</a:t>
            </a:r>
            <a:r>
              <a:rPr lang="pt-PT" sz="1600" dirty="0"/>
              <a:t> </a:t>
            </a:r>
            <a:r>
              <a:rPr lang="pt-PT" sz="1600" dirty="0" err="1"/>
              <a:t>olds</a:t>
            </a:r>
            <a:r>
              <a:rPr lang="pt-PT" sz="1600" dirty="0"/>
              <a:t>.</a:t>
            </a:r>
            <a:endParaRPr sz="1600" dirty="0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06942F-564C-40D7-BDAC-6EACD1F57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011" y="2860675"/>
            <a:ext cx="2820492" cy="20409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81BD91-1D89-4EBA-BC96-0C0A83B4B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011" y="1296179"/>
            <a:ext cx="3821230" cy="14705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02CC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Marketing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D89951-B216-41C3-8E18-6529099A6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280" y="1152475"/>
            <a:ext cx="2657475" cy="685800"/>
          </a:xfrm>
          <a:prstGeom prst="rect">
            <a:avLst/>
          </a:prstGeom>
        </p:spPr>
      </p:pic>
      <p:sp>
        <p:nvSpPr>
          <p:cNvPr id="128" name="Google Shape;128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70716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200" b="1" dirty="0"/>
              <a:t>Question</a:t>
            </a:r>
            <a:r>
              <a:rPr lang="pt-PT" sz="1200" dirty="0"/>
              <a:t>: </a:t>
            </a:r>
            <a:r>
              <a:rPr lang="pt-PT" sz="1200" dirty="0" err="1"/>
              <a:t>Were</a:t>
            </a:r>
            <a:r>
              <a:rPr lang="pt-PT" sz="1200" dirty="0"/>
              <a:t> </a:t>
            </a:r>
            <a:r>
              <a:rPr lang="pt-PT" sz="1200" dirty="0" err="1"/>
              <a:t>our</a:t>
            </a:r>
            <a:r>
              <a:rPr lang="pt-PT" sz="1200" dirty="0"/>
              <a:t> Marketing </a:t>
            </a:r>
            <a:r>
              <a:rPr lang="pt-PT" sz="1200" dirty="0" err="1"/>
              <a:t>efforts</a:t>
            </a:r>
            <a:r>
              <a:rPr lang="pt-PT" sz="1200" dirty="0"/>
              <a:t> </a:t>
            </a:r>
            <a:r>
              <a:rPr lang="pt-PT" sz="1200" dirty="0" err="1"/>
              <a:t>were</a:t>
            </a:r>
            <a:r>
              <a:rPr lang="pt-PT" sz="1200" dirty="0"/>
              <a:t> </a:t>
            </a:r>
            <a:r>
              <a:rPr lang="pt-PT" sz="1200" dirty="0" err="1"/>
              <a:t>successful</a:t>
            </a:r>
            <a:r>
              <a:rPr lang="pt-PT" sz="1200" dirty="0"/>
              <a:t>, ROI </a:t>
            </a:r>
            <a:r>
              <a:rPr lang="pt-PT" sz="1200" dirty="0" err="1"/>
              <a:t>is</a:t>
            </a:r>
            <a:r>
              <a:rPr lang="pt-PT" sz="1200" dirty="0"/>
              <a:t> a </a:t>
            </a:r>
            <a:r>
              <a:rPr lang="pt-PT" sz="1200" dirty="0" err="1"/>
              <a:t>useful</a:t>
            </a:r>
            <a:r>
              <a:rPr lang="pt-PT" sz="1200" dirty="0"/>
              <a:t> </a:t>
            </a:r>
            <a:r>
              <a:rPr lang="pt-PT" sz="1200" dirty="0" err="1"/>
              <a:t>metric</a:t>
            </a:r>
            <a:r>
              <a:rPr lang="pt-PT" sz="1200" dirty="0"/>
              <a:t>, </a:t>
            </a:r>
            <a:r>
              <a:rPr lang="pt-PT" sz="1200" dirty="0" err="1"/>
              <a:t>calculated</a:t>
            </a:r>
            <a:r>
              <a:rPr lang="pt-PT" sz="1200" dirty="0"/>
              <a:t> as: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200" dirty="0"/>
              <a:t>(</a:t>
            </a:r>
            <a:r>
              <a:rPr lang="pt-PT" sz="1200" dirty="0" err="1"/>
              <a:t>Revenue-Cost</a:t>
            </a:r>
            <a:r>
              <a:rPr lang="pt-PT" sz="1200" dirty="0"/>
              <a:t>)/</a:t>
            </a:r>
            <a:r>
              <a:rPr lang="pt-PT" sz="1200" dirty="0" err="1"/>
              <a:t>Cost</a:t>
            </a:r>
            <a:endParaRPr lang="pt-PT" sz="1200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200" dirty="0" err="1"/>
              <a:t>It</a:t>
            </a:r>
            <a:r>
              <a:rPr lang="pt-PT" sz="1200" dirty="0"/>
              <a:t> </a:t>
            </a:r>
            <a:r>
              <a:rPr lang="pt-PT" sz="1200" dirty="0" err="1"/>
              <a:t>is</a:t>
            </a:r>
            <a:r>
              <a:rPr lang="pt-PT" sz="1200" dirty="0"/>
              <a:t> 7.26%, </a:t>
            </a:r>
            <a:r>
              <a:rPr lang="pt-PT" sz="1200" dirty="0" err="1"/>
              <a:t>which</a:t>
            </a:r>
            <a:r>
              <a:rPr lang="pt-PT" sz="1200" dirty="0"/>
              <a:t> </a:t>
            </a:r>
            <a:r>
              <a:rPr lang="pt-PT" sz="1200" dirty="0" err="1"/>
              <a:t>is</a:t>
            </a:r>
            <a:r>
              <a:rPr lang="pt-PT" sz="1200" dirty="0"/>
              <a:t> positive for </a:t>
            </a:r>
            <a:r>
              <a:rPr lang="pt-PT" sz="1200" dirty="0" err="1"/>
              <a:t>the</a:t>
            </a:r>
            <a:r>
              <a:rPr lang="pt-PT" sz="1200" dirty="0"/>
              <a:t> </a:t>
            </a:r>
            <a:r>
              <a:rPr lang="pt-PT" sz="1200" dirty="0" err="1"/>
              <a:t>paid</a:t>
            </a:r>
            <a:r>
              <a:rPr lang="pt-PT" sz="1200" dirty="0"/>
              <a:t> </a:t>
            </a:r>
            <a:r>
              <a:rPr lang="pt-PT" sz="1200" dirty="0" err="1"/>
              <a:t>channel</a:t>
            </a:r>
            <a:r>
              <a:rPr lang="pt-PT" sz="1200" dirty="0"/>
              <a:t>, </a:t>
            </a:r>
            <a:r>
              <a:rPr lang="pt-PT" sz="1200" dirty="0" err="1"/>
              <a:t>which</a:t>
            </a:r>
            <a:r>
              <a:rPr lang="pt-PT" sz="1200" dirty="0"/>
              <a:t> </a:t>
            </a:r>
            <a:r>
              <a:rPr lang="pt-PT" sz="1200" dirty="0" err="1"/>
              <a:t>is</a:t>
            </a:r>
            <a:r>
              <a:rPr lang="pt-PT" sz="1200" dirty="0"/>
              <a:t> positive.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200" dirty="0" err="1"/>
              <a:t>From</a:t>
            </a:r>
            <a:r>
              <a:rPr lang="pt-PT" sz="1200" dirty="0"/>
              <a:t> </a:t>
            </a:r>
            <a:r>
              <a:rPr lang="pt-PT" sz="1200" dirty="0" err="1"/>
              <a:t>the</a:t>
            </a:r>
            <a:r>
              <a:rPr lang="pt-PT" sz="1200" dirty="0"/>
              <a:t> bar </a:t>
            </a:r>
            <a:r>
              <a:rPr lang="pt-PT" sz="1200" dirty="0" err="1"/>
              <a:t>charts</a:t>
            </a:r>
            <a:r>
              <a:rPr lang="pt-PT" sz="1200" dirty="0"/>
              <a:t>, </a:t>
            </a:r>
            <a:r>
              <a:rPr lang="pt-PT" sz="1200" dirty="0" err="1"/>
              <a:t>it’s</a:t>
            </a:r>
            <a:r>
              <a:rPr lang="pt-PT" sz="1200" dirty="0"/>
              <a:t> </a:t>
            </a:r>
            <a:r>
              <a:rPr lang="pt-PT" sz="1200" dirty="0" err="1"/>
              <a:t>possible</a:t>
            </a:r>
            <a:r>
              <a:rPr lang="pt-PT" sz="1200" dirty="0"/>
              <a:t> to </a:t>
            </a:r>
            <a:r>
              <a:rPr lang="pt-PT" sz="1200" dirty="0" err="1"/>
              <a:t>see</a:t>
            </a:r>
            <a:r>
              <a:rPr lang="pt-PT" sz="1200" dirty="0"/>
              <a:t> </a:t>
            </a:r>
            <a:r>
              <a:rPr lang="pt-PT" sz="1200" dirty="0" err="1"/>
              <a:t>that</a:t>
            </a:r>
            <a:r>
              <a:rPr lang="pt-PT" sz="1200" dirty="0"/>
              <a:t> </a:t>
            </a:r>
            <a:r>
              <a:rPr lang="pt-PT" sz="1200" dirty="0" err="1"/>
              <a:t>the</a:t>
            </a:r>
            <a:r>
              <a:rPr lang="pt-PT" sz="1200" dirty="0"/>
              <a:t> </a:t>
            </a:r>
            <a:r>
              <a:rPr lang="pt-PT" sz="1200" dirty="0" err="1"/>
              <a:t>highest</a:t>
            </a:r>
            <a:r>
              <a:rPr lang="pt-PT" sz="1200" dirty="0"/>
              <a:t> ROI </a:t>
            </a:r>
            <a:r>
              <a:rPr lang="pt-PT" sz="1200" dirty="0" err="1"/>
              <a:t>by</a:t>
            </a:r>
            <a:r>
              <a:rPr lang="pt-PT" sz="1200" dirty="0"/>
              <a:t> age </a:t>
            </a:r>
            <a:r>
              <a:rPr lang="pt-PT" sz="1200" dirty="0" err="1"/>
              <a:t>group</a:t>
            </a:r>
            <a:r>
              <a:rPr lang="pt-PT" sz="1200" dirty="0"/>
              <a:t> </a:t>
            </a:r>
            <a:r>
              <a:rPr lang="pt-PT" sz="1200" dirty="0" err="1"/>
              <a:t>and</a:t>
            </a:r>
            <a:r>
              <a:rPr lang="pt-PT" sz="1200" dirty="0"/>
              <a:t> </a:t>
            </a:r>
            <a:r>
              <a:rPr lang="pt-PT" sz="1200" dirty="0" err="1"/>
              <a:t>gender</a:t>
            </a:r>
            <a:r>
              <a:rPr lang="pt-PT" sz="1200" dirty="0"/>
              <a:t>, </a:t>
            </a:r>
            <a:r>
              <a:rPr lang="pt-PT" sz="1200" dirty="0" err="1"/>
              <a:t>were</a:t>
            </a:r>
            <a:r>
              <a:rPr lang="pt-PT" sz="1200" dirty="0"/>
              <a:t> a </a:t>
            </a:r>
            <a:r>
              <a:rPr lang="pt-PT" sz="1200" dirty="0" err="1"/>
              <a:t>little</a:t>
            </a:r>
            <a:r>
              <a:rPr lang="pt-PT" sz="1200" dirty="0"/>
              <a:t> </a:t>
            </a:r>
            <a:r>
              <a:rPr lang="pt-PT" sz="1200" dirty="0" err="1"/>
              <a:t>far</a:t>
            </a:r>
            <a:r>
              <a:rPr lang="pt-PT" sz="1200" dirty="0"/>
              <a:t> </a:t>
            </a:r>
            <a:r>
              <a:rPr lang="pt-PT" sz="1200" dirty="0" err="1"/>
              <a:t>way</a:t>
            </a:r>
            <a:r>
              <a:rPr lang="pt-PT" sz="1200" dirty="0"/>
              <a:t> </a:t>
            </a:r>
            <a:r>
              <a:rPr lang="pt-PT" sz="1200" dirty="0" err="1"/>
              <a:t>from</a:t>
            </a:r>
            <a:r>
              <a:rPr lang="pt-PT" sz="1200" dirty="0"/>
              <a:t> </a:t>
            </a:r>
            <a:r>
              <a:rPr lang="pt-PT" sz="1200" dirty="0" err="1"/>
              <a:t>the</a:t>
            </a:r>
            <a:r>
              <a:rPr lang="pt-PT" sz="1200" dirty="0"/>
              <a:t> </a:t>
            </a:r>
            <a:r>
              <a:rPr lang="pt-PT" sz="1200" dirty="0" err="1"/>
              <a:t>rest</a:t>
            </a:r>
            <a:r>
              <a:rPr lang="pt-PT" sz="1200" dirty="0"/>
              <a:t>, </a:t>
            </a:r>
            <a:r>
              <a:rPr lang="pt-PT" sz="1200" dirty="0" err="1"/>
              <a:t>which</a:t>
            </a:r>
            <a:r>
              <a:rPr lang="pt-PT" sz="1200" dirty="0"/>
              <a:t> </a:t>
            </a:r>
            <a:r>
              <a:rPr lang="pt-PT" sz="1200" dirty="0" err="1"/>
              <a:t>was</a:t>
            </a:r>
            <a:r>
              <a:rPr lang="pt-PT" sz="1200" dirty="0"/>
              <a:t> 55+ for </a:t>
            </a:r>
            <a:r>
              <a:rPr lang="pt-PT" sz="1200" dirty="0" err="1"/>
              <a:t>Females</a:t>
            </a:r>
            <a:r>
              <a:rPr lang="pt-PT" sz="1200" dirty="0"/>
              <a:t> (18.24%), </a:t>
            </a:r>
            <a:r>
              <a:rPr lang="pt-PT" sz="1200" dirty="0" err="1"/>
              <a:t>followed</a:t>
            </a:r>
            <a:r>
              <a:rPr lang="pt-PT" sz="1200" dirty="0"/>
              <a:t> </a:t>
            </a:r>
            <a:r>
              <a:rPr lang="pt-PT" sz="1200" dirty="0" err="1"/>
              <a:t>by</a:t>
            </a:r>
            <a:r>
              <a:rPr lang="pt-PT" sz="1200" dirty="0"/>
              <a:t> 46-50 for males (11.82%).</a:t>
            </a:r>
            <a:endParaRPr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990EAE-80D7-4B01-BF46-8A8AF1116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280" y="1939408"/>
            <a:ext cx="4181600" cy="25213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02CC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Marketing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F2AB51-6C29-4523-A8B3-0FD29CE4C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044" y="1199870"/>
            <a:ext cx="3256710" cy="1852398"/>
          </a:xfrm>
          <a:prstGeom prst="rect">
            <a:avLst/>
          </a:prstGeom>
        </p:spPr>
      </p:pic>
      <p:sp>
        <p:nvSpPr>
          <p:cNvPr id="134" name="Google Shape;13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60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b="1" dirty="0"/>
              <a:t>Question</a:t>
            </a:r>
            <a:r>
              <a:rPr lang="pt-PT" dirty="0"/>
              <a:t>: </a:t>
            </a:r>
            <a:r>
              <a:rPr lang="pt-PT" dirty="0" err="1"/>
              <a:t>Which</a:t>
            </a:r>
            <a:r>
              <a:rPr lang="pt-PT" dirty="0"/>
              <a:t> </a:t>
            </a:r>
            <a:r>
              <a:rPr lang="pt-PT" dirty="0" err="1"/>
              <a:t>channel</a:t>
            </a:r>
            <a:r>
              <a:rPr lang="pt-PT" dirty="0"/>
              <a:t> </a:t>
            </a:r>
            <a:r>
              <a:rPr lang="pt-PT" dirty="0" err="1"/>
              <a:t>contributed</a:t>
            </a:r>
            <a:r>
              <a:rPr lang="pt-PT" dirty="0"/>
              <a:t> </a:t>
            </a:r>
            <a:r>
              <a:rPr lang="pt-PT" dirty="0" err="1"/>
              <a:t>most</a:t>
            </a:r>
            <a:r>
              <a:rPr lang="pt-PT" dirty="0"/>
              <a:t> to sales?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find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paid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largest</a:t>
            </a:r>
            <a:r>
              <a:rPr lang="pt-PT" dirty="0"/>
              <a:t> driver for </a:t>
            </a:r>
            <a:r>
              <a:rPr lang="pt-PT" dirty="0" err="1"/>
              <a:t>both</a:t>
            </a:r>
            <a:r>
              <a:rPr lang="pt-PT" dirty="0"/>
              <a:t> </a:t>
            </a:r>
            <a:r>
              <a:rPr lang="pt-PT" dirty="0" err="1"/>
              <a:t>years</a:t>
            </a:r>
            <a:r>
              <a:rPr lang="pt-PT" dirty="0"/>
              <a:t>, </a:t>
            </a:r>
            <a:r>
              <a:rPr lang="pt-PT" dirty="0" err="1"/>
              <a:t>followed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Social </a:t>
            </a:r>
            <a:r>
              <a:rPr lang="pt-PT" dirty="0" err="1"/>
              <a:t>and</a:t>
            </a:r>
            <a:r>
              <a:rPr lang="pt-PT" dirty="0"/>
              <a:t> Blog.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trends</a:t>
            </a:r>
            <a:r>
              <a:rPr lang="pt-PT" dirty="0"/>
              <a:t> </a:t>
            </a:r>
            <a:r>
              <a:rPr lang="pt-PT" dirty="0" err="1"/>
              <a:t>remained</a:t>
            </a:r>
            <a:r>
              <a:rPr lang="pt-PT" dirty="0"/>
              <a:t> </a:t>
            </a:r>
            <a:r>
              <a:rPr lang="pt-PT" dirty="0" err="1"/>
              <a:t>stable</a:t>
            </a:r>
            <a:r>
              <a:rPr lang="pt-PT" dirty="0"/>
              <a:t> for </a:t>
            </a:r>
            <a:r>
              <a:rPr lang="pt-PT" dirty="0" err="1"/>
              <a:t>both</a:t>
            </a:r>
            <a:r>
              <a:rPr lang="pt-PT" dirty="0"/>
              <a:t> </a:t>
            </a:r>
            <a:r>
              <a:rPr lang="pt-PT" dirty="0" err="1"/>
              <a:t>years</a:t>
            </a:r>
            <a:r>
              <a:rPr lang="pt-PT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02B3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Sales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357AE7-299E-4B35-89FF-D0E574891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925" y="1152475"/>
            <a:ext cx="4524375" cy="2743200"/>
          </a:xfrm>
          <a:prstGeom prst="rect">
            <a:avLst/>
          </a:prstGeom>
        </p:spPr>
      </p:pic>
      <p:sp>
        <p:nvSpPr>
          <p:cNvPr id="140" name="Google Shape;140;p33"/>
          <p:cNvSpPr txBox="1">
            <a:spLocks noGrp="1"/>
          </p:cNvSpPr>
          <p:nvPr>
            <p:ph type="body" idx="1"/>
          </p:nvPr>
        </p:nvSpPr>
        <p:spPr>
          <a:xfrm>
            <a:off x="311700" y="1206267"/>
            <a:ext cx="315091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b="1" dirty="0"/>
              <a:t>Question</a:t>
            </a:r>
            <a:r>
              <a:rPr lang="pt-PT" dirty="0"/>
              <a:t>: </a:t>
            </a:r>
            <a:r>
              <a:rPr lang="pt-PT" dirty="0" err="1"/>
              <a:t>How</a:t>
            </a:r>
            <a:r>
              <a:rPr lang="pt-PT" dirty="0"/>
              <a:t> </a:t>
            </a:r>
            <a:r>
              <a:rPr lang="pt-PT" dirty="0" err="1"/>
              <a:t>much</a:t>
            </a:r>
            <a:r>
              <a:rPr lang="pt-PT" dirty="0"/>
              <a:t> </a:t>
            </a:r>
            <a:r>
              <a:rPr lang="pt-PT" dirty="0" err="1"/>
              <a:t>revenue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generated</a:t>
            </a:r>
            <a:r>
              <a:rPr lang="pt-PT" dirty="0"/>
              <a:t> </a:t>
            </a:r>
            <a:r>
              <a:rPr lang="pt-PT" dirty="0" err="1"/>
              <a:t>over</a:t>
            </a:r>
            <a:r>
              <a:rPr lang="pt-PT" dirty="0"/>
              <a:t> time?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/>
              <a:t>A </a:t>
            </a:r>
            <a:r>
              <a:rPr lang="pt-PT" dirty="0" err="1"/>
              <a:t>revenue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1,594,913.85$ </a:t>
            </a:r>
            <a:r>
              <a:rPr lang="pt-PT" dirty="0" err="1"/>
              <a:t>and</a:t>
            </a:r>
            <a:r>
              <a:rPr lang="pt-PT" dirty="0"/>
              <a:t> 2,092,431.46$ </a:t>
            </a:r>
            <a:r>
              <a:rPr lang="pt-PT" dirty="0" err="1"/>
              <a:t>were</a:t>
            </a:r>
            <a:r>
              <a:rPr lang="pt-PT" dirty="0"/>
              <a:t> </a:t>
            </a:r>
            <a:r>
              <a:rPr lang="pt-PT" dirty="0" err="1"/>
              <a:t>reported</a:t>
            </a:r>
            <a:r>
              <a:rPr lang="pt-PT" dirty="0"/>
              <a:t> for 2017 </a:t>
            </a:r>
            <a:r>
              <a:rPr lang="pt-PT" dirty="0" err="1"/>
              <a:t>and</a:t>
            </a:r>
            <a:r>
              <a:rPr lang="pt-PT" dirty="0"/>
              <a:t> 2018, </a:t>
            </a:r>
            <a:r>
              <a:rPr lang="pt-PT" dirty="0" err="1"/>
              <a:t>respectively</a:t>
            </a:r>
            <a:r>
              <a:rPr lang="pt-PT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02B3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Sales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BC3FFD-492E-45FD-9AE2-CC760733D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950" y="1152475"/>
            <a:ext cx="4085104" cy="2517910"/>
          </a:xfrm>
          <a:prstGeom prst="rect">
            <a:avLst/>
          </a:prstGeom>
        </p:spPr>
      </p:pic>
      <p:sp>
        <p:nvSpPr>
          <p:cNvPr id="146" name="Google Shape;146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5016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b="1" dirty="0"/>
              <a:t>Question</a:t>
            </a:r>
            <a:r>
              <a:rPr lang="pt-PT" dirty="0"/>
              <a:t>: </a:t>
            </a:r>
            <a:r>
              <a:rPr lang="pt-PT" dirty="0" err="1"/>
              <a:t>What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average</a:t>
            </a:r>
            <a:r>
              <a:rPr lang="pt-PT" dirty="0"/>
              <a:t> </a:t>
            </a:r>
            <a:r>
              <a:rPr lang="pt-PT" dirty="0" err="1"/>
              <a:t>revenue</a:t>
            </a:r>
            <a:r>
              <a:rPr lang="pt-PT" dirty="0"/>
              <a:t> </a:t>
            </a:r>
            <a:r>
              <a:rPr lang="pt-PT" dirty="0" err="1"/>
              <a:t>over</a:t>
            </a:r>
            <a:r>
              <a:rPr lang="pt-PT" dirty="0"/>
              <a:t> time?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average</a:t>
            </a:r>
            <a:r>
              <a:rPr lang="pt-PT" dirty="0"/>
              <a:t> </a:t>
            </a:r>
            <a:r>
              <a:rPr lang="pt-PT" dirty="0" err="1"/>
              <a:t>revenue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92.13$ </a:t>
            </a:r>
            <a:r>
              <a:rPr lang="pt-PT" dirty="0" err="1"/>
              <a:t>and</a:t>
            </a:r>
            <a:r>
              <a:rPr lang="pt-PT" dirty="0"/>
              <a:t> 93.45$ in 2017 </a:t>
            </a:r>
            <a:r>
              <a:rPr lang="pt-PT" dirty="0" err="1"/>
              <a:t>and</a:t>
            </a:r>
            <a:r>
              <a:rPr lang="pt-PT" dirty="0"/>
              <a:t> 2018, </a:t>
            </a:r>
            <a:r>
              <a:rPr lang="pt-PT" dirty="0" err="1"/>
              <a:t>respectively</a:t>
            </a:r>
            <a:r>
              <a:rPr lang="pt-PT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FFAE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Product Categories</a:t>
            </a:r>
            <a:endParaRPr/>
          </a:p>
        </p:txBody>
      </p:sp>
      <p:sp>
        <p:nvSpPr>
          <p:cNvPr id="152" name="Google Shape;152;p35"/>
          <p:cNvSpPr txBox="1">
            <a:spLocks noGrp="1"/>
          </p:cNvSpPr>
          <p:nvPr>
            <p:ph type="body" idx="1"/>
          </p:nvPr>
        </p:nvSpPr>
        <p:spPr>
          <a:xfrm>
            <a:off x="311700" y="1125581"/>
            <a:ext cx="374931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b="1" dirty="0"/>
              <a:t>Question</a:t>
            </a:r>
            <a:r>
              <a:rPr lang="pt-PT" dirty="0"/>
              <a:t>: </a:t>
            </a:r>
            <a:r>
              <a:rPr lang="pt-PT" dirty="0" err="1"/>
              <a:t>Which</a:t>
            </a:r>
            <a:r>
              <a:rPr lang="pt-PT" dirty="0"/>
              <a:t> </a:t>
            </a:r>
            <a:r>
              <a:rPr lang="pt-PT" dirty="0" err="1"/>
              <a:t>were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most</a:t>
            </a:r>
            <a:r>
              <a:rPr lang="pt-PT" dirty="0"/>
              <a:t> popular </a:t>
            </a:r>
            <a:r>
              <a:rPr lang="pt-PT" dirty="0" err="1"/>
              <a:t>categories</a:t>
            </a:r>
            <a:r>
              <a:rPr lang="pt-PT" dirty="0"/>
              <a:t> for </a:t>
            </a:r>
            <a:r>
              <a:rPr lang="pt-PT" dirty="0" err="1"/>
              <a:t>both</a:t>
            </a:r>
            <a:r>
              <a:rPr lang="pt-PT" dirty="0"/>
              <a:t> </a:t>
            </a:r>
            <a:r>
              <a:rPr lang="pt-PT" dirty="0" err="1"/>
              <a:t>years</a:t>
            </a:r>
            <a:r>
              <a:rPr lang="pt-PT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dirty="0" err="1"/>
              <a:t>The</a:t>
            </a:r>
            <a:r>
              <a:rPr lang="pt-PT" dirty="0"/>
              <a:t> top </a:t>
            </a:r>
            <a:r>
              <a:rPr lang="pt-PT" dirty="0" err="1"/>
              <a:t>revenue</a:t>
            </a:r>
            <a:r>
              <a:rPr lang="pt-PT" dirty="0"/>
              <a:t> </a:t>
            </a:r>
            <a:r>
              <a:rPr lang="pt-PT" dirty="0" err="1"/>
              <a:t>category</a:t>
            </a:r>
            <a:r>
              <a:rPr lang="pt-PT" dirty="0"/>
              <a:t> for 2017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Pets</a:t>
            </a:r>
            <a:r>
              <a:rPr lang="pt-PT" dirty="0"/>
              <a:t>, </a:t>
            </a:r>
            <a:r>
              <a:rPr lang="pt-PT" dirty="0" err="1"/>
              <a:t>while</a:t>
            </a:r>
            <a:r>
              <a:rPr lang="pt-PT" dirty="0"/>
              <a:t> in 2018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surpassed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Grocery</a:t>
            </a:r>
            <a:r>
              <a:rPr lang="pt-PT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pt-P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B21BC2-9C34-4424-BF01-34415697B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01" y="1152475"/>
            <a:ext cx="4100570" cy="22605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FFAE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Product Categories</a:t>
            </a:r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808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600" b="1" dirty="0"/>
              <a:t>Question</a:t>
            </a:r>
            <a:r>
              <a:rPr lang="pt-PT" sz="1600" dirty="0"/>
              <a:t>: </a:t>
            </a:r>
            <a:r>
              <a:rPr lang="pt-PT" sz="1600" dirty="0" err="1"/>
              <a:t>What</a:t>
            </a:r>
            <a:r>
              <a:rPr lang="pt-PT" sz="1600" dirty="0"/>
              <a:t> </a:t>
            </a:r>
            <a:r>
              <a:rPr lang="pt-PT" sz="1600" dirty="0" err="1"/>
              <a:t>is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distribution</a:t>
            </a:r>
            <a:r>
              <a:rPr lang="pt-PT" sz="1600" dirty="0"/>
              <a:t> </a:t>
            </a:r>
            <a:r>
              <a:rPr lang="pt-PT" sz="1600" dirty="0" err="1"/>
              <a:t>of</a:t>
            </a:r>
            <a:r>
              <a:rPr lang="pt-PT" sz="1600" dirty="0"/>
              <a:t> </a:t>
            </a:r>
            <a:r>
              <a:rPr lang="pt-PT" sz="1600" dirty="0" err="1"/>
              <a:t>revenue</a:t>
            </a:r>
            <a:r>
              <a:rPr lang="pt-PT" sz="1600" dirty="0"/>
              <a:t> </a:t>
            </a:r>
            <a:r>
              <a:rPr lang="pt-PT" sz="1600" dirty="0" err="1"/>
              <a:t>by</a:t>
            </a:r>
            <a:r>
              <a:rPr lang="pt-PT" sz="1600" dirty="0"/>
              <a:t> </a:t>
            </a:r>
            <a:r>
              <a:rPr lang="pt-PT" sz="1600" dirty="0" err="1"/>
              <a:t>product</a:t>
            </a:r>
            <a:r>
              <a:rPr lang="pt-PT" sz="1600" dirty="0"/>
              <a:t> </a:t>
            </a:r>
            <a:r>
              <a:rPr lang="pt-PT" sz="1600" dirty="0" err="1"/>
              <a:t>category</a:t>
            </a:r>
            <a:r>
              <a:rPr lang="pt-PT" sz="1600" dirty="0"/>
              <a:t> </a:t>
            </a:r>
            <a:r>
              <a:rPr lang="pt-PT" sz="1600" dirty="0" err="1"/>
              <a:t>and</a:t>
            </a:r>
            <a:r>
              <a:rPr lang="pt-PT" sz="1600" dirty="0"/>
              <a:t> </a:t>
            </a:r>
            <a:r>
              <a:rPr lang="pt-PT" sz="1600" dirty="0" err="1"/>
              <a:t>its</a:t>
            </a:r>
            <a:r>
              <a:rPr lang="pt-PT" sz="1600" dirty="0"/>
              <a:t> % </a:t>
            </a:r>
            <a:r>
              <a:rPr lang="pt-PT" sz="1600" dirty="0" err="1"/>
              <a:t>of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total?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600" dirty="0" err="1"/>
              <a:t>From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charts</a:t>
            </a:r>
            <a:r>
              <a:rPr lang="pt-PT" sz="1600" dirty="0"/>
              <a:t> </a:t>
            </a:r>
            <a:r>
              <a:rPr lang="pt-PT" sz="1600" dirty="0" err="1"/>
              <a:t>we</a:t>
            </a:r>
            <a:r>
              <a:rPr lang="pt-PT" sz="1600" dirty="0"/>
              <a:t> can </a:t>
            </a:r>
            <a:r>
              <a:rPr lang="pt-PT" sz="1600" dirty="0" err="1"/>
              <a:t>see</a:t>
            </a:r>
            <a:r>
              <a:rPr lang="pt-PT" sz="1600" dirty="0"/>
              <a:t> </a:t>
            </a:r>
            <a:r>
              <a:rPr lang="pt-PT" sz="1600" dirty="0" err="1"/>
              <a:t>that</a:t>
            </a:r>
            <a:r>
              <a:rPr lang="pt-PT" sz="1600" dirty="0"/>
              <a:t> </a:t>
            </a:r>
            <a:r>
              <a:rPr lang="pt-PT" sz="1600" dirty="0" err="1"/>
              <a:t>Grocery</a:t>
            </a:r>
            <a:r>
              <a:rPr lang="pt-PT" sz="1600" dirty="0"/>
              <a:t> </a:t>
            </a:r>
            <a:r>
              <a:rPr lang="pt-PT" sz="1600" dirty="0" err="1"/>
              <a:t>was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largest</a:t>
            </a:r>
            <a:r>
              <a:rPr lang="pt-PT" sz="1600" dirty="0"/>
              <a:t> </a:t>
            </a:r>
            <a:r>
              <a:rPr lang="pt-PT" sz="1600" dirty="0" err="1"/>
              <a:t>contributor</a:t>
            </a:r>
            <a:r>
              <a:rPr lang="pt-PT" sz="1600" dirty="0"/>
              <a:t> (923,605.54$, 25.05%), </a:t>
            </a:r>
            <a:r>
              <a:rPr lang="pt-PT" sz="1600" dirty="0" err="1"/>
              <a:t>followed</a:t>
            </a:r>
            <a:r>
              <a:rPr lang="pt-PT" sz="1600" dirty="0"/>
              <a:t> </a:t>
            </a:r>
            <a:r>
              <a:rPr lang="pt-PT" sz="1600" dirty="0" err="1"/>
              <a:t>by</a:t>
            </a:r>
            <a:r>
              <a:rPr lang="pt-PT" sz="1600" dirty="0"/>
              <a:t> </a:t>
            </a:r>
            <a:r>
              <a:rPr lang="pt-PT" sz="1600" dirty="0" err="1"/>
              <a:t>Pets</a:t>
            </a:r>
            <a:r>
              <a:rPr lang="pt-PT" sz="1600" dirty="0"/>
              <a:t> (920,605.54$, 24.96%).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600" dirty="0" err="1"/>
              <a:t>We</a:t>
            </a:r>
            <a:r>
              <a:rPr lang="pt-PT" sz="1600" dirty="0"/>
              <a:t> can </a:t>
            </a:r>
            <a:r>
              <a:rPr lang="pt-PT" sz="1600" dirty="0" err="1"/>
              <a:t>see</a:t>
            </a:r>
            <a:r>
              <a:rPr lang="pt-PT" sz="1600" dirty="0"/>
              <a:t> </a:t>
            </a:r>
            <a:r>
              <a:rPr lang="pt-PT" sz="1600" dirty="0" err="1"/>
              <a:t>that</a:t>
            </a:r>
            <a:r>
              <a:rPr lang="pt-PT" sz="1600" dirty="0"/>
              <a:t> </a:t>
            </a:r>
            <a:r>
              <a:rPr lang="pt-PT" sz="1600" dirty="0" err="1"/>
              <a:t>both</a:t>
            </a:r>
            <a:r>
              <a:rPr lang="pt-PT" sz="1600" dirty="0"/>
              <a:t> </a:t>
            </a:r>
            <a:r>
              <a:rPr lang="pt-PT" sz="1600" dirty="0" err="1"/>
              <a:t>these</a:t>
            </a:r>
            <a:r>
              <a:rPr lang="pt-PT" sz="1600" dirty="0"/>
              <a:t> </a:t>
            </a:r>
            <a:r>
              <a:rPr lang="pt-PT" sz="1600" dirty="0" err="1"/>
              <a:t>categories</a:t>
            </a:r>
            <a:r>
              <a:rPr lang="pt-PT" sz="1600" dirty="0"/>
              <a:t> are </a:t>
            </a:r>
            <a:r>
              <a:rPr lang="pt-PT" sz="1600" dirty="0" err="1"/>
              <a:t>very</a:t>
            </a:r>
            <a:r>
              <a:rPr lang="pt-PT" sz="1600" dirty="0"/>
              <a:t> </a:t>
            </a:r>
            <a:r>
              <a:rPr lang="pt-PT" sz="1600" dirty="0" err="1"/>
              <a:t>close</a:t>
            </a:r>
            <a:r>
              <a:rPr lang="pt-PT" sz="1600" dirty="0"/>
              <a:t> in </a:t>
            </a:r>
            <a:r>
              <a:rPr lang="pt-PT" sz="1600" dirty="0" err="1"/>
              <a:t>revenue</a:t>
            </a:r>
            <a:r>
              <a:rPr lang="pt-PT" sz="1600" dirty="0"/>
              <a:t> </a:t>
            </a:r>
            <a:r>
              <a:rPr lang="pt-PT" sz="1600" dirty="0" err="1"/>
              <a:t>generated</a:t>
            </a:r>
            <a:r>
              <a:rPr lang="pt-PT" sz="16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four</a:t>
            </a:r>
            <a:r>
              <a:rPr lang="pt-PT" sz="1600" dirty="0"/>
              <a:t> </a:t>
            </a:r>
            <a:r>
              <a:rPr lang="pt-PT" sz="1600" dirty="0" err="1"/>
              <a:t>remaining</a:t>
            </a:r>
            <a:r>
              <a:rPr lang="pt-PT" sz="1600" dirty="0"/>
              <a:t> </a:t>
            </a:r>
            <a:r>
              <a:rPr lang="pt-PT" sz="1600" dirty="0" err="1"/>
              <a:t>categories</a:t>
            </a:r>
            <a:r>
              <a:rPr lang="pt-PT" sz="1600" dirty="0"/>
              <a:t> are </a:t>
            </a:r>
            <a:r>
              <a:rPr lang="pt-PT" sz="1600" dirty="0" err="1"/>
              <a:t>approximately</a:t>
            </a:r>
            <a:r>
              <a:rPr lang="pt-PT" sz="1600" dirty="0"/>
              <a:t> 12% </a:t>
            </a:r>
            <a:r>
              <a:rPr lang="pt-PT" sz="1600" dirty="0" err="1"/>
              <a:t>of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total.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79A1E-44CF-4CBA-BE65-6F856F139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696" y="1206594"/>
            <a:ext cx="3214035" cy="18727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1411B-FDB1-4C45-BD96-9C0FD475C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696" y="3153257"/>
            <a:ext cx="3264274" cy="19902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rgbClr val="02CC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Else</a:t>
            </a:r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The dataset was merged in Excel to provide these findings in an easier way.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Further analysis can be conducted to extract insights from Cities and Newsletter subscriptions.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Sources: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dirty="0">
                <a:hlinkClick r:id="rId3"/>
              </a:rPr>
              <a:t>https://www.laptopmag.com/articles/excel-2013-pivot-table-from-multiples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503</Words>
  <Application>Microsoft Office PowerPoint</Application>
  <PresentationFormat>On-screen Show (16:9)</PresentationFormat>
  <Paragraphs>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Roboto Thin</vt:lpstr>
      <vt:lpstr>Arial</vt:lpstr>
      <vt:lpstr>Open Sans Light</vt:lpstr>
      <vt:lpstr>Simple Light</vt:lpstr>
      <vt:lpstr>Simple Light</vt:lpstr>
      <vt:lpstr>Udacity  Marketing Analytics</vt:lpstr>
      <vt:lpstr>Objective Results </vt:lpstr>
      <vt:lpstr>Evaluate the Audience</vt:lpstr>
      <vt:lpstr>Evaluate the Audience</vt:lpstr>
      <vt:lpstr>Evaluate the Marketing</vt:lpstr>
      <vt:lpstr>Evaluate the Marketing</vt:lpstr>
      <vt:lpstr>Evaluate the Sales</vt:lpstr>
      <vt:lpstr>Evaluate the Sales</vt:lpstr>
      <vt:lpstr>Evaluate the Product Categories</vt:lpstr>
      <vt:lpstr>Evaluate the Product Categories</vt:lpstr>
      <vt:lpstr>Everything Else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Udacity  Marketing Analytics</dc:title>
  <cp:lastModifiedBy>Gustavo Pacheco</cp:lastModifiedBy>
  <cp:revision>20</cp:revision>
  <dcterms:modified xsi:type="dcterms:W3CDTF">2020-04-29T08:05:36Z</dcterms:modified>
</cp:coreProperties>
</file>