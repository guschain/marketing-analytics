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  <p:sldMasterId id="2147483685" r:id="rId2"/>
    <p:sldMasterId id="2147483686" r:id="rId3"/>
  </p:sldMasterIdLst>
  <p:notesMasterIdLst>
    <p:notesMasterId r:id="rId25"/>
  </p:notesMasterIdLst>
  <p:sldIdLst>
    <p:sldId id="256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7" r:id="rId19"/>
    <p:sldId id="274" r:id="rId20"/>
    <p:sldId id="278" r:id="rId21"/>
    <p:sldId id="279" r:id="rId22"/>
    <p:sldId id="280" r:id="rId23"/>
    <p:sldId id="276" r:id="rId24"/>
  </p:sldIdLst>
  <p:sldSz cx="7772400" cy="10058400"/>
  <p:notesSz cx="6858000" cy="9144000"/>
  <p:embeddedFontLst>
    <p:embeddedFont>
      <p:font typeface="Helvetica Neue" panose="020B0604020202020204" charset="0"/>
      <p:regular r:id="rId26"/>
      <p:bold r:id="rId27"/>
      <p:italic r:id="rId28"/>
      <p:boldItalic r:id="rId29"/>
    </p:embeddedFont>
    <p:embeddedFont>
      <p:font typeface="Open Sans" panose="020B0606030504020204" pitchFamily="34" charset="0"/>
      <p:regular r:id="rId30"/>
      <p:bold r:id="rId31"/>
      <p:italic r:id="rId32"/>
      <p:boldItalic r:id="rId33"/>
    </p:embeddedFont>
    <p:embeddedFont>
      <p:font typeface="Open Sans Light" panose="020B0306030504020204" pitchFamily="34" charset="0"/>
      <p:regular r:id="rId34"/>
      <p:bold r:id="rId35"/>
      <p:italic r:id="rId36"/>
      <p:boldItalic r:id="rId37"/>
    </p:embeddedFont>
    <p:embeddedFont>
      <p:font typeface="Open Sans SemiBold" panose="020B070603080402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734" y="-3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18.xml"/><Relationship Id="rId34" Type="http://schemas.openxmlformats.org/officeDocument/2006/relationships/font" Target="fonts/font9.fntdata"/><Relationship Id="rId42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6.fntdata"/><Relationship Id="rId44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20" Type="http://schemas.openxmlformats.org/officeDocument/2006/relationships/slide" Target="slides/slide17.xml"/><Relationship Id="rId41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59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9f40c9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9f40c9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96ff892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96ff892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96ff8925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96ff8925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4020f252f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4020f252f2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96ff8925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96ff8925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42bf448a5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42bf448a5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42c26f725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42c26f725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42bf448a5f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42bf448a5f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42bf448a5f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42bf448a5f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42bf448a5f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42bf448a5f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42bf448a5f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42bf448a5f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42bf448a5f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42bf448a5f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9f40c9c8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a9f40c9c8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4020f252f2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4020f252f2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4020f252f2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4020f252f2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4020f252f2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4020f252f2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05628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4020f252f2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4020f252f2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4020f252f2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4020f252f2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93191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4020f252f2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4020f252f2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9746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4020f252f2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4020f252f2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40966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ad3930b6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ad3930b6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2E3D49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2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17" name="Google Shape;1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8800" y="251396"/>
            <a:ext cx="1250250" cy="61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6150" y="125138"/>
            <a:ext cx="871400" cy="8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25" name="Google Shape;25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8800" y="251396"/>
            <a:ext cx="1250250" cy="61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300" cy="722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Font typeface="Open Sans"/>
              <a:buNone/>
              <a:defRPr sz="5200"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 sz="2800"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2E3D49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"/>
              <a:buNone/>
              <a:defRPr sz="3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NND" type="tx">
  <p:cSld name="TITLE_AND_BOD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■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●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■"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●"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Open Sans"/>
              <a:buChar char="■"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6"/>
          <p:cNvSpPr txBox="1"/>
          <p:nvPr/>
        </p:nvSpPr>
        <p:spPr>
          <a:xfrm>
            <a:off x="884150" y="7891976"/>
            <a:ext cx="6004200" cy="1749300"/>
          </a:xfrm>
          <a:prstGeom prst="rect">
            <a:avLst/>
          </a:prstGeom>
          <a:solidFill>
            <a:srgbClr val="DBE2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i="1">
                <a:solidFill>
                  <a:srgbClr val="15C26B"/>
                </a:solidFill>
                <a:latin typeface="Open Sans"/>
                <a:ea typeface="Open Sans"/>
                <a:cs typeface="Open Sans"/>
                <a:sym typeface="Open Sans"/>
              </a:rPr>
              <a:t>Remove this slide </a:t>
            </a:r>
            <a:endParaRPr sz="3600" i="1">
              <a:solidFill>
                <a:srgbClr val="15C26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0" name="Google Shape;60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8800" y="251396"/>
            <a:ext cx="1250250" cy="61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■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●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■"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●"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Open Sans"/>
              <a:buChar char="■"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" name="Google Shape;6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8800" y="251396"/>
            <a:ext cx="1250250" cy="61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NND_Template" type="twoColTx">
  <p:cSld name="TITLE_AND_TWO_COLUMN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8800" y="251396"/>
            <a:ext cx="1250250" cy="61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sldNum" idx="12"/>
          </p:nvPr>
        </p:nvSpPr>
        <p:spPr>
          <a:xfrm>
            <a:off x="7231389" y="9288605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5" name="Google Shape;7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8800" y="251396"/>
            <a:ext cx="1250250" cy="61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300" cy="722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7" name="Google Shape;97;p25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8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Font typeface="Open Sans"/>
              <a:buNone/>
              <a:defRPr sz="5200"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8" name="Google Shape;108;p28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 sz="2800"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9" name="Google Shape;109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2E3D49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"/>
              <a:buNone/>
              <a:defRPr sz="3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2" name="Google Shape;112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0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0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16" name="Google Shape;116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30"/>
          <p:cNvSpPr txBox="1"/>
          <p:nvPr/>
        </p:nvSpPr>
        <p:spPr>
          <a:xfrm>
            <a:off x="884150" y="7891976"/>
            <a:ext cx="6004200" cy="1749300"/>
          </a:xfrm>
          <a:prstGeom prst="rect">
            <a:avLst/>
          </a:prstGeom>
          <a:solidFill>
            <a:srgbClr val="DBE2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i="1">
                <a:solidFill>
                  <a:srgbClr val="15C26B"/>
                </a:solidFill>
                <a:latin typeface="Open Sans"/>
                <a:ea typeface="Open Sans"/>
                <a:cs typeface="Open Sans"/>
                <a:sym typeface="Open Sans"/>
              </a:rPr>
              <a:t>Remove this slide </a:t>
            </a:r>
            <a:endParaRPr sz="3600" i="1">
              <a:solidFill>
                <a:srgbClr val="15C26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1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1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1" name="Google Shape;121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NND_Template" type="twoColTx">
  <p:cSld name="TITLE_AND_TWO_COLUMNS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2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2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25" name="Google Shape;125;p32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26" name="Google Shape;126;p3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4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2" name="Google Shape;132;p34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33" name="Google Shape;133;p3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5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6" name="Google Shape;136;p3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6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36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40" name="Google Shape;140;p36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1" name="Google Shape;141;p36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300" cy="722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2" name="Google Shape;142;p3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7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45" name="Google Shape;145;p3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8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8" name="Google Shape;148;p38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9" name="Google Shape;149;p3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/>
          <p:nvPr/>
        </p:nvSpPr>
        <p:spPr>
          <a:xfrm>
            <a:off x="-11" y="964431"/>
            <a:ext cx="32400" cy="931500"/>
          </a:xfrm>
          <a:prstGeom prst="rect">
            <a:avLst/>
          </a:prstGeom>
          <a:solidFill>
            <a:srgbClr val="15C26B"/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3000"/>
              <a:buNone/>
              <a:defRPr sz="3000">
                <a:solidFill>
                  <a:srgbClr val="2E3D49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25C65"/>
              </a:buClr>
              <a:buSzPts val="1800"/>
              <a:buFont typeface="Open Sans"/>
              <a:buChar char="●"/>
              <a:defRPr sz="1800">
                <a:solidFill>
                  <a:srgbClr val="525C65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25C65"/>
              </a:buClr>
              <a:buSzPts val="1400"/>
              <a:buFont typeface="Open Sans"/>
              <a:buChar char="○"/>
              <a:defRPr>
                <a:solidFill>
                  <a:srgbClr val="525C65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25C65"/>
              </a:buClr>
              <a:buSzPts val="1400"/>
              <a:buFont typeface="Open Sans"/>
              <a:buChar char="■"/>
              <a:defRPr>
                <a:solidFill>
                  <a:srgbClr val="525C65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25C65"/>
              </a:buClr>
              <a:buSzPts val="1400"/>
              <a:buFont typeface="Open Sans"/>
              <a:buChar char="●"/>
              <a:defRPr>
                <a:solidFill>
                  <a:srgbClr val="525C65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25C65"/>
              </a:buClr>
              <a:buSzPts val="1400"/>
              <a:buFont typeface="Open Sans"/>
              <a:buChar char="○"/>
              <a:defRPr>
                <a:solidFill>
                  <a:srgbClr val="525C65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25C65"/>
              </a:buClr>
              <a:buSzPts val="1400"/>
              <a:buFont typeface="Open Sans"/>
              <a:buChar char="■"/>
              <a:defRPr>
                <a:solidFill>
                  <a:srgbClr val="525C65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25C65"/>
              </a:buClr>
              <a:buSzPts val="1400"/>
              <a:buFont typeface="Open Sans"/>
              <a:buChar char="●"/>
              <a:defRPr>
                <a:solidFill>
                  <a:srgbClr val="525C65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25C65"/>
              </a:buClr>
              <a:buSzPts val="1400"/>
              <a:buFont typeface="Open Sans"/>
              <a:buChar char="○"/>
              <a:defRPr>
                <a:solidFill>
                  <a:srgbClr val="525C65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25C65"/>
              </a:buClr>
              <a:buSzPts val="1400"/>
              <a:buFont typeface="Open Sans"/>
              <a:buChar char="■"/>
              <a:defRPr>
                <a:solidFill>
                  <a:srgbClr val="525C65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13"/>
          <p:cNvSpPr/>
          <p:nvPr/>
        </p:nvSpPr>
        <p:spPr>
          <a:xfrm>
            <a:off x="-11" y="964431"/>
            <a:ext cx="32400" cy="931500"/>
          </a:xfrm>
          <a:prstGeom prst="rect">
            <a:avLst/>
          </a:prstGeom>
          <a:solidFill>
            <a:srgbClr val="15C26B"/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" name="Google Shape;47;p13"/>
          <p:cNvSpPr txBox="1"/>
          <p:nvPr/>
        </p:nvSpPr>
        <p:spPr>
          <a:xfrm>
            <a:off x="885000" y="9512818"/>
            <a:ext cx="6002400" cy="3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E3D49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LEARN MORE </a:t>
            </a:r>
            <a:r>
              <a:rPr lang="en" sz="1500">
                <a:solidFill>
                  <a:srgbClr val="2E3D4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udacity.com/google-analytics</a:t>
            </a:r>
            <a:endParaRPr sz="1500">
              <a:solidFill>
                <a:srgbClr val="2E3D49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3000"/>
              <a:buNone/>
              <a:defRPr sz="3000">
                <a:solidFill>
                  <a:srgbClr val="2E3D49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27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25C65"/>
              </a:buClr>
              <a:buSzPts val="1800"/>
              <a:buFont typeface="Open Sans"/>
              <a:buChar char="●"/>
              <a:defRPr sz="1800">
                <a:solidFill>
                  <a:srgbClr val="525C65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25C65"/>
              </a:buClr>
              <a:buSzPts val="1400"/>
              <a:buFont typeface="Open Sans"/>
              <a:buChar char="○"/>
              <a:defRPr>
                <a:solidFill>
                  <a:srgbClr val="525C65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25C65"/>
              </a:buClr>
              <a:buSzPts val="1400"/>
              <a:buFont typeface="Open Sans"/>
              <a:buChar char="■"/>
              <a:defRPr>
                <a:solidFill>
                  <a:srgbClr val="525C65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25C65"/>
              </a:buClr>
              <a:buSzPts val="1400"/>
              <a:buFont typeface="Open Sans"/>
              <a:buChar char="●"/>
              <a:defRPr>
                <a:solidFill>
                  <a:srgbClr val="525C65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25C65"/>
              </a:buClr>
              <a:buSzPts val="1400"/>
              <a:buFont typeface="Open Sans"/>
              <a:buChar char="○"/>
              <a:defRPr>
                <a:solidFill>
                  <a:srgbClr val="525C65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25C65"/>
              </a:buClr>
              <a:buSzPts val="1400"/>
              <a:buFont typeface="Open Sans"/>
              <a:buChar char="■"/>
              <a:defRPr>
                <a:solidFill>
                  <a:srgbClr val="525C65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25C65"/>
              </a:buClr>
              <a:buSzPts val="1400"/>
              <a:buFont typeface="Open Sans"/>
              <a:buChar char="●"/>
              <a:defRPr>
                <a:solidFill>
                  <a:srgbClr val="525C65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25C65"/>
              </a:buClr>
              <a:buSzPts val="1400"/>
              <a:buFont typeface="Open Sans"/>
              <a:buChar char="○"/>
              <a:defRPr>
                <a:solidFill>
                  <a:srgbClr val="525C65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25C65"/>
              </a:buClr>
              <a:buSzPts val="1400"/>
              <a:buFont typeface="Open Sans"/>
              <a:buChar char="■"/>
              <a:defRPr>
                <a:solidFill>
                  <a:srgbClr val="525C65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04" name="Google Shape;104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7"/>
          <p:cNvSpPr/>
          <p:nvPr/>
        </p:nvSpPr>
        <p:spPr>
          <a:xfrm>
            <a:off x="-11" y="964431"/>
            <a:ext cx="32400" cy="931500"/>
          </a:xfrm>
          <a:prstGeom prst="rect">
            <a:avLst/>
          </a:prstGeom>
          <a:solidFill>
            <a:srgbClr val="15C26B"/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" y="0"/>
            <a:ext cx="7772403" cy="1005057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0"/>
          <p:cNvSpPr/>
          <p:nvPr/>
        </p:nvSpPr>
        <p:spPr>
          <a:xfrm>
            <a:off x="3348690" y="5076712"/>
            <a:ext cx="764100" cy="74400"/>
          </a:xfrm>
          <a:prstGeom prst="rect">
            <a:avLst/>
          </a:prstGeom>
          <a:solidFill>
            <a:srgbClr val="15C26B"/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" name="Google Shape;158;p40"/>
          <p:cNvSpPr/>
          <p:nvPr/>
        </p:nvSpPr>
        <p:spPr>
          <a:xfrm>
            <a:off x="1047451" y="8542652"/>
            <a:ext cx="56775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BECBD6"/>
              </a:buClr>
              <a:buFont typeface="Open Sans"/>
              <a:buNone/>
            </a:pPr>
            <a:r>
              <a:rPr lang="en"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Advanced Displays, Segmentation &amp; Filtering</a:t>
            </a:r>
            <a:br>
              <a:rPr lang="en" sz="3600">
                <a:solidFill>
                  <a:srgbClr val="2E3D49"/>
                </a:solidFill>
                <a:latin typeface="Open Sans Light"/>
                <a:ea typeface="Open Sans Light"/>
                <a:cs typeface="Open Sans Light"/>
                <a:sym typeface="Open Sans Light"/>
              </a:rPr>
            </a:br>
            <a:endParaRPr sz="3600">
              <a:solidFill>
                <a:srgbClr val="2E3D49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CBD6"/>
              </a:buClr>
              <a:buFont typeface="Open Sans"/>
              <a:buNone/>
            </a:pPr>
            <a:endParaRPr sz="2400">
              <a:solidFill>
                <a:srgbClr val="BECBD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" name="Google Shape;159;p40"/>
          <p:cNvSpPr/>
          <p:nvPr/>
        </p:nvSpPr>
        <p:spPr>
          <a:xfrm>
            <a:off x="0" y="734900"/>
            <a:ext cx="77724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Google Analytics</a:t>
            </a:r>
            <a:endParaRPr sz="3600">
              <a:solidFill>
                <a:srgbClr val="FFFF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160" name="Google Shape;16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3648" y="2940150"/>
            <a:ext cx="1654200" cy="81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3"/>
          <p:cNvSpPr txBox="1">
            <a:spLocks noGrp="1"/>
          </p:cNvSpPr>
          <p:nvPr>
            <p:ph type="ctrTitle"/>
          </p:nvPr>
        </p:nvSpPr>
        <p:spPr>
          <a:xfrm>
            <a:off x="347400" y="1947675"/>
            <a:ext cx="7077600" cy="291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AFBFC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Part One:</a:t>
            </a:r>
            <a:r>
              <a:rPr lang="en" sz="4800" b="1">
                <a:solidFill>
                  <a:srgbClr val="FAFBFC"/>
                </a:solidFill>
              </a:rPr>
              <a:t> </a:t>
            </a:r>
            <a:endParaRPr sz="4800" b="1">
              <a:solidFill>
                <a:srgbClr val="FAFBF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AFBFC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Primary Views &amp; Filters</a:t>
            </a:r>
            <a:br>
              <a:rPr lang="en" sz="3600">
                <a:solidFill>
                  <a:srgbClr val="FAFBFC"/>
                </a:solidFill>
              </a:rPr>
            </a:br>
            <a:endParaRPr sz="3600">
              <a:solidFill>
                <a:srgbClr val="FAFBF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0" name="Google Shape;180;p43"/>
          <p:cNvSpPr txBox="1"/>
          <p:nvPr/>
        </p:nvSpPr>
        <p:spPr>
          <a:xfrm>
            <a:off x="-226600" y="5226950"/>
            <a:ext cx="4925100" cy="12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81" name="Google Shape;181;p43"/>
          <p:cNvSpPr/>
          <p:nvPr/>
        </p:nvSpPr>
        <p:spPr>
          <a:xfrm>
            <a:off x="964649" y="4818975"/>
            <a:ext cx="716700" cy="44100"/>
          </a:xfrm>
          <a:prstGeom prst="rect">
            <a:avLst/>
          </a:prstGeom>
          <a:solidFill>
            <a:srgbClr val="15C26B"/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4"/>
          <p:cNvSpPr txBox="1">
            <a:spLocks noGrp="1"/>
          </p:cNvSpPr>
          <p:nvPr>
            <p:ph type="title"/>
          </p:nvPr>
        </p:nvSpPr>
        <p:spPr>
          <a:xfrm>
            <a:off x="264895" y="959146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B3E4"/>
              </a:buClr>
              <a:buSzPts val="3200"/>
              <a:buFont typeface="Open Sans"/>
              <a:buAutoNum type="arabicPeriod"/>
            </a:pPr>
            <a:r>
              <a:rPr lang="en" sz="3200">
                <a:solidFill>
                  <a:srgbClr val="02B3E4"/>
                </a:solidFill>
                <a:latin typeface="Open Sans"/>
                <a:ea typeface="Open Sans"/>
                <a:cs typeface="Open Sans"/>
                <a:sym typeface="Open Sans"/>
              </a:rPr>
              <a:t>Best Practice Check: </a:t>
            </a:r>
            <a:endParaRPr sz="3200">
              <a:solidFill>
                <a:srgbClr val="02B3E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2B3E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   Three Primary Views</a:t>
            </a:r>
            <a:endParaRPr sz="3200">
              <a:solidFill>
                <a:srgbClr val="02B3E4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87" name="Google Shape;187;p44"/>
          <p:cNvSpPr txBox="1"/>
          <p:nvPr/>
        </p:nvSpPr>
        <p:spPr>
          <a:xfrm>
            <a:off x="296450" y="2244600"/>
            <a:ext cx="7211100" cy="7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By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using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the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pt-PT" b="1" i="1" dirty="0">
                <a:latin typeface="Open Sans Light"/>
                <a:ea typeface="Open Sans Light"/>
                <a:cs typeface="Open Sans Light"/>
                <a:sym typeface="Open Sans Light"/>
              </a:rPr>
              <a:t>Google </a:t>
            </a:r>
            <a:r>
              <a:rPr lang="pt-PT" b="1" i="1" dirty="0" err="1">
                <a:latin typeface="Open Sans Light"/>
                <a:ea typeface="Open Sans Light"/>
                <a:cs typeface="Open Sans Light"/>
                <a:sym typeface="Open Sans Light"/>
              </a:rPr>
              <a:t>Merchandise</a:t>
            </a:r>
            <a:r>
              <a:rPr lang="pt-PT" b="1" i="1" dirty="0"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pt-PT" b="1" i="1" dirty="0" err="1">
                <a:latin typeface="Open Sans Light"/>
                <a:ea typeface="Open Sans Light"/>
                <a:cs typeface="Open Sans Light"/>
                <a:sym typeface="Open Sans Light"/>
              </a:rPr>
              <a:t>Store</a:t>
            </a:r>
            <a:r>
              <a:rPr lang="pt-PT" b="1" i="1" dirty="0">
                <a:latin typeface="Open Sans Light"/>
                <a:ea typeface="Open Sans Light"/>
                <a:cs typeface="Open Sans Light"/>
                <a:sym typeface="Open Sans Light"/>
              </a:rPr>
              <a:t> Demo </a:t>
            </a:r>
            <a:r>
              <a:rPr lang="pt-PT" b="1" i="1" dirty="0" err="1">
                <a:latin typeface="Open Sans Light"/>
                <a:ea typeface="Open Sans Light"/>
                <a:cs typeface="Open Sans Light"/>
                <a:sym typeface="Open Sans Light"/>
              </a:rPr>
              <a:t>Account</a:t>
            </a:r>
            <a:r>
              <a:rPr lang="pt-PT" b="1" i="1" dirty="0"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and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checking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the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 Top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level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aspects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, some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things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be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 come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apparent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PT" dirty="0"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The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account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is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called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 “</a:t>
            </a:r>
            <a:r>
              <a:rPr lang="pt-PT" b="1" dirty="0">
                <a:latin typeface="Open Sans Light"/>
                <a:ea typeface="Open Sans Light"/>
                <a:cs typeface="Open Sans Light"/>
                <a:sym typeface="Open Sans Light"/>
              </a:rPr>
              <a:t>Demo </a:t>
            </a:r>
            <a:r>
              <a:rPr lang="pt-PT" b="1" dirty="0" err="1">
                <a:latin typeface="Open Sans Light"/>
                <a:ea typeface="Open Sans Light"/>
                <a:cs typeface="Open Sans Light"/>
                <a:sym typeface="Open Sans Light"/>
              </a:rPr>
              <a:t>Account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”.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In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the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account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,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there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is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 a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Property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called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 “</a:t>
            </a:r>
            <a:r>
              <a:rPr lang="pt-PT" b="1" i="1" dirty="0">
                <a:latin typeface="Open Sans Light"/>
                <a:ea typeface="Open Sans Light"/>
                <a:cs typeface="Open Sans Light"/>
                <a:sym typeface="Open Sans Light"/>
              </a:rPr>
              <a:t>Google </a:t>
            </a:r>
            <a:r>
              <a:rPr lang="pt-PT" b="1" i="1" dirty="0" err="1">
                <a:latin typeface="Open Sans Light"/>
                <a:ea typeface="Open Sans Light"/>
                <a:cs typeface="Open Sans Light"/>
                <a:sym typeface="Open Sans Light"/>
              </a:rPr>
              <a:t>Merchandise</a:t>
            </a:r>
            <a:r>
              <a:rPr lang="pt-PT" b="1" i="1" dirty="0"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pt-PT" b="1" i="1" dirty="0" err="1">
                <a:latin typeface="Open Sans Light"/>
                <a:ea typeface="Open Sans Light"/>
                <a:cs typeface="Open Sans Light"/>
                <a:sym typeface="Open Sans Light"/>
              </a:rPr>
              <a:t>Store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”.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In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the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Property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,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there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 are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three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views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, “</a:t>
            </a:r>
            <a:r>
              <a:rPr lang="pt-PT" b="1" i="1" dirty="0">
                <a:latin typeface="Open Sans Light"/>
                <a:ea typeface="Open Sans Light"/>
                <a:cs typeface="Open Sans Light"/>
                <a:sym typeface="Open Sans Light"/>
              </a:rPr>
              <a:t>Master </a:t>
            </a:r>
            <a:r>
              <a:rPr lang="pt-PT" b="1" i="1" dirty="0" err="1">
                <a:latin typeface="Open Sans Light"/>
                <a:ea typeface="Open Sans Light"/>
                <a:cs typeface="Open Sans Light"/>
                <a:sym typeface="Open Sans Light"/>
              </a:rPr>
              <a:t>View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”, “</a:t>
            </a:r>
            <a:r>
              <a:rPr lang="pt-PT" b="1" i="1" dirty="0" err="1">
                <a:latin typeface="Open Sans Light"/>
                <a:ea typeface="Open Sans Light"/>
                <a:cs typeface="Open Sans Light"/>
                <a:sym typeface="Open Sans Light"/>
              </a:rPr>
              <a:t>Test</a:t>
            </a:r>
            <a:r>
              <a:rPr lang="pt-PT" b="1" i="1" dirty="0"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pt-PT" b="1" i="1" dirty="0" err="1">
                <a:latin typeface="Open Sans Light"/>
                <a:ea typeface="Open Sans Light"/>
                <a:cs typeface="Open Sans Light"/>
                <a:sym typeface="Open Sans Light"/>
              </a:rPr>
              <a:t>View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”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and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 “</a:t>
            </a:r>
            <a:r>
              <a:rPr lang="pt-PT" b="1" i="1" dirty="0" err="1">
                <a:latin typeface="Open Sans Light"/>
                <a:ea typeface="Open Sans Light"/>
                <a:cs typeface="Open Sans Light"/>
                <a:sym typeface="Open Sans Light"/>
              </a:rPr>
              <a:t>Raw</a:t>
            </a:r>
            <a:r>
              <a:rPr lang="pt-PT" b="1" i="1" dirty="0">
                <a:latin typeface="Open Sans Light"/>
                <a:ea typeface="Open Sans Light"/>
                <a:cs typeface="Open Sans Light"/>
                <a:sym typeface="Open Sans Light"/>
              </a:rPr>
              <a:t> Data </a:t>
            </a:r>
            <a:r>
              <a:rPr lang="pt-PT" b="1" i="1" dirty="0" err="1">
                <a:latin typeface="Open Sans Light"/>
                <a:ea typeface="Open Sans Light"/>
                <a:cs typeface="Open Sans Light"/>
                <a:sym typeface="Open Sans Light"/>
              </a:rPr>
              <a:t>View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”.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endParaRPr lang="pt-PT" dirty="0"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The</a:t>
            </a:r>
            <a:r>
              <a:rPr lang="pt-PT" dirty="0"/>
              <a:t> Master </a:t>
            </a:r>
            <a:r>
              <a:rPr lang="pt-PT" dirty="0" err="1"/>
              <a:t>View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going</a:t>
            </a:r>
            <a:r>
              <a:rPr lang="pt-PT" dirty="0"/>
              <a:t> to </a:t>
            </a:r>
            <a:r>
              <a:rPr lang="pt-PT" dirty="0" err="1"/>
              <a:t>be</a:t>
            </a:r>
            <a:r>
              <a:rPr lang="pt-PT" dirty="0"/>
              <a:t> </a:t>
            </a:r>
            <a:r>
              <a:rPr lang="pt-PT" dirty="0" err="1"/>
              <a:t>where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final </a:t>
            </a:r>
            <a:r>
              <a:rPr lang="pt-PT" dirty="0" err="1"/>
              <a:t>implementations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tests</a:t>
            </a:r>
            <a:r>
              <a:rPr lang="pt-PT" dirty="0"/>
              <a:t> </a:t>
            </a:r>
            <a:r>
              <a:rPr lang="pt-PT" dirty="0" err="1"/>
              <a:t>that</a:t>
            </a:r>
            <a:r>
              <a:rPr lang="pt-PT" dirty="0"/>
              <a:t> </a:t>
            </a:r>
            <a:r>
              <a:rPr lang="pt-PT" dirty="0" err="1"/>
              <a:t>we</a:t>
            </a:r>
            <a:r>
              <a:rPr lang="pt-PT" dirty="0"/>
              <a:t> </a:t>
            </a:r>
            <a:r>
              <a:rPr lang="pt-PT" dirty="0" err="1"/>
              <a:t>did</a:t>
            </a:r>
            <a:r>
              <a:rPr lang="pt-PT" dirty="0"/>
              <a:t> in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Test</a:t>
            </a:r>
            <a:r>
              <a:rPr lang="pt-PT" dirty="0"/>
              <a:t> </a:t>
            </a:r>
            <a:r>
              <a:rPr lang="pt-PT" dirty="0" err="1"/>
              <a:t>View</a:t>
            </a:r>
            <a:r>
              <a:rPr lang="pt-PT" dirty="0"/>
              <a:t> are </a:t>
            </a:r>
            <a:r>
              <a:rPr lang="pt-PT" dirty="0" err="1"/>
              <a:t>going</a:t>
            </a:r>
            <a:r>
              <a:rPr lang="pt-PT" dirty="0"/>
              <a:t> to </a:t>
            </a:r>
            <a:r>
              <a:rPr lang="pt-PT" dirty="0" err="1"/>
              <a:t>be</a:t>
            </a:r>
            <a:r>
              <a:rPr lang="pt-PT" dirty="0"/>
              <a:t> </a:t>
            </a:r>
            <a:r>
              <a:rPr lang="pt-PT" dirty="0" err="1"/>
              <a:t>placed</a:t>
            </a:r>
            <a:r>
              <a:rPr lang="pt-PT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Raw</a:t>
            </a:r>
            <a:r>
              <a:rPr lang="pt-PT" dirty="0"/>
              <a:t> Data </a:t>
            </a:r>
            <a:r>
              <a:rPr lang="pt-PT" dirty="0" err="1"/>
              <a:t>View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going</a:t>
            </a:r>
            <a:r>
              <a:rPr lang="pt-PT" dirty="0"/>
              <a:t> to serve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purpose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backing</a:t>
            </a:r>
            <a:r>
              <a:rPr lang="pt-PT" dirty="0"/>
              <a:t> </a:t>
            </a:r>
            <a:r>
              <a:rPr lang="pt-PT" dirty="0" err="1"/>
              <a:t>up</a:t>
            </a:r>
            <a:r>
              <a:rPr lang="pt-PT" dirty="0"/>
              <a:t> </a:t>
            </a:r>
            <a:r>
              <a:rPr lang="pt-PT" dirty="0" err="1"/>
              <a:t>our</a:t>
            </a:r>
            <a:r>
              <a:rPr lang="pt-PT" dirty="0"/>
              <a:t> data, in case </a:t>
            </a:r>
            <a:r>
              <a:rPr lang="pt-PT" dirty="0" err="1"/>
              <a:t>anything</a:t>
            </a:r>
            <a:r>
              <a:rPr lang="pt-PT" dirty="0"/>
              <a:t> </a:t>
            </a:r>
            <a:r>
              <a:rPr lang="pt-PT" dirty="0" err="1"/>
              <a:t>goes</a:t>
            </a:r>
            <a:r>
              <a:rPr lang="pt-PT" dirty="0"/>
              <a:t> </a:t>
            </a:r>
            <a:r>
              <a:rPr lang="pt-PT" dirty="0" err="1"/>
              <a:t>wrong</a:t>
            </a:r>
            <a:r>
              <a:rPr lang="pt-PT" dirty="0"/>
              <a:t>, </a:t>
            </a:r>
            <a:r>
              <a:rPr lang="pt-PT" dirty="0" err="1"/>
              <a:t>such</a:t>
            </a:r>
            <a:r>
              <a:rPr lang="pt-PT" dirty="0"/>
              <a:t> as in a </a:t>
            </a:r>
            <a:r>
              <a:rPr lang="pt-PT" dirty="0" err="1"/>
              <a:t>filter</a:t>
            </a:r>
            <a:r>
              <a:rPr lang="pt-PT" dirty="0"/>
              <a:t>, </a:t>
            </a:r>
            <a:r>
              <a:rPr lang="pt-PT" dirty="0" err="1"/>
              <a:t>that</a:t>
            </a:r>
            <a:r>
              <a:rPr lang="pt-PT" dirty="0"/>
              <a:t> </a:t>
            </a:r>
            <a:r>
              <a:rPr lang="pt-PT" dirty="0" err="1"/>
              <a:t>could</a:t>
            </a:r>
            <a:r>
              <a:rPr lang="pt-PT" dirty="0"/>
              <a:t> </a:t>
            </a:r>
            <a:r>
              <a:rPr lang="pt-PT" dirty="0" err="1"/>
              <a:t>potentially</a:t>
            </a:r>
            <a:r>
              <a:rPr lang="pt-PT" dirty="0"/>
              <a:t> cause data </a:t>
            </a:r>
            <a:r>
              <a:rPr lang="pt-PT" dirty="0" err="1"/>
              <a:t>loss</a:t>
            </a:r>
            <a:r>
              <a:rPr lang="pt-PT" dirty="0"/>
              <a:t>.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endParaRPr dirty="0"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672D1A2F-8EDF-4DD5-BDA7-3625441B9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83" y="5402688"/>
            <a:ext cx="6255633" cy="212216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5"/>
          <p:cNvSpPr txBox="1">
            <a:spLocks noGrp="1"/>
          </p:cNvSpPr>
          <p:nvPr>
            <p:ph type="title"/>
          </p:nvPr>
        </p:nvSpPr>
        <p:spPr>
          <a:xfrm>
            <a:off x="264895" y="959146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2B3E4"/>
                </a:solidFill>
                <a:latin typeface="Open Sans"/>
                <a:ea typeface="Open Sans"/>
                <a:cs typeface="Open Sans"/>
                <a:sym typeface="Open Sans"/>
              </a:rPr>
              <a:t>2. Best Practice Check: </a:t>
            </a:r>
            <a:endParaRPr sz="3200">
              <a:solidFill>
                <a:srgbClr val="02B3E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2B3E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   Filtering Internal Traffic</a:t>
            </a:r>
            <a:endParaRPr sz="3200">
              <a:solidFill>
                <a:srgbClr val="02B3E4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93" name="Google Shape;193;p45"/>
          <p:cNvSpPr txBox="1"/>
          <p:nvPr/>
        </p:nvSpPr>
        <p:spPr>
          <a:xfrm>
            <a:off x="296450" y="2244600"/>
            <a:ext cx="7211100" cy="7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sz="1800" dirty="0" err="1"/>
              <a:t>There</a:t>
            </a:r>
            <a:r>
              <a:rPr lang="pt-PT" sz="1800" dirty="0"/>
              <a:t> are </a:t>
            </a:r>
            <a:r>
              <a:rPr lang="pt-PT" sz="1800" dirty="0" err="1"/>
              <a:t>three</a:t>
            </a:r>
            <a:r>
              <a:rPr lang="pt-PT" sz="1800" dirty="0"/>
              <a:t> </a:t>
            </a:r>
            <a:r>
              <a:rPr lang="pt-PT" sz="1800" dirty="0" err="1"/>
              <a:t>filters</a:t>
            </a:r>
            <a:r>
              <a:rPr lang="pt-PT" sz="1800" dirty="0"/>
              <a:t> in </a:t>
            </a:r>
            <a:r>
              <a:rPr lang="pt-PT" sz="1800" dirty="0" err="1"/>
              <a:t>the</a:t>
            </a:r>
            <a:r>
              <a:rPr lang="pt-PT" sz="1800" dirty="0"/>
              <a:t> </a:t>
            </a:r>
            <a:r>
              <a:rPr lang="pt-PT" sz="1800" dirty="0" err="1"/>
              <a:t>account</a:t>
            </a:r>
            <a:r>
              <a:rPr lang="pt-PT" sz="1800" dirty="0"/>
              <a:t>, </a:t>
            </a:r>
            <a:r>
              <a:rPr lang="pt-PT" sz="1800" dirty="0" err="1"/>
              <a:t>which</a:t>
            </a:r>
            <a:r>
              <a:rPr lang="pt-PT" sz="1800" dirty="0"/>
              <a:t> are:</a:t>
            </a:r>
          </a:p>
          <a:p>
            <a:endParaRPr lang="pt-PT" sz="1800" dirty="0"/>
          </a:p>
          <a:p>
            <a:pPr marL="514350" indent="-514350">
              <a:buAutoNum type="arabicPeriod"/>
            </a:pPr>
            <a:r>
              <a:rPr lang="pt-PT" sz="1800" b="1" i="1" dirty="0" err="1"/>
              <a:t>Exclude</a:t>
            </a:r>
            <a:r>
              <a:rPr lang="pt-PT" sz="1800" b="1" i="1" dirty="0"/>
              <a:t> </a:t>
            </a:r>
            <a:r>
              <a:rPr lang="pt-PT" sz="1800" b="1" i="1" dirty="0" err="1"/>
              <a:t>Product</a:t>
            </a:r>
            <a:r>
              <a:rPr lang="pt-PT" sz="1800" dirty="0"/>
              <a:t> (</a:t>
            </a:r>
            <a:r>
              <a:rPr lang="pt-PT" sz="1800" dirty="0" err="1"/>
              <a:t>not</a:t>
            </a:r>
            <a:r>
              <a:rPr lang="pt-PT" sz="1800" dirty="0"/>
              <a:t> </a:t>
            </a:r>
            <a:r>
              <a:rPr lang="pt-PT" sz="1800" dirty="0" err="1"/>
              <a:t>implemented</a:t>
            </a:r>
            <a:r>
              <a:rPr lang="pt-PT" sz="1800" dirty="0"/>
              <a:t> in </a:t>
            </a:r>
            <a:r>
              <a:rPr lang="pt-PT" sz="1800" dirty="0" err="1"/>
              <a:t>any</a:t>
            </a:r>
            <a:r>
              <a:rPr lang="pt-PT" sz="1800" dirty="0"/>
              <a:t> </a:t>
            </a:r>
            <a:r>
              <a:rPr lang="pt-PT" sz="1800" dirty="0" err="1"/>
              <a:t>view</a:t>
            </a:r>
            <a:r>
              <a:rPr lang="pt-PT" sz="1800" dirty="0"/>
              <a:t>)</a:t>
            </a:r>
            <a:r>
              <a:rPr lang="en-US" sz="1800" dirty="0"/>
              <a:t>.</a:t>
            </a:r>
          </a:p>
          <a:p>
            <a:pPr marL="514350" indent="-514350">
              <a:buAutoNum type="arabicPeriod"/>
            </a:pPr>
            <a:r>
              <a:rPr lang="en-US" sz="1800" b="1" i="1" dirty="0"/>
              <a:t>Include Hostname </a:t>
            </a:r>
            <a:r>
              <a:rPr lang="en-US" sz="1800" dirty="0"/>
              <a:t>(includes hostname “.googlemerchandisestore.com”), implemented in three views.</a:t>
            </a:r>
          </a:p>
          <a:p>
            <a:pPr marL="514350" indent="-514350">
              <a:buAutoNum type="arabicPeriod"/>
            </a:pPr>
            <a:r>
              <a:rPr lang="en-US" sz="1800" b="1" i="1" dirty="0"/>
              <a:t>Rename AdWords Campaigns </a:t>
            </a:r>
            <a:r>
              <a:rPr lang="en-US" sz="1800" dirty="0"/>
              <a:t>(Replaces Campaign Name strings using the Regex “^(.*?)(~|-)”), a Replace String is not yet provided, this filter was applied to the three views.</a:t>
            </a:r>
          </a:p>
          <a:p>
            <a:pPr marL="514350" indent="-514350">
              <a:buAutoNum type="arabicPeriod"/>
            </a:pPr>
            <a:endParaRPr lang="en-US" sz="1800" dirty="0"/>
          </a:p>
          <a:p>
            <a:pPr marL="514350" indent="-514350">
              <a:buAutoNum type="arabicPeriod"/>
            </a:pPr>
            <a:endParaRPr lang="en-US" sz="1800" dirty="0"/>
          </a:p>
          <a:p>
            <a:pPr marL="514350" indent="-514350">
              <a:buAutoNum type="arabicPeriod"/>
            </a:pPr>
            <a:endParaRPr lang="en-US" sz="1800" dirty="0"/>
          </a:p>
          <a:p>
            <a:pPr marL="514350" indent="-514350">
              <a:buAutoNum type="arabicPeriod"/>
            </a:pPr>
            <a:endParaRPr lang="en-US" sz="1800" dirty="0"/>
          </a:p>
          <a:p>
            <a:pPr marL="514350" indent="-514350">
              <a:buAutoNum type="arabicPeriod"/>
            </a:pPr>
            <a:endParaRPr lang="en-US" sz="1800" dirty="0"/>
          </a:p>
          <a:p>
            <a:pPr marL="514350" indent="-514350">
              <a:buAutoNum type="arabicPeriod"/>
            </a:pPr>
            <a:endParaRPr lang="en-US" sz="1800" dirty="0"/>
          </a:p>
          <a:p>
            <a:pPr marL="514350" indent="-514350">
              <a:buAutoNum type="arabicPeriod"/>
            </a:pPr>
            <a:endParaRPr lang="en-US" sz="1800" dirty="0"/>
          </a:p>
          <a:p>
            <a:r>
              <a:rPr lang="en-US" sz="1800" dirty="0"/>
              <a:t>Access to add a filter was not provided, but to do so we would Click on Filter and then Add filter.</a:t>
            </a:r>
          </a:p>
          <a:p>
            <a:r>
              <a:rPr lang="en-US" sz="1800" dirty="0"/>
              <a:t>As explained in the lessons, by making sure that the filter is set to exclude we would have to add a regular expression, such as “244\.90\.156\.([1-9]|1[0-5]$”, which filter out the rage from “244.90.156.1” until “244.90.156.15”.</a:t>
            </a:r>
            <a:endParaRPr lang="pt-PT" sz="1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81FC15-BACB-4477-A789-C1069B3C9E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850" y="4804433"/>
            <a:ext cx="6961726" cy="96457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6"/>
          <p:cNvSpPr txBox="1">
            <a:spLocks noGrp="1"/>
          </p:cNvSpPr>
          <p:nvPr>
            <p:ph type="ctrTitle"/>
          </p:nvPr>
        </p:nvSpPr>
        <p:spPr>
          <a:xfrm>
            <a:off x="347400" y="1947675"/>
            <a:ext cx="7077600" cy="29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AFBFC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Part Two:</a:t>
            </a:r>
            <a:r>
              <a:rPr lang="en" sz="4800" b="1">
                <a:solidFill>
                  <a:srgbClr val="FAFBFC"/>
                </a:solidFill>
              </a:rPr>
              <a:t> </a:t>
            </a:r>
            <a:endParaRPr sz="4800">
              <a:solidFill>
                <a:srgbClr val="FAFBFC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AFBFC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Data Exploration</a:t>
            </a:r>
            <a:endParaRPr sz="3600">
              <a:solidFill>
                <a:srgbClr val="FAFBF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46"/>
          <p:cNvSpPr/>
          <p:nvPr/>
        </p:nvSpPr>
        <p:spPr>
          <a:xfrm>
            <a:off x="964649" y="4818975"/>
            <a:ext cx="716700" cy="44100"/>
          </a:xfrm>
          <a:prstGeom prst="rect">
            <a:avLst/>
          </a:prstGeom>
          <a:solidFill>
            <a:srgbClr val="15C26B"/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2B3E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Standard Display - Audience</a:t>
            </a:r>
            <a:endParaRPr sz="3200">
              <a:solidFill>
                <a:srgbClr val="02B3E4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2B3E4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12" name="Google Shape;212;p48"/>
          <p:cNvSpPr txBox="1">
            <a:spLocks noGrp="1"/>
          </p:cNvSpPr>
          <p:nvPr>
            <p:ph type="body" idx="1"/>
          </p:nvPr>
        </p:nvSpPr>
        <p:spPr>
          <a:xfrm>
            <a:off x="264950" y="1686225"/>
            <a:ext cx="7242600" cy="134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From the Audience Overview Report</a:t>
            </a:r>
            <a:r>
              <a:rPr lang="pt-PT" dirty="0"/>
              <a:t>, </a:t>
            </a:r>
            <a:r>
              <a:rPr lang="pt-PT" dirty="0" err="1"/>
              <a:t>by</a:t>
            </a:r>
            <a:r>
              <a:rPr lang="pt-PT" dirty="0"/>
              <a:t> </a:t>
            </a:r>
            <a:r>
              <a:rPr lang="pt-PT" dirty="0" err="1"/>
              <a:t>seleting</a:t>
            </a:r>
            <a:r>
              <a:rPr lang="pt-PT" dirty="0"/>
              <a:t> a </a:t>
            </a:r>
            <a:r>
              <a:rPr lang="pt-PT" dirty="0" err="1"/>
              <a:t>period</a:t>
            </a:r>
            <a:r>
              <a:rPr lang="pt-PT" dirty="0"/>
              <a:t> </a:t>
            </a:r>
            <a:r>
              <a:rPr lang="pt-PT" dirty="0" err="1"/>
              <a:t>between</a:t>
            </a:r>
            <a:r>
              <a:rPr lang="pt-PT" dirty="0"/>
              <a:t> 1 Jan 2020 </a:t>
            </a:r>
            <a:r>
              <a:rPr lang="pt-PT" dirty="0" err="1"/>
              <a:t>and</a:t>
            </a:r>
            <a:r>
              <a:rPr lang="pt-PT" dirty="0"/>
              <a:t> 31 Mar 2020, </a:t>
            </a:r>
            <a:r>
              <a:rPr lang="pt-PT" dirty="0" err="1"/>
              <a:t>we</a:t>
            </a:r>
            <a:r>
              <a:rPr lang="pt-PT" dirty="0"/>
              <a:t> can </a:t>
            </a:r>
            <a:r>
              <a:rPr lang="pt-PT" dirty="0" err="1"/>
              <a:t>see</a:t>
            </a:r>
            <a:r>
              <a:rPr lang="pt-PT" dirty="0"/>
              <a:t> </a:t>
            </a:r>
            <a:r>
              <a:rPr lang="pt-PT" dirty="0" err="1"/>
              <a:t>that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week</a:t>
            </a:r>
            <a:r>
              <a:rPr lang="pt-PT" dirty="0"/>
              <a:t> </a:t>
            </a:r>
            <a:r>
              <a:rPr lang="pt-PT" dirty="0" err="1"/>
              <a:t>with</a:t>
            </a:r>
            <a:r>
              <a:rPr lang="pt-PT" dirty="0"/>
              <a:t> </a:t>
            </a:r>
            <a:r>
              <a:rPr lang="pt-PT" dirty="0" err="1"/>
              <a:t>lowest</a:t>
            </a:r>
            <a:r>
              <a:rPr lang="pt-PT" dirty="0"/>
              <a:t> </a:t>
            </a:r>
            <a:r>
              <a:rPr lang="pt-PT" dirty="0" err="1"/>
              <a:t>users</a:t>
            </a:r>
            <a:r>
              <a:rPr lang="pt-PT" dirty="0"/>
              <a:t> </a:t>
            </a:r>
            <a:r>
              <a:rPr lang="pt-PT" dirty="0" err="1"/>
              <a:t>was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last</a:t>
            </a:r>
            <a:r>
              <a:rPr lang="pt-PT" dirty="0"/>
              <a:t> </a:t>
            </a:r>
            <a:r>
              <a:rPr lang="pt-PT" dirty="0" err="1"/>
              <a:t>one</a:t>
            </a:r>
            <a:r>
              <a:rPr lang="pt-PT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The</a:t>
            </a:r>
            <a:r>
              <a:rPr lang="pt-PT" dirty="0"/>
              <a:t> complete </a:t>
            </a:r>
            <a:r>
              <a:rPr lang="pt-PT" dirty="0" err="1"/>
              <a:t>week</a:t>
            </a:r>
            <a:r>
              <a:rPr lang="pt-PT" dirty="0"/>
              <a:t> </a:t>
            </a:r>
            <a:r>
              <a:rPr lang="pt-PT" dirty="0" err="1"/>
              <a:t>with</a:t>
            </a:r>
            <a:r>
              <a:rPr lang="pt-PT" dirty="0"/>
              <a:t> </a:t>
            </a:r>
            <a:r>
              <a:rPr lang="pt-PT" dirty="0" err="1"/>
              <a:t>least</a:t>
            </a:r>
            <a:r>
              <a:rPr lang="pt-PT" dirty="0"/>
              <a:t> </a:t>
            </a:r>
            <a:r>
              <a:rPr lang="pt-PT" dirty="0" err="1"/>
              <a:t>amount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users</a:t>
            </a:r>
            <a:r>
              <a:rPr lang="pt-PT" dirty="0"/>
              <a:t> </a:t>
            </a:r>
            <a:r>
              <a:rPr lang="pt-PT" dirty="0" err="1"/>
              <a:t>was</a:t>
            </a:r>
            <a:r>
              <a:rPr lang="pt-PT" dirty="0"/>
              <a:t> </a:t>
            </a:r>
            <a:r>
              <a:rPr lang="pt-PT" dirty="0" err="1"/>
              <a:t>from</a:t>
            </a:r>
            <a:r>
              <a:rPr lang="pt-PT" dirty="0"/>
              <a:t> 15 Mar 2020 to 21 Mar 2020.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biggest</a:t>
            </a:r>
            <a:r>
              <a:rPr lang="pt-PT" dirty="0"/>
              <a:t> </a:t>
            </a:r>
            <a:r>
              <a:rPr lang="pt-PT" dirty="0" err="1"/>
              <a:t>amount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users</a:t>
            </a:r>
            <a:r>
              <a:rPr lang="pt-PT" dirty="0"/>
              <a:t> </a:t>
            </a:r>
            <a:r>
              <a:rPr lang="pt-PT" dirty="0" err="1"/>
              <a:t>week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12 Jan 2020 to 18 Jan 2020.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213" name="Google Shape;213;p48"/>
          <p:cNvSpPr txBox="1"/>
          <p:nvPr/>
        </p:nvSpPr>
        <p:spPr>
          <a:xfrm>
            <a:off x="276225" y="9496425"/>
            <a:ext cx="7343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EDAFA0-206C-4015-A5D5-0A19291D4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287" y="5611509"/>
            <a:ext cx="7009825" cy="8674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258CBD8-4AE8-49DE-BCD1-D9ED3117F0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730" y="7472509"/>
            <a:ext cx="7445670" cy="8996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9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2B3E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Standard Display - Audience</a:t>
            </a:r>
            <a:endParaRPr sz="3200">
              <a:solidFill>
                <a:srgbClr val="02B3E4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2B3E4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25" name="Google Shape;225;p49"/>
          <p:cNvSpPr txBox="1">
            <a:spLocks noGrp="1"/>
          </p:cNvSpPr>
          <p:nvPr>
            <p:ph type="body" idx="1"/>
          </p:nvPr>
        </p:nvSpPr>
        <p:spPr>
          <a:xfrm>
            <a:off x="264950" y="1686224"/>
            <a:ext cx="7242600" cy="24092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 you have any ideas why certain trends are associated with these specific weeks?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>
              <a:buNone/>
            </a:pPr>
            <a:r>
              <a:rPr lang="pt-PT" dirty="0" err="1"/>
              <a:t>Although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smallest</a:t>
            </a:r>
            <a:r>
              <a:rPr lang="pt-PT" dirty="0"/>
              <a:t> </a:t>
            </a:r>
            <a:r>
              <a:rPr lang="pt-PT" dirty="0" err="1"/>
              <a:t>week</a:t>
            </a:r>
            <a:r>
              <a:rPr lang="pt-PT" dirty="0"/>
              <a:t> </a:t>
            </a:r>
            <a:r>
              <a:rPr lang="pt-PT" dirty="0" err="1"/>
              <a:t>was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one</a:t>
            </a:r>
            <a:r>
              <a:rPr lang="pt-PT" dirty="0"/>
              <a:t> </a:t>
            </a:r>
            <a:r>
              <a:rPr lang="pt-PT" dirty="0" err="1"/>
              <a:t>from</a:t>
            </a:r>
            <a:r>
              <a:rPr lang="pt-PT" dirty="0"/>
              <a:t> 29 Mar 2020 to 31 Mar 2020, </a:t>
            </a:r>
            <a:r>
              <a:rPr lang="pt-PT" dirty="0" err="1"/>
              <a:t>this</a:t>
            </a:r>
            <a:r>
              <a:rPr lang="pt-PT" dirty="0"/>
              <a:t> </a:t>
            </a:r>
            <a:r>
              <a:rPr lang="pt-PT" dirty="0" err="1"/>
              <a:t>was</a:t>
            </a:r>
            <a:r>
              <a:rPr lang="pt-PT" dirty="0"/>
              <a:t> </a:t>
            </a:r>
            <a:r>
              <a:rPr lang="pt-PT" dirty="0" err="1"/>
              <a:t>due</a:t>
            </a:r>
            <a:r>
              <a:rPr lang="pt-PT" dirty="0"/>
              <a:t> to </a:t>
            </a:r>
            <a:r>
              <a:rPr lang="pt-PT" dirty="0" err="1"/>
              <a:t>it</a:t>
            </a:r>
            <a:r>
              <a:rPr lang="pt-PT" dirty="0"/>
              <a:t> </a:t>
            </a:r>
            <a:r>
              <a:rPr lang="pt-PT" dirty="0" err="1"/>
              <a:t>only</a:t>
            </a:r>
            <a:r>
              <a:rPr lang="pt-PT" dirty="0"/>
              <a:t> </a:t>
            </a:r>
            <a:r>
              <a:rPr lang="pt-PT" dirty="0" err="1"/>
              <a:t>showing</a:t>
            </a:r>
            <a:r>
              <a:rPr lang="pt-PT" dirty="0"/>
              <a:t> </a:t>
            </a:r>
            <a:r>
              <a:rPr lang="pt-PT" dirty="0" err="1"/>
              <a:t>two</a:t>
            </a:r>
            <a:r>
              <a:rPr lang="pt-PT" dirty="0"/>
              <a:t> </a:t>
            </a:r>
            <a:r>
              <a:rPr lang="pt-PT" dirty="0" err="1"/>
              <a:t>days</a:t>
            </a:r>
            <a:r>
              <a:rPr lang="pt-PT" dirty="0"/>
              <a:t>. </a:t>
            </a:r>
          </a:p>
          <a:p>
            <a:pPr marL="0" lvl="0" indent="0">
              <a:buNone/>
            </a:pP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first</a:t>
            </a:r>
            <a:r>
              <a:rPr lang="pt-PT" dirty="0"/>
              <a:t> </a:t>
            </a:r>
            <a:r>
              <a:rPr lang="pt-PT" dirty="0" err="1"/>
              <a:t>week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also</a:t>
            </a:r>
            <a:r>
              <a:rPr lang="pt-PT" dirty="0"/>
              <a:t> </a:t>
            </a:r>
            <a:r>
              <a:rPr lang="pt-PT" dirty="0" err="1"/>
              <a:t>incomplete</a:t>
            </a:r>
            <a:r>
              <a:rPr lang="pt-PT" dirty="0"/>
              <a:t>. </a:t>
            </a:r>
          </a:p>
          <a:p>
            <a:pPr marL="0" lvl="0" indent="0">
              <a:buNone/>
            </a:pPr>
            <a:endParaRPr lang="pt-PT" dirty="0"/>
          </a:p>
          <a:p>
            <a:pPr marL="0" lvl="0" indent="0">
              <a:buNone/>
            </a:pPr>
            <a:r>
              <a:rPr lang="pt-PT" dirty="0" err="1"/>
              <a:t>While</a:t>
            </a:r>
            <a:r>
              <a:rPr lang="pt-PT" dirty="0"/>
              <a:t> </a:t>
            </a:r>
            <a:r>
              <a:rPr lang="pt-PT" dirty="0" err="1"/>
              <a:t>I’m</a:t>
            </a:r>
            <a:r>
              <a:rPr lang="pt-PT" dirty="0"/>
              <a:t> </a:t>
            </a:r>
            <a:r>
              <a:rPr lang="pt-PT" dirty="0" err="1"/>
              <a:t>not</a:t>
            </a:r>
            <a:r>
              <a:rPr lang="pt-PT" dirty="0"/>
              <a:t> </a:t>
            </a:r>
            <a:r>
              <a:rPr lang="pt-PT" dirty="0" err="1"/>
              <a:t>certain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why</a:t>
            </a:r>
            <a:r>
              <a:rPr lang="pt-PT" dirty="0"/>
              <a:t> </a:t>
            </a:r>
            <a:r>
              <a:rPr lang="pt-PT" dirty="0" err="1"/>
              <a:t>this</a:t>
            </a:r>
            <a:r>
              <a:rPr lang="pt-PT" dirty="0"/>
              <a:t> </a:t>
            </a:r>
            <a:r>
              <a:rPr lang="pt-PT" dirty="0" err="1"/>
              <a:t>decrease</a:t>
            </a:r>
            <a:r>
              <a:rPr lang="pt-PT" dirty="0"/>
              <a:t> </a:t>
            </a:r>
            <a:r>
              <a:rPr lang="pt-PT" dirty="0" err="1"/>
              <a:t>happened</a:t>
            </a:r>
            <a:r>
              <a:rPr lang="pt-PT" dirty="0"/>
              <a:t>, </a:t>
            </a:r>
            <a:r>
              <a:rPr lang="pt-PT" dirty="0" err="1"/>
              <a:t>something</a:t>
            </a:r>
            <a:r>
              <a:rPr lang="pt-PT" dirty="0"/>
              <a:t> </a:t>
            </a:r>
            <a:r>
              <a:rPr lang="pt-PT" dirty="0" err="1"/>
              <a:t>that</a:t>
            </a:r>
            <a:r>
              <a:rPr lang="pt-PT" dirty="0"/>
              <a:t> can </a:t>
            </a:r>
            <a:r>
              <a:rPr lang="pt-PT" dirty="0" err="1"/>
              <a:t>be</a:t>
            </a:r>
            <a:r>
              <a:rPr lang="pt-PT" dirty="0"/>
              <a:t> </a:t>
            </a:r>
            <a:r>
              <a:rPr lang="pt-PT" dirty="0" err="1"/>
              <a:t>seen</a:t>
            </a:r>
            <a:r>
              <a:rPr lang="pt-PT" dirty="0"/>
              <a:t> </a:t>
            </a:r>
            <a:r>
              <a:rPr lang="pt-PT" dirty="0" err="1"/>
              <a:t>when</a:t>
            </a:r>
            <a:r>
              <a:rPr lang="pt-PT" dirty="0"/>
              <a:t> </a:t>
            </a:r>
            <a:r>
              <a:rPr lang="pt-PT" dirty="0" err="1"/>
              <a:t>comparing</a:t>
            </a:r>
            <a:r>
              <a:rPr lang="pt-PT" dirty="0"/>
              <a:t>  15 Mar 2020 – 21 Mar 2020 to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previous</a:t>
            </a:r>
            <a:r>
              <a:rPr lang="pt-PT" dirty="0"/>
              <a:t>,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that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U.S </a:t>
            </a:r>
            <a:r>
              <a:rPr lang="pt-PT" dirty="0" err="1"/>
              <a:t>users</a:t>
            </a:r>
            <a:r>
              <a:rPr lang="pt-PT" dirty="0"/>
              <a:t> </a:t>
            </a:r>
            <a:r>
              <a:rPr lang="pt-PT" dirty="0" err="1"/>
              <a:t>dropped</a:t>
            </a:r>
            <a:r>
              <a:rPr lang="pt-PT" dirty="0"/>
              <a:t> </a:t>
            </a:r>
            <a:r>
              <a:rPr lang="pt-PT" dirty="0" err="1"/>
              <a:t>by</a:t>
            </a:r>
            <a:r>
              <a:rPr lang="pt-PT" dirty="0"/>
              <a:t> 25%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although</a:t>
            </a:r>
            <a:r>
              <a:rPr lang="pt-PT" dirty="0"/>
              <a:t> </a:t>
            </a:r>
            <a:r>
              <a:rPr lang="pt-PT" dirty="0" err="1"/>
              <a:t>there</a:t>
            </a:r>
            <a:r>
              <a:rPr lang="pt-PT" dirty="0"/>
              <a:t> </a:t>
            </a:r>
            <a:r>
              <a:rPr lang="pt-PT" dirty="0" err="1"/>
              <a:t>were</a:t>
            </a:r>
            <a:r>
              <a:rPr lang="pt-PT" dirty="0"/>
              <a:t> countries </a:t>
            </a:r>
            <a:r>
              <a:rPr lang="pt-PT" dirty="0" err="1"/>
              <a:t>with</a:t>
            </a:r>
            <a:r>
              <a:rPr lang="pt-PT" dirty="0"/>
              <a:t> </a:t>
            </a:r>
            <a:r>
              <a:rPr lang="pt-PT" dirty="0" err="1"/>
              <a:t>bigger</a:t>
            </a:r>
            <a:r>
              <a:rPr lang="pt-PT" dirty="0"/>
              <a:t> </a:t>
            </a:r>
            <a:r>
              <a:rPr lang="pt-PT" dirty="0" err="1"/>
              <a:t>percentage</a:t>
            </a:r>
            <a:r>
              <a:rPr lang="pt-PT" dirty="0"/>
              <a:t> </a:t>
            </a:r>
            <a:r>
              <a:rPr lang="pt-PT" dirty="0" err="1"/>
              <a:t>drops</a:t>
            </a:r>
            <a:r>
              <a:rPr lang="pt-PT" dirty="0"/>
              <a:t> </a:t>
            </a:r>
            <a:r>
              <a:rPr lang="pt-PT" dirty="0" err="1"/>
              <a:t>or</a:t>
            </a:r>
            <a:r>
              <a:rPr lang="pt-PT" dirty="0"/>
              <a:t> </a:t>
            </a:r>
            <a:r>
              <a:rPr lang="pt-PT" dirty="0" err="1"/>
              <a:t>increases</a:t>
            </a:r>
            <a:r>
              <a:rPr lang="pt-PT" dirty="0"/>
              <a:t>, </a:t>
            </a:r>
            <a:r>
              <a:rPr lang="pt-PT" dirty="0" err="1"/>
              <a:t>the</a:t>
            </a:r>
            <a:r>
              <a:rPr lang="pt-PT" dirty="0"/>
              <a:t> United </a:t>
            </a:r>
            <a:r>
              <a:rPr lang="pt-PT" dirty="0" err="1"/>
              <a:t>States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biggest</a:t>
            </a:r>
            <a:r>
              <a:rPr lang="pt-PT" dirty="0"/>
              <a:t> </a:t>
            </a:r>
            <a:r>
              <a:rPr lang="pt-PT" dirty="0" err="1"/>
              <a:t>contributor</a:t>
            </a:r>
            <a:r>
              <a:rPr lang="pt-PT" dirty="0"/>
              <a:t> in </a:t>
            </a:r>
            <a:r>
              <a:rPr lang="pt-PT" dirty="0" err="1"/>
              <a:t>terms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absolute</a:t>
            </a:r>
            <a:r>
              <a:rPr lang="pt-PT" dirty="0"/>
              <a:t> </a:t>
            </a:r>
            <a:r>
              <a:rPr lang="pt-PT" dirty="0" err="1"/>
              <a:t>values</a:t>
            </a:r>
            <a:r>
              <a:rPr lang="pt-PT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226" name="Google Shape;226;p49"/>
          <p:cNvSpPr txBox="1"/>
          <p:nvPr/>
        </p:nvSpPr>
        <p:spPr>
          <a:xfrm>
            <a:off x="276225" y="9496425"/>
            <a:ext cx="7343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CC5204-89AF-448B-822B-07FC17C5C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68" y="6290426"/>
            <a:ext cx="6889264" cy="310467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0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2B3E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Standard Display: Acquisition</a:t>
            </a:r>
            <a:endParaRPr sz="2400">
              <a:solidFill>
                <a:srgbClr val="02B3E4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32" name="Google Shape;232;p50"/>
          <p:cNvSpPr txBox="1">
            <a:spLocks noGrp="1"/>
          </p:cNvSpPr>
          <p:nvPr>
            <p:ph type="body" idx="1"/>
          </p:nvPr>
        </p:nvSpPr>
        <p:spPr>
          <a:xfrm>
            <a:off x="264950" y="1913675"/>
            <a:ext cx="7242600" cy="15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By creating a </a:t>
            </a:r>
            <a:r>
              <a:rPr lang="en-US" dirty="0"/>
              <a:t>creating a regex filter to exclude “</a:t>
            </a:r>
            <a:r>
              <a:rPr lang="en-US" dirty="0" err="1"/>
              <a:t>Direct|Other</a:t>
            </a:r>
            <a:r>
              <a:rPr lang="en-US" dirty="0"/>
              <a:t>”, it can be clearly seen that the biggest Bounce Rate was on Display (76.54%) and the lowest was Paid Search (30.86%).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highest E-commerce Conversion Rate was on Paid Search, while the lowest was on Display and Affiliates.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9C71C3-01FC-4FF2-9004-4D56A58A6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64" y="4197122"/>
            <a:ext cx="7352999" cy="185449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1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2B3E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Standard Display: Acquisition</a:t>
            </a:r>
            <a:endParaRPr sz="2400">
              <a:solidFill>
                <a:srgbClr val="02B3E4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41" name="Google Shape;241;p51"/>
          <p:cNvSpPr txBox="1">
            <a:spLocks noGrp="1"/>
          </p:cNvSpPr>
          <p:nvPr>
            <p:ph type="body" idx="1"/>
          </p:nvPr>
        </p:nvSpPr>
        <p:spPr>
          <a:xfrm>
            <a:off x="264950" y="1913675"/>
            <a:ext cx="7242600" cy="78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Bounce Rate corresponds to a percentage </a:t>
            </a:r>
            <a:r>
              <a:rPr lang="en-US" dirty="0"/>
              <a:t>of sessions in which there wasn’t any interaction with any other page after the landing page.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Since the user doesn’t click in any page, or leaves the page, it is considered a bounce.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PT" dirty="0" err="1"/>
              <a:t>The</a:t>
            </a:r>
            <a:r>
              <a:rPr lang="pt-PT" dirty="0"/>
              <a:t> E-commerce </a:t>
            </a:r>
            <a:r>
              <a:rPr lang="pt-PT" dirty="0" err="1"/>
              <a:t>Conversion</a:t>
            </a:r>
            <a:r>
              <a:rPr lang="pt-PT" dirty="0"/>
              <a:t> rate compares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Transactions</a:t>
            </a:r>
            <a:r>
              <a:rPr lang="pt-PT" dirty="0"/>
              <a:t> </a:t>
            </a:r>
            <a:r>
              <a:rPr lang="pt-PT" dirty="0" err="1"/>
              <a:t>with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Sessions</a:t>
            </a:r>
            <a:r>
              <a:rPr lang="pt-PT" dirty="0"/>
              <a:t>, can </a:t>
            </a:r>
            <a:r>
              <a:rPr lang="pt-PT" dirty="0" err="1"/>
              <a:t>be</a:t>
            </a:r>
            <a:r>
              <a:rPr lang="pt-PT" dirty="0"/>
              <a:t> </a:t>
            </a:r>
            <a:r>
              <a:rPr lang="pt-PT" dirty="0" err="1"/>
              <a:t>derived</a:t>
            </a:r>
            <a:r>
              <a:rPr lang="pt-PT" dirty="0"/>
              <a:t> </a:t>
            </a:r>
            <a:r>
              <a:rPr lang="pt-PT" dirty="0" err="1"/>
              <a:t>using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formula “</a:t>
            </a:r>
            <a:r>
              <a:rPr lang="pt-PT" dirty="0" err="1"/>
              <a:t>Sessions</a:t>
            </a:r>
            <a:r>
              <a:rPr lang="pt-PT" dirty="0"/>
              <a:t>/</a:t>
            </a:r>
            <a:r>
              <a:rPr lang="pt-PT" dirty="0" err="1"/>
              <a:t>Transactions</a:t>
            </a:r>
            <a:r>
              <a:rPr lang="pt-PT" dirty="0"/>
              <a:t>”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242" name="Google Shape;242;p51"/>
          <p:cNvSpPr txBox="1"/>
          <p:nvPr/>
        </p:nvSpPr>
        <p:spPr>
          <a:xfrm>
            <a:off x="276225" y="9496425"/>
            <a:ext cx="7343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2"/>
          <p:cNvSpPr txBox="1">
            <a:spLocks noGrp="1"/>
          </p:cNvSpPr>
          <p:nvPr>
            <p:ph type="title"/>
          </p:nvPr>
        </p:nvSpPr>
        <p:spPr>
          <a:xfrm>
            <a:off x="264950" y="742700"/>
            <a:ext cx="7242600" cy="13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2B3E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Percentage Display: Conversion</a:t>
            </a:r>
            <a:endParaRPr sz="2400">
              <a:solidFill>
                <a:srgbClr val="02B3E4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48" name="Google Shape;248;p52"/>
          <p:cNvSpPr txBox="1">
            <a:spLocks noGrp="1"/>
          </p:cNvSpPr>
          <p:nvPr>
            <p:ph type="body" idx="1"/>
          </p:nvPr>
        </p:nvSpPr>
        <p:spPr>
          <a:xfrm>
            <a:off x="264950" y="1913674"/>
            <a:ext cx="7242600" cy="3572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 be able to answer this question, the segment was changed to the system segment “New Users”.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product Category which contributed </a:t>
            </a:r>
            <a:r>
              <a:rPr lang="en-US" dirty="0"/>
              <a:t>the most to the Unique Purchases was “Apparel”.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product Category responsible for the largest percentage of revenue for New Users was also Apparel, with 55.1%.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i="1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CD96EC-8C4E-414E-BF37-C77D04A20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07" y="5254740"/>
            <a:ext cx="7333586" cy="218924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FB24B4B-2710-4BE1-A074-755A3AFD4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07" y="7946106"/>
            <a:ext cx="7333586" cy="166319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3"/>
          <p:cNvSpPr txBox="1">
            <a:spLocks noGrp="1"/>
          </p:cNvSpPr>
          <p:nvPr>
            <p:ph type="title"/>
          </p:nvPr>
        </p:nvSpPr>
        <p:spPr>
          <a:xfrm>
            <a:off x="264950" y="742700"/>
            <a:ext cx="7242600" cy="13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2B3E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Comparison Display:  Behavior</a:t>
            </a:r>
            <a:endParaRPr sz="2400">
              <a:solidFill>
                <a:srgbClr val="02B3E4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57" name="Google Shape;257;p53"/>
          <p:cNvSpPr txBox="1">
            <a:spLocks noGrp="1"/>
          </p:cNvSpPr>
          <p:nvPr>
            <p:ph type="body" idx="1"/>
          </p:nvPr>
        </p:nvSpPr>
        <p:spPr>
          <a:xfrm>
            <a:off x="264950" y="1913675"/>
            <a:ext cx="72426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For the all users segment, there are three poorly </a:t>
            </a:r>
            <a:r>
              <a:rPr lang="en-US" dirty="0"/>
              <a:t>performing pages in terms of Page Load Time, when compared to the total average load 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three pages are “/store.html”, “/store.html/</a:t>
            </a:r>
            <a:r>
              <a:rPr lang="en-US" dirty="0" err="1"/>
              <a:t>quickview</a:t>
            </a:r>
            <a:r>
              <a:rPr lang="en-US" dirty="0"/>
              <a:t>” and “/</a:t>
            </a:r>
            <a:r>
              <a:rPr lang="en-US" dirty="0" err="1"/>
              <a:t>google+redesign</a:t>
            </a:r>
            <a:r>
              <a:rPr lang="en-US" dirty="0"/>
              <a:t>/</a:t>
            </a:r>
            <a:r>
              <a:rPr lang="en-US" dirty="0" err="1"/>
              <a:t>shop+by+brand</a:t>
            </a:r>
            <a:r>
              <a:rPr lang="en-US" dirty="0"/>
              <a:t>/</a:t>
            </a:r>
            <a:r>
              <a:rPr lang="en-US" dirty="0" err="1"/>
              <a:t>youtube</a:t>
            </a:r>
            <a:r>
              <a:rPr lang="en-US" dirty="0"/>
              <a:t>”.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latter two are more than 40% below average.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05EF47-2956-4FDD-A319-6EA43685D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00" y="4641425"/>
            <a:ext cx="7242600" cy="363220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4"/>
          <p:cNvSpPr txBox="1">
            <a:spLocks noGrp="1"/>
          </p:cNvSpPr>
          <p:nvPr>
            <p:ph type="title"/>
          </p:nvPr>
        </p:nvSpPr>
        <p:spPr>
          <a:xfrm>
            <a:off x="264950" y="742700"/>
            <a:ext cx="7242600" cy="13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rgbClr val="02B3E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Percentage Display:  Audience</a:t>
            </a:r>
            <a:endParaRPr sz="2400" dirty="0">
              <a:solidFill>
                <a:srgbClr val="02B3E4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66" name="Google Shape;266;p54"/>
          <p:cNvSpPr txBox="1">
            <a:spLocks noGrp="1"/>
          </p:cNvSpPr>
          <p:nvPr>
            <p:ph type="body" idx="1"/>
          </p:nvPr>
        </p:nvSpPr>
        <p:spPr>
          <a:xfrm>
            <a:off x="264950" y="1913675"/>
            <a:ext cx="7242600" cy="22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For </a:t>
            </a:r>
            <a:r>
              <a:rPr lang="pt-PT" dirty="0" err="1"/>
              <a:t>this</a:t>
            </a:r>
            <a:r>
              <a:rPr lang="pt-PT" dirty="0"/>
              <a:t> </a:t>
            </a:r>
            <a:r>
              <a:rPr lang="pt-PT" dirty="0" err="1"/>
              <a:t>comparison</a:t>
            </a:r>
            <a:r>
              <a:rPr lang="pt-PT" dirty="0"/>
              <a:t>, a </a:t>
            </a:r>
            <a:r>
              <a:rPr lang="pt-PT" dirty="0" err="1"/>
              <a:t>new</a:t>
            </a:r>
            <a:r>
              <a:rPr lang="pt-PT" dirty="0"/>
              <a:t> </a:t>
            </a:r>
            <a:r>
              <a:rPr lang="pt-PT" dirty="0" err="1"/>
              <a:t>segment</a:t>
            </a:r>
            <a:r>
              <a:rPr lang="pt-PT" dirty="0"/>
              <a:t> </a:t>
            </a:r>
            <a:r>
              <a:rPr lang="pt-PT" dirty="0" err="1"/>
              <a:t>was</a:t>
            </a:r>
            <a:r>
              <a:rPr lang="pt-PT" dirty="0"/>
              <a:t> </a:t>
            </a:r>
            <a:r>
              <a:rPr lang="pt-PT" dirty="0" err="1"/>
              <a:t>added</a:t>
            </a:r>
            <a:r>
              <a:rPr lang="pt-PT" dirty="0"/>
              <a:t> for </a:t>
            </a:r>
            <a:r>
              <a:rPr lang="pt-PT" dirty="0" err="1"/>
              <a:t>Paid</a:t>
            </a:r>
            <a:r>
              <a:rPr lang="pt-PT" dirty="0"/>
              <a:t> </a:t>
            </a:r>
            <a:r>
              <a:rPr lang="pt-PT" dirty="0" err="1"/>
              <a:t>Traffic</a:t>
            </a:r>
            <a:r>
              <a:rPr lang="pt-PT" dirty="0"/>
              <a:t>, </a:t>
            </a:r>
            <a:r>
              <a:rPr lang="pt-PT" dirty="0" err="1"/>
              <a:t>going</a:t>
            </a:r>
            <a:r>
              <a:rPr lang="pt-PT" dirty="0"/>
              <a:t> </a:t>
            </a:r>
            <a:r>
              <a:rPr lang="pt-PT" dirty="0" err="1"/>
              <a:t>into</a:t>
            </a:r>
            <a:r>
              <a:rPr lang="pt-PT" dirty="0"/>
              <a:t> </a:t>
            </a:r>
            <a:r>
              <a:rPr lang="pt-PT" dirty="0" err="1"/>
              <a:t>Audience</a:t>
            </a:r>
            <a:r>
              <a:rPr lang="pt-PT" dirty="0"/>
              <a:t> </a:t>
            </a:r>
            <a:r>
              <a:rPr lang="pt-PT" dirty="0">
                <a:sym typeface="Wingdings" panose="05000000000000000000" pitchFamily="2" charset="2"/>
              </a:rPr>
              <a:t> Mobile </a:t>
            </a:r>
            <a:r>
              <a:rPr lang="pt-PT" dirty="0" err="1">
                <a:sym typeface="Wingdings" panose="05000000000000000000" pitchFamily="2" charset="2"/>
              </a:rPr>
              <a:t>Overview</a:t>
            </a:r>
            <a:r>
              <a:rPr lang="pt-PT" dirty="0">
                <a:sym typeface="Wingdings" panose="05000000000000000000" pitchFamily="2" charset="2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>
                <a:sym typeface="Wingdings" panose="05000000000000000000" pitchFamily="2" charset="2"/>
              </a:rPr>
              <a:t>In </a:t>
            </a:r>
            <a:r>
              <a:rPr lang="pt-PT" dirty="0" err="1">
                <a:sym typeface="Wingdings" panose="05000000000000000000" pitchFamily="2" charset="2"/>
              </a:rPr>
              <a:t>there</a:t>
            </a:r>
            <a:r>
              <a:rPr lang="pt-PT" dirty="0">
                <a:sym typeface="Wingdings" panose="05000000000000000000" pitchFamily="2" charset="2"/>
              </a:rPr>
              <a:t>, </a:t>
            </a:r>
            <a:r>
              <a:rPr lang="pt-PT" dirty="0" err="1">
                <a:sym typeface="Wingdings" panose="05000000000000000000" pitchFamily="2" charset="2"/>
              </a:rPr>
              <a:t>the</a:t>
            </a:r>
            <a:r>
              <a:rPr lang="pt-PT" dirty="0">
                <a:sym typeface="Wingdings" panose="05000000000000000000" pitchFamily="2" charset="2"/>
              </a:rPr>
              <a:t> </a:t>
            </a:r>
            <a:r>
              <a:rPr lang="pt-PT" dirty="0" err="1">
                <a:sym typeface="Wingdings" panose="05000000000000000000" pitchFamily="2" charset="2"/>
              </a:rPr>
              <a:t>breakdown</a:t>
            </a:r>
            <a:r>
              <a:rPr lang="pt-PT" dirty="0">
                <a:sym typeface="Wingdings" panose="05000000000000000000" pitchFamily="2" charset="2"/>
              </a:rPr>
              <a:t> </a:t>
            </a:r>
            <a:r>
              <a:rPr lang="pt-PT" dirty="0" err="1">
                <a:sym typeface="Wingdings" panose="05000000000000000000" pitchFamily="2" charset="2"/>
              </a:rPr>
              <a:t>by</a:t>
            </a:r>
            <a:r>
              <a:rPr lang="pt-PT" dirty="0">
                <a:sym typeface="Wingdings" panose="05000000000000000000" pitchFamily="2" charset="2"/>
              </a:rPr>
              <a:t> </a:t>
            </a:r>
            <a:r>
              <a:rPr lang="pt-PT" dirty="0" err="1">
                <a:sym typeface="Wingdings" panose="05000000000000000000" pitchFamily="2" charset="2"/>
              </a:rPr>
              <a:t>the</a:t>
            </a:r>
            <a:r>
              <a:rPr lang="pt-PT" dirty="0">
                <a:sym typeface="Wingdings" panose="05000000000000000000" pitchFamily="2" charset="2"/>
              </a:rPr>
              <a:t> </a:t>
            </a:r>
            <a:r>
              <a:rPr lang="pt-PT" dirty="0" err="1">
                <a:sym typeface="Wingdings" panose="05000000000000000000" pitchFamily="2" charset="2"/>
              </a:rPr>
              <a:t>device</a:t>
            </a:r>
            <a:r>
              <a:rPr lang="pt-PT" dirty="0">
                <a:sym typeface="Wingdings" panose="05000000000000000000" pitchFamily="2" charset="2"/>
              </a:rPr>
              <a:t> </a:t>
            </a:r>
            <a:r>
              <a:rPr lang="pt-PT" dirty="0" err="1">
                <a:sym typeface="Wingdings" panose="05000000000000000000" pitchFamily="2" charset="2"/>
              </a:rPr>
              <a:t>category</a:t>
            </a:r>
            <a:r>
              <a:rPr lang="pt-PT" dirty="0">
                <a:sym typeface="Wingdings" panose="05000000000000000000" pitchFamily="2" charset="2"/>
              </a:rPr>
              <a:t> </a:t>
            </a:r>
            <a:r>
              <a:rPr lang="pt-PT" dirty="0" err="1">
                <a:sym typeface="Wingdings" panose="05000000000000000000" pitchFamily="2" charset="2"/>
              </a:rPr>
              <a:t>and</a:t>
            </a:r>
            <a:r>
              <a:rPr lang="pt-PT" dirty="0">
                <a:sym typeface="Wingdings" panose="05000000000000000000" pitchFamily="2" charset="2"/>
              </a:rPr>
              <a:t> </a:t>
            </a:r>
            <a:r>
              <a:rPr lang="pt-PT" dirty="0" err="1">
                <a:sym typeface="Wingdings" panose="05000000000000000000" pitchFamily="2" charset="2"/>
              </a:rPr>
              <a:t>both</a:t>
            </a:r>
            <a:r>
              <a:rPr lang="pt-PT" dirty="0">
                <a:sym typeface="Wingdings" panose="05000000000000000000" pitchFamily="2" charset="2"/>
              </a:rPr>
              <a:t> </a:t>
            </a:r>
            <a:r>
              <a:rPr lang="pt-PT" dirty="0" err="1">
                <a:sym typeface="Wingdings" panose="05000000000000000000" pitchFamily="2" charset="2"/>
              </a:rPr>
              <a:t>segments</a:t>
            </a:r>
            <a:r>
              <a:rPr lang="pt-PT" dirty="0">
                <a:sym typeface="Wingdings" panose="05000000000000000000" pitchFamily="2" charset="2"/>
              </a:rPr>
              <a:t> </a:t>
            </a:r>
            <a:r>
              <a:rPr lang="pt-PT" dirty="0" err="1">
                <a:sym typeface="Wingdings" panose="05000000000000000000" pitchFamily="2" charset="2"/>
              </a:rPr>
              <a:t>is</a:t>
            </a:r>
            <a:r>
              <a:rPr lang="pt-PT" dirty="0">
                <a:sym typeface="Wingdings" panose="05000000000000000000" pitchFamily="2" charset="2"/>
              </a:rPr>
              <a:t> </a:t>
            </a:r>
            <a:r>
              <a:rPr lang="pt-PT" dirty="0" err="1">
                <a:sym typeface="Wingdings" panose="05000000000000000000" pitchFamily="2" charset="2"/>
              </a:rPr>
              <a:t>created</a:t>
            </a:r>
            <a:r>
              <a:rPr lang="pt-PT" dirty="0">
                <a:sym typeface="Wingdings" panose="05000000000000000000" pitchFamily="2" charset="2"/>
              </a:rPr>
              <a:t> </a:t>
            </a:r>
            <a:r>
              <a:rPr lang="pt-PT" dirty="0" err="1">
                <a:sym typeface="Wingdings" panose="05000000000000000000" pitchFamily="2" charset="2"/>
              </a:rPr>
              <a:t>automatically</a:t>
            </a:r>
            <a:r>
              <a:rPr lang="pt-PT" dirty="0">
                <a:sym typeface="Wingdings" panose="05000000000000000000" pitchFamily="2" charset="2"/>
              </a:rPr>
              <a:t>, </a:t>
            </a:r>
            <a:r>
              <a:rPr lang="pt-PT" dirty="0" err="1">
                <a:sym typeface="Wingdings" panose="05000000000000000000" pitchFamily="2" charset="2"/>
              </a:rPr>
              <a:t>which</a:t>
            </a:r>
            <a:r>
              <a:rPr lang="pt-PT" dirty="0">
                <a:sym typeface="Wingdings" panose="05000000000000000000" pitchFamily="2" charset="2"/>
              </a:rPr>
              <a:t> can </a:t>
            </a:r>
            <a:r>
              <a:rPr lang="pt-PT" dirty="0" err="1">
                <a:sym typeface="Wingdings" panose="05000000000000000000" pitchFamily="2" charset="2"/>
              </a:rPr>
              <a:t>be</a:t>
            </a:r>
            <a:r>
              <a:rPr lang="pt-PT" dirty="0">
                <a:sym typeface="Wingdings" panose="05000000000000000000" pitchFamily="2" charset="2"/>
              </a:rPr>
              <a:t> </a:t>
            </a:r>
            <a:r>
              <a:rPr lang="pt-PT" dirty="0" err="1">
                <a:sym typeface="Wingdings" panose="05000000000000000000" pitchFamily="2" charset="2"/>
              </a:rPr>
              <a:t>seen</a:t>
            </a:r>
            <a:r>
              <a:rPr lang="pt-PT" dirty="0">
                <a:sym typeface="Wingdings" panose="05000000000000000000" pitchFamily="2" charset="2"/>
              </a:rPr>
              <a:t> </a:t>
            </a:r>
            <a:r>
              <a:rPr lang="pt-PT" dirty="0" err="1">
                <a:sym typeface="Wingdings" panose="05000000000000000000" pitchFamily="2" charset="2"/>
              </a:rPr>
              <a:t>and</a:t>
            </a:r>
            <a:r>
              <a:rPr lang="pt-PT" dirty="0">
                <a:sym typeface="Wingdings" panose="05000000000000000000" pitchFamily="2" charset="2"/>
              </a:rPr>
              <a:t> </a:t>
            </a:r>
            <a:r>
              <a:rPr lang="pt-PT" dirty="0" err="1">
                <a:sym typeface="Wingdings" panose="05000000000000000000" pitchFamily="2" charset="2"/>
              </a:rPr>
              <a:t>understood</a:t>
            </a:r>
            <a:r>
              <a:rPr lang="pt-PT" dirty="0">
                <a:sym typeface="Wingdings" panose="05000000000000000000" pitchFamily="2" charset="2"/>
              </a:rPr>
              <a:t> </a:t>
            </a:r>
            <a:r>
              <a:rPr lang="pt-PT" dirty="0" err="1">
                <a:sym typeface="Wingdings" panose="05000000000000000000" pitchFamily="2" charset="2"/>
              </a:rPr>
              <a:t>at</a:t>
            </a:r>
            <a:r>
              <a:rPr lang="pt-PT" dirty="0">
                <a:sym typeface="Wingdings" panose="05000000000000000000" pitchFamily="2" charset="2"/>
              </a:rPr>
              <a:t> a </a:t>
            </a:r>
            <a:r>
              <a:rPr lang="pt-PT" dirty="0" err="1">
                <a:sym typeface="Wingdings" panose="05000000000000000000" pitchFamily="2" charset="2"/>
              </a:rPr>
              <a:t>glance</a:t>
            </a:r>
            <a:r>
              <a:rPr lang="pt-PT" dirty="0">
                <a:sym typeface="Wingdings" panose="05000000000000000000" pitchFamily="2" charset="2"/>
              </a:rPr>
              <a:t> </a:t>
            </a:r>
            <a:r>
              <a:rPr lang="pt-PT" dirty="0" err="1">
                <a:sym typeface="Wingdings" panose="05000000000000000000" pitchFamily="2" charset="2"/>
              </a:rPr>
              <a:t>by</a:t>
            </a:r>
            <a:r>
              <a:rPr lang="pt-PT" dirty="0">
                <a:sym typeface="Wingdings" panose="05000000000000000000" pitchFamily="2" charset="2"/>
              </a:rPr>
              <a:t> </a:t>
            </a:r>
            <a:r>
              <a:rPr lang="pt-PT" dirty="0" err="1">
                <a:sym typeface="Wingdings" panose="05000000000000000000" pitchFamily="2" charset="2"/>
              </a:rPr>
              <a:t>looking</a:t>
            </a:r>
            <a:r>
              <a:rPr lang="pt-PT" dirty="0">
                <a:sym typeface="Wingdings" panose="05000000000000000000" pitchFamily="2" charset="2"/>
              </a:rPr>
              <a:t> </a:t>
            </a:r>
            <a:r>
              <a:rPr lang="pt-PT" dirty="0" err="1">
                <a:sym typeface="Wingdings" panose="05000000000000000000" pitchFamily="2" charset="2"/>
              </a:rPr>
              <a:t>at</a:t>
            </a:r>
            <a:r>
              <a:rPr lang="pt-PT" dirty="0">
                <a:sym typeface="Wingdings" panose="05000000000000000000" pitchFamily="2" charset="2"/>
              </a:rPr>
              <a:t> </a:t>
            </a:r>
            <a:r>
              <a:rPr lang="pt-PT" dirty="0" err="1">
                <a:sym typeface="Wingdings" panose="05000000000000000000" pitchFamily="2" charset="2"/>
              </a:rPr>
              <a:t>the</a:t>
            </a:r>
            <a:r>
              <a:rPr lang="pt-PT" dirty="0">
                <a:sym typeface="Wingdings" panose="05000000000000000000" pitchFamily="2" charset="2"/>
              </a:rPr>
              <a:t> pie </a:t>
            </a:r>
            <a:r>
              <a:rPr lang="pt-PT" dirty="0" err="1">
                <a:sym typeface="Wingdings" panose="05000000000000000000" pitchFamily="2" charset="2"/>
              </a:rPr>
              <a:t>charts</a:t>
            </a:r>
            <a:r>
              <a:rPr lang="pt-PT" dirty="0">
                <a:sym typeface="Wingdings" panose="05000000000000000000" pitchFamily="2" charset="2"/>
              </a:rPr>
              <a:t>.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A5342A-ADB3-4981-A8AF-A4B1CB04A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50" y="4851520"/>
            <a:ext cx="7246242" cy="270801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5"/>
          <p:cNvSpPr txBox="1">
            <a:spLocks noGrp="1"/>
          </p:cNvSpPr>
          <p:nvPr>
            <p:ph type="ctrTitle"/>
          </p:nvPr>
        </p:nvSpPr>
        <p:spPr>
          <a:xfrm>
            <a:off x="347400" y="1947675"/>
            <a:ext cx="7077600" cy="29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AFBFC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Part Three:</a:t>
            </a:r>
            <a:r>
              <a:rPr lang="en" sz="4800" b="1">
                <a:solidFill>
                  <a:srgbClr val="FAFBFC"/>
                </a:solidFill>
              </a:rPr>
              <a:t> </a:t>
            </a:r>
            <a:endParaRPr sz="4800" b="1">
              <a:solidFill>
                <a:srgbClr val="FAFBF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AFBFC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Segmentation</a:t>
            </a:r>
            <a:endParaRPr sz="3600">
              <a:solidFill>
                <a:srgbClr val="FAFBF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5" name="Google Shape;275;p55"/>
          <p:cNvSpPr/>
          <p:nvPr/>
        </p:nvSpPr>
        <p:spPr>
          <a:xfrm>
            <a:off x="964649" y="4818975"/>
            <a:ext cx="716700" cy="44100"/>
          </a:xfrm>
          <a:prstGeom prst="rect">
            <a:avLst/>
          </a:prstGeom>
          <a:solidFill>
            <a:srgbClr val="15C26B"/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6"/>
          <p:cNvSpPr txBox="1">
            <a:spLocks noGrp="1"/>
          </p:cNvSpPr>
          <p:nvPr>
            <p:ph type="title"/>
          </p:nvPr>
        </p:nvSpPr>
        <p:spPr>
          <a:xfrm>
            <a:off x="264895" y="937971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2E3D4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Segmentation: Instructions</a:t>
            </a:r>
            <a:endParaRPr sz="3200">
              <a:solidFill>
                <a:srgbClr val="2E3D49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81" name="Google Shape;281;p56"/>
          <p:cNvSpPr txBox="1"/>
          <p:nvPr/>
        </p:nvSpPr>
        <p:spPr>
          <a:xfrm>
            <a:off x="280650" y="1926975"/>
            <a:ext cx="7211100" cy="7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25C65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Segmentation helps provide clarity, insight, and confidence in data by making it more specific and actionable.</a:t>
            </a:r>
            <a:endParaRPr sz="1800">
              <a:solidFill>
                <a:srgbClr val="525C65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 i="1" u="sng">
                <a:solidFill>
                  <a:srgbClr val="525C65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To demonstrate your knowledge:</a:t>
            </a:r>
            <a:r>
              <a:rPr lang="en" sz="1800" u="sng">
                <a:solidFill>
                  <a:srgbClr val="525C65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endParaRPr sz="1800" u="sng">
              <a:solidFill>
                <a:srgbClr val="525C65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525C65"/>
              </a:buClr>
              <a:buSzPts val="1800"/>
              <a:buFont typeface="Open Sans Light"/>
              <a:buChar char="●"/>
            </a:pPr>
            <a:r>
              <a:rPr lang="en" sz="1800">
                <a:solidFill>
                  <a:srgbClr val="525C65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Identify and create three different audience segments and apply them to your data:</a:t>
            </a:r>
            <a:endParaRPr sz="1800">
              <a:solidFill>
                <a:srgbClr val="525C65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C65"/>
              </a:buClr>
              <a:buSzPts val="1400"/>
              <a:buFont typeface="Open Sans Light"/>
              <a:buChar char="○"/>
            </a:pPr>
            <a:r>
              <a:rPr lang="en" sz="1800">
                <a:solidFill>
                  <a:srgbClr val="525C65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one based on audience characteristic (such as technology or demographics)</a:t>
            </a:r>
            <a:endParaRPr sz="1800">
              <a:solidFill>
                <a:srgbClr val="525C65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C65"/>
              </a:buClr>
              <a:buSzPts val="1400"/>
              <a:buFont typeface="Open Sans Light"/>
              <a:buChar char="○"/>
            </a:pPr>
            <a:r>
              <a:rPr lang="en" sz="1800">
                <a:solidFill>
                  <a:srgbClr val="525C65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one based on geography</a:t>
            </a:r>
            <a:endParaRPr sz="1800">
              <a:solidFill>
                <a:srgbClr val="525C65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C65"/>
              </a:buClr>
              <a:buSzPts val="1400"/>
              <a:buFont typeface="Open Sans Light"/>
              <a:buChar char="○"/>
            </a:pPr>
            <a:r>
              <a:rPr lang="en" sz="1800">
                <a:solidFill>
                  <a:srgbClr val="525C65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one based on user behaviors</a:t>
            </a:r>
            <a:endParaRPr sz="1800">
              <a:solidFill>
                <a:srgbClr val="525C65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C65"/>
              </a:buClr>
              <a:buSzPts val="1800"/>
              <a:buFont typeface="Open Sans Light"/>
              <a:buChar char="●"/>
            </a:pPr>
            <a:r>
              <a:rPr lang="en" sz="1800">
                <a:solidFill>
                  <a:srgbClr val="525C65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Change the scope for the behavior segment between </a:t>
            </a:r>
            <a:r>
              <a:rPr lang="en" sz="1800" i="1">
                <a:solidFill>
                  <a:srgbClr val="525C65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Sessions</a:t>
            </a:r>
            <a:r>
              <a:rPr lang="en" sz="1800">
                <a:solidFill>
                  <a:srgbClr val="525C65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and </a:t>
            </a:r>
            <a:r>
              <a:rPr lang="en" sz="1800" i="1">
                <a:solidFill>
                  <a:srgbClr val="525C65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Users</a:t>
            </a:r>
            <a:r>
              <a:rPr lang="en" sz="1800">
                <a:solidFill>
                  <a:srgbClr val="525C65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to see how this impacts metrics such as goal conversion rate.</a:t>
            </a:r>
            <a:endParaRPr sz="1800">
              <a:solidFill>
                <a:srgbClr val="525C65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525C65"/>
              </a:buClr>
              <a:buSzPts val="1800"/>
              <a:buFont typeface="Open Sans Light"/>
              <a:buChar char="●"/>
            </a:pPr>
            <a:r>
              <a:rPr lang="en" sz="1800" b="1">
                <a:solidFill>
                  <a:srgbClr val="525C65"/>
                </a:solidFill>
                <a:latin typeface="Open Sans"/>
                <a:ea typeface="Open Sans"/>
                <a:cs typeface="Open Sans"/>
                <a:sym typeface="Open Sans"/>
              </a:rPr>
              <a:t>Take screenshots showing each of your segments applied to the data and explain the segment and the results in the notes section. Place these items on the slides that follow. </a:t>
            </a:r>
            <a:endParaRPr sz="1800">
              <a:solidFill>
                <a:srgbClr val="525C65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82" name="Google Shape;282;p56"/>
          <p:cNvSpPr txBox="1"/>
          <p:nvPr/>
        </p:nvSpPr>
        <p:spPr>
          <a:xfrm>
            <a:off x="884100" y="7546801"/>
            <a:ext cx="6004200" cy="1749300"/>
          </a:xfrm>
          <a:prstGeom prst="rect">
            <a:avLst/>
          </a:prstGeom>
          <a:solidFill>
            <a:srgbClr val="DBE2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i="1">
                <a:solidFill>
                  <a:srgbClr val="15C26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Remove this slide </a:t>
            </a:r>
            <a:endParaRPr sz="3600" i="1">
              <a:solidFill>
                <a:srgbClr val="15C26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7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rgbClr val="02B3E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Audience Segment: Characteristic</a:t>
            </a:r>
            <a:endParaRPr sz="3200">
              <a:solidFill>
                <a:srgbClr val="02B3E4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88" name="Google Shape;288;p57"/>
          <p:cNvSpPr txBox="1">
            <a:spLocks noGrp="1"/>
          </p:cNvSpPr>
          <p:nvPr>
            <p:ph type="body" idx="1"/>
          </p:nvPr>
        </p:nvSpPr>
        <p:spPr>
          <a:xfrm>
            <a:off x="264963" y="6366077"/>
            <a:ext cx="7242600" cy="30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dirty="0" err="1"/>
              <a:t>By</a:t>
            </a:r>
            <a:r>
              <a:rPr lang="pt-PT" dirty="0"/>
              <a:t> </a:t>
            </a:r>
            <a:r>
              <a:rPr lang="pt-PT" dirty="0" err="1"/>
              <a:t>selecting</a:t>
            </a:r>
            <a:r>
              <a:rPr lang="pt-PT" dirty="0"/>
              <a:t> a </a:t>
            </a:r>
            <a:r>
              <a:rPr lang="pt-PT" dirty="0" err="1"/>
              <a:t>segment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users</a:t>
            </a:r>
            <a:r>
              <a:rPr lang="pt-PT" dirty="0"/>
              <a:t> </a:t>
            </a:r>
            <a:r>
              <a:rPr lang="pt-PT" dirty="0" err="1"/>
              <a:t>that</a:t>
            </a:r>
            <a:r>
              <a:rPr lang="pt-PT" dirty="0"/>
              <a:t> use </a:t>
            </a:r>
            <a:r>
              <a:rPr lang="pt-PT" dirty="0" err="1"/>
              <a:t>the</a:t>
            </a:r>
            <a:r>
              <a:rPr lang="pt-PT" dirty="0"/>
              <a:t> Windows </a:t>
            </a:r>
            <a:r>
              <a:rPr lang="pt-PT" dirty="0" err="1"/>
              <a:t>Operating</a:t>
            </a:r>
            <a:r>
              <a:rPr lang="pt-PT" dirty="0"/>
              <a:t> </a:t>
            </a:r>
            <a:r>
              <a:rPr lang="pt-PT" dirty="0" err="1"/>
              <a:t>System</a:t>
            </a:r>
            <a:r>
              <a:rPr lang="pt-PT" dirty="0"/>
              <a:t>, </a:t>
            </a:r>
            <a:r>
              <a:rPr lang="pt-PT" dirty="0" err="1"/>
              <a:t>we</a:t>
            </a:r>
            <a:r>
              <a:rPr lang="pt-PT" dirty="0"/>
              <a:t> can </a:t>
            </a:r>
            <a:r>
              <a:rPr lang="pt-PT" dirty="0" err="1"/>
              <a:t>see</a:t>
            </a:r>
            <a:r>
              <a:rPr lang="pt-PT" dirty="0"/>
              <a:t> </a:t>
            </a:r>
            <a:r>
              <a:rPr lang="pt-PT" dirty="0" err="1"/>
              <a:t>that</a:t>
            </a:r>
            <a:r>
              <a:rPr lang="pt-PT" dirty="0"/>
              <a:t> </a:t>
            </a:r>
            <a:r>
              <a:rPr lang="pt-PT" dirty="0" err="1"/>
              <a:t>it</a:t>
            </a:r>
            <a:r>
              <a:rPr lang="pt-PT" dirty="0"/>
              <a:t> </a:t>
            </a:r>
            <a:r>
              <a:rPr lang="pt-PT" dirty="0" err="1"/>
              <a:t>pertains</a:t>
            </a:r>
            <a:r>
              <a:rPr lang="pt-PT" dirty="0"/>
              <a:t> to 37.28%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users</a:t>
            </a:r>
            <a:r>
              <a:rPr lang="pt-PT" dirty="0"/>
              <a:t> (50.097 </a:t>
            </a:r>
            <a:r>
              <a:rPr lang="pt-PT" dirty="0" err="1"/>
              <a:t>users</a:t>
            </a:r>
            <a:r>
              <a:rPr lang="pt-PT" dirty="0"/>
              <a:t>) </a:t>
            </a:r>
            <a:r>
              <a:rPr lang="pt-PT" dirty="0" err="1"/>
              <a:t>and</a:t>
            </a:r>
            <a:r>
              <a:rPr lang="pt-PT" dirty="0"/>
              <a:t> 36.84%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sessions</a:t>
            </a:r>
            <a:r>
              <a:rPr lang="pt-PT" dirty="0"/>
              <a:t> (64.990 </a:t>
            </a:r>
            <a:r>
              <a:rPr lang="pt-PT" dirty="0" err="1"/>
              <a:t>sessions</a:t>
            </a:r>
            <a:r>
              <a:rPr lang="pt-PT" dirty="0"/>
              <a:t>).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dirty="0" err="1"/>
              <a:t>Using</a:t>
            </a:r>
            <a:r>
              <a:rPr lang="pt-PT" dirty="0"/>
              <a:t> </a:t>
            </a:r>
            <a:r>
              <a:rPr lang="pt-PT" dirty="0" err="1"/>
              <a:t>this</a:t>
            </a:r>
            <a:r>
              <a:rPr lang="pt-PT" dirty="0"/>
              <a:t> </a:t>
            </a:r>
            <a:r>
              <a:rPr lang="pt-PT" dirty="0" err="1"/>
              <a:t>segment</a:t>
            </a:r>
            <a:r>
              <a:rPr lang="pt-PT" dirty="0"/>
              <a:t>, I can </a:t>
            </a:r>
            <a:r>
              <a:rPr lang="pt-PT" dirty="0" err="1"/>
              <a:t>answer</a:t>
            </a:r>
            <a:r>
              <a:rPr lang="pt-PT" dirty="0"/>
              <a:t> a </a:t>
            </a:r>
            <a:r>
              <a:rPr lang="pt-PT" dirty="0" err="1"/>
              <a:t>specific</a:t>
            </a:r>
            <a:r>
              <a:rPr lang="pt-PT" dirty="0"/>
              <a:t> </a:t>
            </a:r>
            <a:r>
              <a:rPr lang="pt-PT" dirty="0" err="1"/>
              <a:t>questions</a:t>
            </a:r>
            <a:r>
              <a:rPr lang="pt-PT" dirty="0"/>
              <a:t> </a:t>
            </a:r>
            <a:r>
              <a:rPr lang="pt-PT" dirty="0" err="1"/>
              <a:t>such</a:t>
            </a:r>
            <a:r>
              <a:rPr lang="pt-PT" dirty="0"/>
              <a:t> as: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dirty="0" err="1"/>
              <a:t>How</a:t>
            </a:r>
            <a:r>
              <a:rPr lang="pt-PT" dirty="0"/>
              <a:t> do </a:t>
            </a:r>
            <a:r>
              <a:rPr lang="pt-PT" dirty="0" err="1"/>
              <a:t>my</a:t>
            </a:r>
            <a:r>
              <a:rPr lang="pt-PT" dirty="0"/>
              <a:t> Windows </a:t>
            </a:r>
            <a:r>
              <a:rPr lang="pt-PT" dirty="0" err="1"/>
              <a:t>users</a:t>
            </a:r>
            <a:r>
              <a:rPr lang="pt-PT" dirty="0"/>
              <a:t> </a:t>
            </a:r>
            <a:r>
              <a:rPr lang="pt-PT" dirty="0" err="1"/>
              <a:t>behave</a:t>
            </a:r>
            <a:r>
              <a:rPr lang="pt-PT" dirty="0"/>
              <a:t> </a:t>
            </a:r>
            <a:r>
              <a:rPr lang="pt-PT" dirty="0" err="1"/>
              <a:t>compared</a:t>
            </a:r>
            <a:r>
              <a:rPr lang="pt-PT" dirty="0"/>
              <a:t> to </a:t>
            </a:r>
            <a:r>
              <a:rPr lang="pt-PT" dirty="0" err="1"/>
              <a:t>all</a:t>
            </a:r>
            <a:r>
              <a:rPr lang="pt-PT" dirty="0"/>
              <a:t> </a:t>
            </a:r>
            <a:r>
              <a:rPr lang="pt-PT" dirty="0" err="1"/>
              <a:t>users</a:t>
            </a:r>
            <a:r>
              <a:rPr lang="pt-PT" dirty="0"/>
              <a:t>? 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dirty="0" err="1"/>
              <a:t>How</a:t>
            </a:r>
            <a:r>
              <a:rPr lang="pt-PT" dirty="0"/>
              <a:t> </a:t>
            </a:r>
            <a:r>
              <a:rPr lang="pt-PT" dirty="0" err="1"/>
              <a:t>much</a:t>
            </a:r>
            <a:r>
              <a:rPr lang="pt-PT" dirty="0"/>
              <a:t> </a:t>
            </a:r>
            <a:r>
              <a:rPr lang="pt-PT" dirty="0" err="1"/>
              <a:t>off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ecommerce</a:t>
            </a:r>
            <a:r>
              <a:rPr lang="pt-PT" dirty="0"/>
              <a:t> </a:t>
            </a:r>
            <a:r>
              <a:rPr lang="pt-PT" dirty="0" err="1"/>
              <a:t>revenue</a:t>
            </a:r>
            <a:r>
              <a:rPr lang="pt-PT" dirty="0"/>
              <a:t> comes </a:t>
            </a:r>
            <a:r>
              <a:rPr lang="pt-PT" dirty="0" err="1"/>
              <a:t>from</a:t>
            </a:r>
            <a:r>
              <a:rPr lang="pt-PT" dirty="0"/>
              <a:t> </a:t>
            </a:r>
            <a:r>
              <a:rPr lang="pt-PT" dirty="0" err="1"/>
              <a:t>this</a:t>
            </a:r>
            <a:r>
              <a:rPr lang="pt-PT" dirty="0"/>
              <a:t> </a:t>
            </a:r>
            <a:r>
              <a:rPr lang="pt-PT" dirty="0" err="1"/>
              <a:t>segment</a:t>
            </a:r>
            <a:r>
              <a:rPr lang="pt-PT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dirty="0" err="1"/>
              <a:t>How</a:t>
            </a:r>
            <a:r>
              <a:rPr lang="pt-PT" dirty="0"/>
              <a:t> do </a:t>
            </a:r>
            <a:r>
              <a:rPr lang="pt-PT" dirty="0" err="1"/>
              <a:t>these</a:t>
            </a:r>
            <a:r>
              <a:rPr lang="pt-PT" dirty="0"/>
              <a:t> </a:t>
            </a:r>
            <a:r>
              <a:rPr lang="pt-PT" dirty="0" err="1"/>
              <a:t>users</a:t>
            </a:r>
            <a:r>
              <a:rPr lang="pt-PT" dirty="0"/>
              <a:t> compare to </a:t>
            </a:r>
            <a:r>
              <a:rPr lang="pt-PT" dirty="0" err="1"/>
              <a:t>other</a:t>
            </a:r>
            <a:r>
              <a:rPr lang="pt-PT" dirty="0"/>
              <a:t> </a:t>
            </a:r>
            <a:r>
              <a:rPr lang="pt-PT" dirty="0" err="1"/>
              <a:t>operating</a:t>
            </a:r>
            <a:r>
              <a:rPr lang="pt-PT" dirty="0"/>
              <a:t> </a:t>
            </a:r>
            <a:r>
              <a:rPr lang="pt-PT" dirty="0" err="1"/>
              <a:t>systems</a:t>
            </a:r>
            <a:r>
              <a:rPr lang="pt-PT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A1C8D0-850B-4C7D-BA82-28C4E57BE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00" y="2476475"/>
            <a:ext cx="7242600" cy="272199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7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rgbClr val="02B3E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Audience Segment: Characteristic</a:t>
            </a:r>
            <a:endParaRPr sz="3200">
              <a:solidFill>
                <a:srgbClr val="02B3E4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88" name="Google Shape;288;p57"/>
          <p:cNvSpPr txBox="1">
            <a:spLocks noGrp="1"/>
          </p:cNvSpPr>
          <p:nvPr>
            <p:ph type="body" idx="1"/>
          </p:nvPr>
        </p:nvSpPr>
        <p:spPr>
          <a:xfrm>
            <a:off x="264963" y="5808372"/>
            <a:ext cx="7242600" cy="36186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dirty="0"/>
              <a:t>In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image</a:t>
            </a:r>
            <a:r>
              <a:rPr lang="pt-PT" dirty="0"/>
              <a:t> </a:t>
            </a:r>
            <a:r>
              <a:rPr lang="pt-PT" dirty="0" err="1"/>
              <a:t>above</a:t>
            </a:r>
            <a:r>
              <a:rPr lang="pt-PT" dirty="0"/>
              <a:t>, </a:t>
            </a:r>
            <a:r>
              <a:rPr lang="pt-PT" dirty="0" err="1"/>
              <a:t>we</a:t>
            </a:r>
            <a:r>
              <a:rPr lang="pt-PT" dirty="0"/>
              <a:t> can </a:t>
            </a:r>
            <a:r>
              <a:rPr lang="pt-PT" dirty="0" err="1"/>
              <a:t>see</a:t>
            </a:r>
            <a:r>
              <a:rPr lang="pt-PT" dirty="0"/>
              <a:t> </a:t>
            </a:r>
            <a:r>
              <a:rPr lang="pt-PT" dirty="0" err="1"/>
              <a:t>that</a:t>
            </a:r>
            <a:r>
              <a:rPr lang="pt-PT" dirty="0"/>
              <a:t> Windows </a:t>
            </a:r>
            <a:r>
              <a:rPr lang="pt-PT" dirty="0" err="1"/>
              <a:t>Operating</a:t>
            </a:r>
            <a:r>
              <a:rPr lang="pt-PT" dirty="0"/>
              <a:t> </a:t>
            </a:r>
            <a:r>
              <a:rPr lang="pt-PT" dirty="0" err="1"/>
              <a:t>System</a:t>
            </a:r>
            <a:r>
              <a:rPr lang="pt-PT" dirty="0"/>
              <a:t> </a:t>
            </a:r>
            <a:r>
              <a:rPr lang="pt-PT" dirty="0" err="1"/>
              <a:t>users</a:t>
            </a:r>
            <a:r>
              <a:rPr lang="pt-PT" dirty="0"/>
              <a:t>, </a:t>
            </a:r>
            <a:r>
              <a:rPr lang="pt-PT" dirty="0" err="1"/>
              <a:t>on</a:t>
            </a:r>
            <a:r>
              <a:rPr lang="pt-PT" dirty="0"/>
              <a:t> </a:t>
            </a:r>
            <a:r>
              <a:rPr lang="pt-PT" dirty="0" err="1"/>
              <a:t>average</a:t>
            </a:r>
            <a:r>
              <a:rPr lang="pt-PT" dirty="0"/>
              <a:t> </a:t>
            </a:r>
            <a:r>
              <a:rPr lang="pt-PT" dirty="0" err="1"/>
              <a:t>stay</a:t>
            </a:r>
            <a:r>
              <a:rPr lang="pt-PT" dirty="0"/>
              <a:t> </a:t>
            </a:r>
            <a:r>
              <a:rPr lang="pt-PT" dirty="0" err="1"/>
              <a:t>longer</a:t>
            </a:r>
            <a:r>
              <a:rPr lang="pt-PT" dirty="0"/>
              <a:t> </a:t>
            </a:r>
            <a:r>
              <a:rPr lang="pt-PT" dirty="0" err="1"/>
              <a:t>on</a:t>
            </a:r>
            <a:r>
              <a:rPr lang="pt-PT" dirty="0"/>
              <a:t> a </a:t>
            </a:r>
            <a:r>
              <a:rPr lang="pt-PT" dirty="0" err="1"/>
              <a:t>page</a:t>
            </a:r>
            <a:r>
              <a:rPr lang="pt-PT" dirty="0"/>
              <a:t> </a:t>
            </a:r>
            <a:r>
              <a:rPr lang="pt-PT" dirty="0" err="1"/>
              <a:t>when</a:t>
            </a:r>
            <a:r>
              <a:rPr lang="pt-PT" dirty="0"/>
              <a:t> </a:t>
            </a:r>
            <a:r>
              <a:rPr lang="pt-PT" dirty="0" err="1"/>
              <a:t>compared</a:t>
            </a:r>
            <a:r>
              <a:rPr lang="pt-PT" dirty="0"/>
              <a:t> to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totality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users</a:t>
            </a:r>
            <a:r>
              <a:rPr lang="pt-PT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dirty="0" err="1"/>
              <a:t>Other</a:t>
            </a:r>
            <a:r>
              <a:rPr lang="pt-PT" dirty="0"/>
              <a:t> </a:t>
            </a:r>
            <a:r>
              <a:rPr lang="pt-PT" dirty="0" err="1"/>
              <a:t>kinds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analysis</a:t>
            </a:r>
            <a:r>
              <a:rPr lang="pt-PT" dirty="0"/>
              <a:t> </a:t>
            </a:r>
            <a:r>
              <a:rPr lang="pt-PT" dirty="0" err="1"/>
              <a:t>using</a:t>
            </a:r>
            <a:r>
              <a:rPr lang="pt-PT" dirty="0"/>
              <a:t> </a:t>
            </a:r>
            <a:r>
              <a:rPr lang="pt-PT" dirty="0" err="1"/>
              <a:t>averages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percentages</a:t>
            </a:r>
            <a:r>
              <a:rPr lang="pt-PT" dirty="0"/>
              <a:t> </a:t>
            </a:r>
            <a:r>
              <a:rPr lang="pt-PT" dirty="0" err="1"/>
              <a:t>could</a:t>
            </a:r>
            <a:r>
              <a:rPr lang="pt-PT" dirty="0"/>
              <a:t> </a:t>
            </a:r>
            <a:r>
              <a:rPr lang="pt-PT" dirty="0" err="1"/>
              <a:t>also</a:t>
            </a:r>
            <a:r>
              <a:rPr lang="pt-PT" dirty="0"/>
              <a:t> </a:t>
            </a:r>
            <a:r>
              <a:rPr lang="pt-PT" dirty="0" err="1"/>
              <a:t>be</a:t>
            </a:r>
            <a:r>
              <a:rPr lang="pt-PT" dirty="0"/>
              <a:t> </a:t>
            </a:r>
            <a:r>
              <a:rPr lang="pt-PT" dirty="0" err="1"/>
              <a:t>performed</a:t>
            </a:r>
            <a:r>
              <a:rPr lang="pt-PT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31ADBF-9129-4765-989D-0377C8072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45" y="2540739"/>
            <a:ext cx="6895709" cy="218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399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rgbClr val="02B3E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Audience Segment: Geography</a:t>
            </a:r>
            <a:endParaRPr sz="3200">
              <a:solidFill>
                <a:srgbClr val="02B3E4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E86872-7343-42F0-8FA6-288C29537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169" y="2983466"/>
            <a:ext cx="7064062" cy="22858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0" name="Google Shape;288;p57">
            <a:extLst>
              <a:ext uri="{FF2B5EF4-FFF2-40B4-BE49-F238E27FC236}">
                <a16:creationId xmlns:a16="http://schemas.microsoft.com/office/drawing/2014/main" id="{E7EAFF6C-7167-43C9-88D4-98F4B19241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4963" y="6366077"/>
            <a:ext cx="7242600" cy="30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dirty="0" err="1"/>
              <a:t>By</a:t>
            </a:r>
            <a:r>
              <a:rPr lang="pt-PT" dirty="0"/>
              <a:t> </a:t>
            </a:r>
            <a:r>
              <a:rPr lang="pt-PT" dirty="0" err="1"/>
              <a:t>selecting</a:t>
            </a:r>
            <a:r>
              <a:rPr lang="pt-PT" dirty="0"/>
              <a:t> a </a:t>
            </a:r>
            <a:r>
              <a:rPr lang="pt-PT" dirty="0" err="1"/>
              <a:t>segment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users</a:t>
            </a:r>
            <a:r>
              <a:rPr lang="pt-PT" dirty="0"/>
              <a:t> </a:t>
            </a:r>
            <a:r>
              <a:rPr lang="pt-PT" dirty="0" err="1"/>
              <a:t>that</a:t>
            </a:r>
            <a:r>
              <a:rPr lang="pt-PT" dirty="0"/>
              <a:t> are </a:t>
            </a:r>
            <a:r>
              <a:rPr lang="pt-PT" dirty="0" err="1"/>
              <a:t>located</a:t>
            </a:r>
            <a:r>
              <a:rPr lang="pt-PT" dirty="0"/>
              <a:t> in </a:t>
            </a:r>
            <a:r>
              <a:rPr lang="pt-PT" dirty="0" err="1"/>
              <a:t>Europe</a:t>
            </a:r>
            <a:r>
              <a:rPr lang="pt-PT" dirty="0"/>
              <a:t>, </a:t>
            </a:r>
            <a:r>
              <a:rPr lang="pt-PT" dirty="0" err="1"/>
              <a:t>we</a:t>
            </a:r>
            <a:r>
              <a:rPr lang="pt-PT" dirty="0"/>
              <a:t> can </a:t>
            </a:r>
            <a:r>
              <a:rPr lang="pt-PT" dirty="0" err="1"/>
              <a:t>see</a:t>
            </a:r>
            <a:r>
              <a:rPr lang="pt-PT" dirty="0"/>
              <a:t> </a:t>
            </a:r>
            <a:r>
              <a:rPr lang="pt-PT" dirty="0" err="1"/>
              <a:t>that</a:t>
            </a:r>
            <a:r>
              <a:rPr lang="pt-PT" dirty="0"/>
              <a:t> </a:t>
            </a:r>
            <a:r>
              <a:rPr lang="pt-PT" dirty="0" err="1"/>
              <a:t>it</a:t>
            </a:r>
            <a:r>
              <a:rPr lang="pt-PT" dirty="0"/>
              <a:t> </a:t>
            </a:r>
            <a:r>
              <a:rPr lang="pt-PT" dirty="0" err="1"/>
              <a:t>pertains</a:t>
            </a:r>
            <a:r>
              <a:rPr lang="pt-PT" dirty="0"/>
              <a:t> to 26.27%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users</a:t>
            </a:r>
            <a:r>
              <a:rPr lang="pt-PT" dirty="0"/>
              <a:t> (35.300 </a:t>
            </a:r>
            <a:r>
              <a:rPr lang="pt-PT" dirty="0" err="1"/>
              <a:t>users</a:t>
            </a:r>
            <a:r>
              <a:rPr lang="pt-PT" dirty="0"/>
              <a:t>) </a:t>
            </a:r>
            <a:r>
              <a:rPr lang="pt-PT" dirty="0" err="1"/>
              <a:t>and</a:t>
            </a:r>
            <a:r>
              <a:rPr lang="pt-PT" dirty="0"/>
              <a:t> 25.22%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sessions</a:t>
            </a:r>
            <a:r>
              <a:rPr lang="pt-PT" dirty="0"/>
              <a:t> (44.492 </a:t>
            </a:r>
            <a:r>
              <a:rPr lang="pt-PT" dirty="0" err="1"/>
              <a:t>sessions</a:t>
            </a:r>
            <a:r>
              <a:rPr lang="pt-PT" dirty="0"/>
              <a:t>).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dirty="0"/>
              <a:t>I can use </a:t>
            </a:r>
            <a:r>
              <a:rPr lang="pt-PT" dirty="0" err="1"/>
              <a:t>this</a:t>
            </a:r>
            <a:r>
              <a:rPr lang="pt-PT" dirty="0"/>
              <a:t> </a:t>
            </a:r>
            <a:r>
              <a:rPr lang="pt-PT" dirty="0" err="1"/>
              <a:t>segment</a:t>
            </a:r>
            <a:r>
              <a:rPr lang="pt-PT" dirty="0"/>
              <a:t> to </a:t>
            </a:r>
            <a:r>
              <a:rPr lang="pt-PT" dirty="0" err="1"/>
              <a:t>answer</a:t>
            </a:r>
            <a:r>
              <a:rPr lang="pt-PT" dirty="0"/>
              <a:t> </a:t>
            </a:r>
            <a:r>
              <a:rPr lang="pt-PT" dirty="0" err="1"/>
              <a:t>questions</a:t>
            </a:r>
            <a:r>
              <a:rPr lang="pt-PT" dirty="0"/>
              <a:t> </a:t>
            </a:r>
            <a:r>
              <a:rPr lang="pt-PT" dirty="0" err="1"/>
              <a:t>such</a:t>
            </a:r>
            <a:r>
              <a:rPr lang="pt-PT" dirty="0"/>
              <a:t> as: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dirty="0" err="1"/>
              <a:t>How</a:t>
            </a:r>
            <a:r>
              <a:rPr lang="pt-PT" dirty="0"/>
              <a:t> do </a:t>
            </a:r>
            <a:r>
              <a:rPr lang="pt-PT" dirty="0" err="1"/>
              <a:t>my</a:t>
            </a:r>
            <a:r>
              <a:rPr lang="pt-PT" dirty="0"/>
              <a:t> </a:t>
            </a:r>
            <a:r>
              <a:rPr lang="pt-PT" dirty="0" err="1"/>
              <a:t>European</a:t>
            </a:r>
            <a:r>
              <a:rPr lang="pt-PT" dirty="0"/>
              <a:t> </a:t>
            </a:r>
            <a:r>
              <a:rPr lang="pt-PT" dirty="0" err="1"/>
              <a:t>users</a:t>
            </a:r>
            <a:r>
              <a:rPr lang="pt-PT" dirty="0"/>
              <a:t> </a:t>
            </a:r>
            <a:r>
              <a:rPr lang="pt-PT" dirty="0" err="1"/>
              <a:t>behave</a:t>
            </a:r>
            <a:r>
              <a:rPr lang="pt-PT" dirty="0"/>
              <a:t>, </a:t>
            </a:r>
            <a:r>
              <a:rPr lang="pt-PT" dirty="0" err="1"/>
              <a:t>related</a:t>
            </a:r>
            <a:r>
              <a:rPr lang="pt-PT" dirty="0"/>
              <a:t> to </a:t>
            </a:r>
            <a:r>
              <a:rPr lang="pt-PT" dirty="0" err="1"/>
              <a:t>other</a:t>
            </a:r>
            <a:r>
              <a:rPr lang="pt-PT" dirty="0"/>
              <a:t> </a:t>
            </a:r>
            <a:r>
              <a:rPr lang="pt-PT" dirty="0" err="1"/>
              <a:t>continents</a:t>
            </a:r>
            <a:r>
              <a:rPr lang="pt-PT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dirty="0"/>
              <a:t>Are </a:t>
            </a:r>
            <a:r>
              <a:rPr lang="pt-PT" dirty="0" err="1"/>
              <a:t>there</a:t>
            </a:r>
            <a:r>
              <a:rPr lang="pt-PT" dirty="0"/>
              <a:t> </a:t>
            </a:r>
            <a:r>
              <a:rPr lang="pt-PT" dirty="0" err="1"/>
              <a:t>any</a:t>
            </a:r>
            <a:r>
              <a:rPr lang="pt-PT" dirty="0"/>
              <a:t> </a:t>
            </a:r>
            <a:r>
              <a:rPr lang="pt-PT" dirty="0" err="1"/>
              <a:t>differences</a:t>
            </a:r>
            <a:r>
              <a:rPr lang="pt-PT" dirty="0"/>
              <a:t> </a:t>
            </a:r>
            <a:r>
              <a:rPr lang="pt-PT" dirty="0" err="1"/>
              <a:t>between</a:t>
            </a:r>
            <a:r>
              <a:rPr lang="pt-PT" dirty="0"/>
              <a:t> </a:t>
            </a:r>
            <a:r>
              <a:rPr lang="pt-PT" dirty="0" err="1"/>
              <a:t>these</a:t>
            </a:r>
            <a:r>
              <a:rPr lang="pt-PT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lang="pt-PT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rgbClr val="02B3E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Audience Segment: Geography</a:t>
            </a:r>
            <a:endParaRPr sz="3200">
              <a:solidFill>
                <a:srgbClr val="02B3E4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0" name="Google Shape;288;p57">
            <a:extLst>
              <a:ext uri="{FF2B5EF4-FFF2-40B4-BE49-F238E27FC236}">
                <a16:creationId xmlns:a16="http://schemas.microsoft.com/office/drawing/2014/main" id="{E7EAFF6C-7167-43C9-88D4-98F4B19241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4963" y="6366077"/>
            <a:ext cx="7242600" cy="30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dirty="0" err="1"/>
              <a:t>By</a:t>
            </a:r>
            <a:r>
              <a:rPr lang="pt-PT" dirty="0"/>
              <a:t> </a:t>
            </a:r>
            <a:r>
              <a:rPr lang="pt-PT" dirty="0" err="1"/>
              <a:t>selecting</a:t>
            </a:r>
            <a:r>
              <a:rPr lang="pt-PT" dirty="0"/>
              <a:t> a </a:t>
            </a:r>
            <a:r>
              <a:rPr lang="pt-PT" dirty="0" err="1"/>
              <a:t>segment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users</a:t>
            </a:r>
            <a:r>
              <a:rPr lang="pt-PT" dirty="0"/>
              <a:t> </a:t>
            </a:r>
            <a:r>
              <a:rPr lang="pt-PT" dirty="0" err="1"/>
              <a:t>that</a:t>
            </a:r>
            <a:r>
              <a:rPr lang="pt-PT" dirty="0"/>
              <a:t> are </a:t>
            </a:r>
            <a:r>
              <a:rPr lang="pt-PT" dirty="0" err="1"/>
              <a:t>located</a:t>
            </a:r>
            <a:r>
              <a:rPr lang="pt-PT" dirty="0"/>
              <a:t> in </a:t>
            </a:r>
            <a:r>
              <a:rPr lang="pt-PT" dirty="0" err="1"/>
              <a:t>Europe</a:t>
            </a:r>
            <a:r>
              <a:rPr lang="pt-PT" dirty="0"/>
              <a:t>, </a:t>
            </a:r>
            <a:r>
              <a:rPr lang="pt-PT" dirty="0" err="1"/>
              <a:t>find</a:t>
            </a:r>
            <a:r>
              <a:rPr lang="pt-PT" dirty="0"/>
              <a:t> </a:t>
            </a:r>
            <a:r>
              <a:rPr lang="pt-PT" dirty="0" err="1"/>
              <a:t>that</a:t>
            </a:r>
            <a:r>
              <a:rPr lang="pt-PT" dirty="0"/>
              <a:t> </a:t>
            </a:r>
            <a:r>
              <a:rPr lang="pt-PT" dirty="0" err="1"/>
              <a:t>based</a:t>
            </a:r>
            <a:r>
              <a:rPr lang="pt-PT" dirty="0"/>
              <a:t> </a:t>
            </a:r>
            <a:r>
              <a:rPr lang="pt-PT" dirty="0" err="1"/>
              <a:t>on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average</a:t>
            </a:r>
            <a:r>
              <a:rPr lang="pt-PT" dirty="0"/>
              <a:t> </a:t>
            </a:r>
            <a:r>
              <a:rPr lang="pt-PT" dirty="0" err="1"/>
              <a:t>quantity</a:t>
            </a:r>
            <a:r>
              <a:rPr lang="pt-PT" dirty="0"/>
              <a:t> </a:t>
            </a:r>
            <a:r>
              <a:rPr lang="pt-PT" dirty="0" err="1"/>
              <a:t>bought</a:t>
            </a:r>
            <a:r>
              <a:rPr lang="pt-PT" dirty="0"/>
              <a:t> for </a:t>
            </a:r>
            <a:r>
              <a:rPr lang="pt-PT" dirty="0" err="1"/>
              <a:t>the</a:t>
            </a:r>
            <a:r>
              <a:rPr lang="pt-PT" dirty="0"/>
              <a:t> dates </a:t>
            </a:r>
            <a:r>
              <a:rPr lang="pt-PT" dirty="0" err="1"/>
              <a:t>between</a:t>
            </a:r>
            <a:r>
              <a:rPr lang="pt-PT" dirty="0"/>
              <a:t> 1 Jan 2020 </a:t>
            </a:r>
            <a:r>
              <a:rPr lang="pt-PT" dirty="0" err="1"/>
              <a:t>and</a:t>
            </a:r>
            <a:r>
              <a:rPr lang="pt-PT" dirty="0"/>
              <a:t> 31 Mar 2020, </a:t>
            </a:r>
            <a:r>
              <a:rPr lang="pt-PT" dirty="0" err="1"/>
              <a:t>European</a:t>
            </a:r>
            <a:r>
              <a:rPr lang="pt-PT" dirty="0"/>
              <a:t> </a:t>
            </a:r>
            <a:r>
              <a:rPr lang="pt-PT" dirty="0" err="1"/>
              <a:t>users</a:t>
            </a:r>
            <a:r>
              <a:rPr lang="pt-PT" dirty="0"/>
              <a:t> </a:t>
            </a:r>
            <a:r>
              <a:rPr lang="pt-PT" dirty="0" err="1"/>
              <a:t>purchase</a:t>
            </a:r>
            <a:r>
              <a:rPr lang="pt-PT" dirty="0"/>
              <a:t> in </a:t>
            </a:r>
            <a:r>
              <a:rPr lang="pt-PT" dirty="0" err="1"/>
              <a:t>smaller</a:t>
            </a:r>
            <a:r>
              <a:rPr lang="pt-PT" dirty="0"/>
              <a:t> </a:t>
            </a:r>
            <a:r>
              <a:rPr lang="pt-PT" dirty="0" err="1"/>
              <a:t>quantities</a:t>
            </a:r>
            <a:r>
              <a:rPr lang="pt-PT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lang="pt-PT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lang="pt-PT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39D407-5DD0-42D0-975E-618363422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45" y="2273562"/>
            <a:ext cx="6684135" cy="334407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463323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9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rgbClr val="02B3E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Audience Segment: User Behavior</a:t>
            </a:r>
            <a:endParaRPr sz="3200">
              <a:solidFill>
                <a:srgbClr val="02B3E4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06" name="Google Shape;306;p59"/>
          <p:cNvSpPr txBox="1">
            <a:spLocks noGrp="1"/>
          </p:cNvSpPr>
          <p:nvPr>
            <p:ph type="body" idx="1"/>
          </p:nvPr>
        </p:nvSpPr>
        <p:spPr>
          <a:xfrm>
            <a:off x="264963" y="6366077"/>
            <a:ext cx="7242600" cy="30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dirty="0"/>
              <a:t>By selecting a segment of users that are New Visitors, we can see that it pertains to 96.13% of users (129.159 users) and 73.33% of sessions (129.367 sessions).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en-US" dirty="0"/>
              <a:t>I can user this segment to answer the question: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en-US" dirty="0"/>
              <a:t>- What was the contribution of the segment to the Revenue in the time period for the different Channels?</a:t>
            </a:r>
          </a:p>
          <a:p>
            <a:pPr marL="0" lvl="0" indent="0">
              <a:spcAft>
                <a:spcPts val="1600"/>
              </a:spcAft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C02B16-177D-47F1-B693-C80112872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67" y="2283986"/>
            <a:ext cx="7031865" cy="28127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19054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9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rgbClr val="02B3E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Audience Segment: User Behavior</a:t>
            </a:r>
            <a:endParaRPr sz="3200">
              <a:solidFill>
                <a:srgbClr val="02B3E4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06" name="Google Shape;306;p59"/>
          <p:cNvSpPr txBox="1">
            <a:spLocks noGrp="1"/>
          </p:cNvSpPr>
          <p:nvPr>
            <p:ph type="body" idx="1"/>
          </p:nvPr>
        </p:nvSpPr>
        <p:spPr>
          <a:xfrm>
            <a:off x="264963" y="6366077"/>
            <a:ext cx="7242600" cy="30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dirty="0"/>
              <a:t>From the image above, we can see that the revenue for the time period in analysis was $6,680.50, which answers our question.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en-US" dirty="0"/>
              <a:t>Some deeper analysis could also be conducted, to compare between New Visitor Segments and all users.</a:t>
            </a:r>
          </a:p>
          <a:p>
            <a:pPr marL="0" lvl="0" indent="0">
              <a:spcAft>
                <a:spcPts val="1600"/>
              </a:spcAft>
              <a:buNone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935E72-3650-463E-9DBD-F10EB0E23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67" y="2305233"/>
            <a:ext cx="6894146" cy="33183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71384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0"/>
          <p:cNvSpPr txBox="1">
            <a:spLocks noGrp="1"/>
          </p:cNvSpPr>
          <p:nvPr>
            <p:ph type="ctrTitle"/>
          </p:nvPr>
        </p:nvSpPr>
        <p:spPr>
          <a:xfrm>
            <a:off x="347400" y="1421750"/>
            <a:ext cx="7077600" cy="29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solidFill>
                <a:srgbClr val="FAFBFC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AFBFC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ANND Portfolio</a:t>
            </a:r>
            <a:br>
              <a:rPr lang="en" sz="4800">
                <a:solidFill>
                  <a:srgbClr val="FAFBFC"/>
                </a:solidFill>
                <a:latin typeface="Open Sans Light"/>
                <a:ea typeface="Open Sans Light"/>
                <a:cs typeface="Open Sans Light"/>
                <a:sym typeface="Open Sans Light"/>
              </a:rPr>
            </a:br>
            <a:endParaRPr sz="3600">
              <a:solidFill>
                <a:srgbClr val="FAFBF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5" name="Google Shape;315;p60"/>
          <p:cNvSpPr/>
          <p:nvPr/>
        </p:nvSpPr>
        <p:spPr>
          <a:xfrm>
            <a:off x="3527849" y="3503375"/>
            <a:ext cx="716700" cy="44100"/>
          </a:xfrm>
          <a:prstGeom prst="rect">
            <a:avLst/>
          </a:prstGeom>
          <a:solidFill>
            <a:srgbClr val="15C26B"/>
          </a:solidFill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16" name="Google Shape;316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400" y="281900"/>
            <a:ext cx="1395250" cy="6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60"/>
          <p:cNvSpPr txBox="1"/>
          <p:nvPr/>
        </p:nvSpPr>
        <p:spPr>
          <a:xfrm>
            <a:off x="347400" y="4337150"/>
            <a:ext cx="7077600" cy="27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Advanced Displays, Segmentation &amp; Filtering</a:t>
            </a:r>
            <a:br>
              <a:rPr lang="en"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</a:br>
            <a:endParaRPr sz="4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1311</Words>
  <Application>Microsoft Office PowerPoint</Application>
  <PresentationFormat>Custom</PresentationFormat>
  <Paragraphs>103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Open Sans</vt:lpstr>
      <vt:lpstr>Open Sans SemiBold</vt:lpstr>
      <vt:lpstr>Open Sans Light</vt:lpstr>
      <vt:lpstr>Arial</vt:lpstr>
      <vt:lpstr>Helvetica Neue</vt:lpstr>
      <vt:lpstr>Simple Light</vt:lpstr>
      <vt:lpstr>Simple Light</vt:lpstr>
      <vt:lpstr>Simple Light</vt:lpstr>
      <vt:lpstr>PowerPoint Presentation</vt:lpstr>
      <vt:lpstr>Part One:  Primary Views &amp; Filters </vt:lpstr>
      <vt:lpstr>Best Practice Check:      Three Primary Views</vt:lpstr>
      <vt:lpstr>2. Best Practice Check:      Filtering Internal Traffic</vt:lpstr>
      <vt:lpstr>Part Two:  Data Exploration</vt:lpstr>
      <vt:lpstr>Standard Display - Audience </vt:lpstr>
      <vt:lpstr>Standard Display - Audience </vt:lpstr>
      <vt:lpstr>Standard Display: Acquisition</vt:lpstr>
      <vt:lpstr>Standard Display: Acquisition</vt:lpstr>
      <vt:lpstr>Percentage Display: Conversion</vt:lpstr>
      <vt:lpstr>Comparison Display:  Behavior</vt:lpstr>
      <vt:lpstr>Percentage Display:  Audience</vt:lpstr>
      <vt:lpstr>Part Three:  Segmentation</vt:lpstr>
      <vt:lpstr>Segmentation: Instructions</vt:lpstr>
      <vt:lpstr>Audience Segment: Characteristic</vt:lpstr>
      <vt:lpstr>Audience Segment: Characteristic</vt:lpstr>
      <vt:lpstr>Audience Segment: Geography</vt:lpstr>
      <vt:lpstr>Audience Segment: Geography</vt:lpstr>
      <vt:lpstr>Audience Segment: User Behavior</vt:lpstr>
      <vt:lpstr>Audience Segment: User Behavior</vt:lpstr>
      <vt:lpstr> ANND Portfolio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Gustavo Pacheco</cp:lastModifiedBy>
  <cp:revision>39</cp:revision>
  <dcterms:modified xsi:type="dcterms:W3CDTF">2020-04-27T19:43:11Z</dcterms:modified>
</cp:coreProperties>
</file>